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0" r:id="rId1"/>
  </p:sldMasterIdLst>
  <p:notesMasterIdLst>
    <p:notesMasterId r:id="rId32"/>
  </p:notesMasterIdLst>
  <p:sldIdLst>
    <p:sldId id="271" r:id="rId2"/>
    <p:sldId id="258" r:id="rId3"/>
    <p:sldId id="285" r:id="rId4"/>
    <p:sldId id="363" r:id="rId5"/>
    <p:sldId id="257" r:id="rId6"/>
    <p:sldId id="379" r:id="rId7"/>
    <p:sldId id="378" r:id="rId8"/>
    <p:sldId id="371" r:id="rId9"/>
    <p:sldId id="396" r:id="rId10"/>
    <p:sldId id="380" r:id="rId11"/>
    <p:sldId id="389" r:id="rId12"/>
    <p:sldId id="394" r:id="rId13"/>
    <p:sldId id="282" r:id="rId14"/>
    <p:sldId id="384" r:id="rId15"/>
    <p:sldId id="383" r:id="rId16"/>
    <p:sldId id="393" r:id="rId17"/>
    <p:sldId id="395" r:id="rId18"/>
    <p:sldId id="330" r:id="rId19"/>
    <p:sldId id="388" r:id="rId20"/>
    <p:sldId id="397" r:id="rId21"/>
    <p:sldId id="401" r:id="rId22"/>
    <p:sldId id="398" r:id="rId23"/>
    <p:sldId id="399" r:id="rId24"/>
    <p:sldId id="400" r:id="rId25"/>
    <p:sldId id="390" r:id="rId26"/>
    <p:sldId id="391" r:id="rId27"/>
    <p:sldId id="392" r:id="rId28"/>
    <p:sldId id="368" r:id="rId29"/>
    <p:sldId id="377" r:id="rId30"/>
    <p:sldId id="361" r:id="rId31"/>
  </p:sldIdLst>
  <p:sldSz cx="9144000" cy="5143500" type="screen16x9"/>
  <p:notesSz cx="6858000" cy="9144000"/>
  <p:embeddedFontLst>
    <p:embeddedFont>
      <p:font typeface="Albert Sans" panose="020B0604020202020204" charset="0"/>
      <p:regular r:id="rId33"/>
      <p:bold r:id="rId34"/>
      <p:italic r:id="rId35"/>
      <p:boldItalic r:id="rId36"/>
    </p:embeddedFont>
    <p:embeddedFont>
      <p:font typeface="Alexandria Medium" panose="020B0604020202020204" charset="-78"/>
      <p:regular r:id="rId37"/>
      <p:bold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3BDA68B-AE0E-4B94-9F14-75E3F68F22BD}">
  <a:tblStyle styleId="{B3BDA68B-AE0E-4B94-9F14-75E3F68F22B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1B551ED7-B00C-4E3C-8821-FD0B8191B11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361" autoAdjust="0"/>
    <p:restoredTop sz="95039" autoAdjust="0"/>
  </p:normalViewPr>
  <p:slideViewPr>
    <p:cSldViewPr snapToGrid="0">
      <p:cViewPr varScale="1">
        <p:scale>
          <a:sx n="109" d="100"/>
          <a:sy n="109" d="100"/>
        </p:scale>
        <p:origin x="720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2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1.fntdata"/><Relationship Id="rId38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2572bee519d_0_2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376" name="Google Shape;376;g2572bee519d_0_2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2553b51d4ff_0_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2553b51d4ff_0_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572bee519d_0_8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625" name="Google Shape;625;g2572bee519d_0_8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867773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5703cb3a7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95" name="Google Shape;195;g25703cb3a7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>
          <a:extLst>
            <a:ext uri="{FF2B5EF4-FFF2-40B4-BE49-F238E27FC236}">
              <a16:creationId xmlns:a16="http://schemas.microsoft.com/office/drawing/2014/main" id="{D51FE431-3E67-FBD2-8D4C-C8DD53267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5703cb3a7b_0_0:notes">
            <a:extLst>
              <a:ext uri="{FF2B5EF4-FFF2-40B4-BE49-F238E27FC236}">
                <a16:creationId xmlns:a16="http://schemas.microsoft.com/office/drawing/2014/main" id="{56B24AA4-CC98-9449-A85E-64E3B258CF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95" name="Google Shape;195;g25703cb3a7b_0_0:notes">
            <a:extLst>
              <a:ext uri="{FF2B5EF4-FFF2-40B4-BE49-F238E27FC236}">
                <a16:creationId xmlns:a16="http://schemas.microsoft.com/office/drawing/2014/main" id="{B4084F46-3F6F-462A-F59F-6A5FC00316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461693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>
          <a:extLst>
            <a:ext uri="{FF2B5EF4-FFF2-40B4-BE49-F238E27FC236}">
              <a16:creationId xmlns:a16="http://schemas.microsoft.com/office/drawing/2014/main" id="{B03DC106-8618-D220-4154-89B0B4E62A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25703cb3a7b_0_0:notes">
            <a:extLst>
              <a:ext uri="{FF2B5EF4-FFF2-40B4-BE49-F238E27FC236}">
                <a16:creationId xmlns:a16="http://schemas.microsoft.com/office/drawing/2014/main" id="{B94E2260-EFA6-7960-959C-CB1D30B7D7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195" name="Google Shape;195;g25703cb3a7b_0_0:notes">
            <a:extLst>
              <a:ext uri="{FF2B5EF4-FFF2-40B4-BE49-F238E27FC236}">
                <a16:creationId xmlns:a16="http://schemas.microsoft.com/office/drawing/2014/main" id="{465D751F-96F4-08D8-679D-5CE37ADE47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6431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25703cb3a7b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91" name="Google Shape;291;g25703cb3a7b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09735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3">
          <a:extLst>
            <a:ext uri="{FF2B5EF4-FFF2-40B4-BE49-F238E27FC236}">
              <a16:creationId xmlns:a16="http://schemas.microsoft.com/office/drawing/2014/main" id="{EFB92085-5C74-266C-E579-B46175A14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572bee519d_0_801:notes">
            <a:extLst>
              <a:ext uri="{FF2B5EF4-FFF2-40B4-BE49-F238E27FC236}">
                <a16:creationId xmlns:a16="http://schemas.microsoft.com/office/drawing/2014/main" id="{1454DDF4-C0BE-E92C-801D-A14C4FB3D2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625" name="Google Shape;625;g2572bee519d_0_801:notes">
            <a:extLst>
              <a:ext uri="{FF2B5EF4-FFF2-40B4-BE49-F238E27FC236}">
                <a16:creationId xmlns:a16="http://schemas.microsoft.com/office/drawing/2014/main" id="{C66C8566-D163-EEE8-3ABC-C7B83CEC66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791719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4AC4C001-ED20-F758-B03C-8C1036E531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43BA3037-84EE-2BE5-984F-D198CCC8E3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D689BC6F-04C7-8625-F5D8-3AB39D2996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3558769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38A0DF17-6A01-876C-6DF1-B5549BD01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32C07C59-84F0-BEBA-B788-2745E84602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E66B0B5C-7F4E-91B3-38C9-6659FA1C420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97397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6F2FDD04-D016-EC4B-F930-79E7FD5CC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F0E74C4C-E930-130A-4F88-C1BFC2F2B9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A526E1B1-F912-3021-2917-7F65E7A4F5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799717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g2572bee519d_0_8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06" name="Google Shape;506;g2572bee519d_0_8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2D247308-7429-3566-7B82-8784DF0AC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4EC81837-0581-A6B3-E334-F88F0ABFB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5796474D-1484-7307-9BA6-3B60A96B13B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468643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C3B99D00-A445-2F75-83DD-9C1C2E1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2FD02DEF-FF40-5F59-2F12-63126940346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DA9B5BCA-4A26-9132-DC9F-8BA8F4D1D9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4004781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D64412FB-8C4A-0F62-B07E-FD26F91C5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78E3C59C-2C1A-0CC6-A9F0-A40F6EAC4D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E2D42ED1-51EB-DE24-0C24-13E643CDBE3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662180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B8CE2CAD-22BB-6905-19F1-CF4D155D4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22A00B6A-4F3A-8BB1-9618-242B845230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AAA0507D-8C26-196D-E9A3-6131F88513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80346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2572bee519d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353" name="Google Shape;353;g2572bee519d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7613484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B47D91EC-5C5C-72E1-2A2C-1B1A6EB0D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C883E1AD-7C31-8731-56A3-F0F1DAB405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28884104-D010-70AA-4EFA-5D6800EF6D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9938446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B47D91EC-5C5C-72E1-2A2C-1B1A6EB0D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C883E1AD-7C31-8731-56A3-F0F1DAB4053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28884104-D010-70AA-4EFA-5D6800EF6D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9938446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CB5D2C89-9B9E-6E44-597D-A17F805684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BA31F969-1AD5-5972-65C1-B84A8DEAE1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D13533AC-159E-AD0B-E35D-13F7C393C8A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8707641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688F2EFD-8E25-CD34-E77D-6D8D01E44C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9776313A-6354-CB18-E52B-A8DC405B81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C505C632-0D3E-5CA0-382B-843B246884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3749062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CDF2ED54-B157-9A6E-F10D-BF8D99304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7B4FB507-315B-A2CA-547A-F90B1188B2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09324210-9F43-D5CE-D461-48EB347F81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3911402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6414E4C1-B755-90AD-8463-5C37D7E899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D5EFE15D-61FA-87D7-3980-339A20D92D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C90D7E59-9B66-F4C7-6475-1CF85349EA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5092376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A3EA51E8-561A-946E-0EDA-49C9CF94F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9BBB3975-CFFB-9BFC-A404-5A246D0271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A186C1EF-23DC-EC74-25EF-0AB7D85A7E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8683919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920E6EBB-8CFA-ECDA-06DB-B7CC2A81D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B349485C-5B0F-A85E-5C68-E159E018EA8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3D175B92-A2D7-3F34-79A0-73606611694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8193884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>
          <a:extLst>
            <a:ext uri="{FF2B5EF4-FFF2-40B4-BE49-F238E27FC236}">
              <a16:creationId xmlns:a16="http://schemas.microsoft.com/office/drawing/2014/main" id="{A44B1157-2130-EB4D-4CD9-252EE3EF5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2572bee519d_0_797:notes">
            <a:extLst>
              <a:ext uri="{FF2B5EF4-FFF2-40B4-BE49-F238E27FC236}">
                <a16:creationId xmlns:a16="http://schemas.microsoft.com/office/drawing/2014/main" id="{1CD18589-8168-03F2-B5CC-56046755405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553" name="Google Shape;553;g2572bee519d_0_797:notes">
            <a:extLst>
              <a:ext uri="{FF2B5EF4-FFF2-40B4-BE49-F238E27FC236}">
                <a16:creationId xmlns:a16="http://schemas.microsoft.com/office/drawing/2014/main" id="{AADF82FD-05C9-D115-5019-B594C946E3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8922385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5703cb3a7b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61" name="Google Shape;261;g25703cb3a7b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0268302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25703cb3a7b_0_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61" name="Google Shape;261;g25703cb3a7b_0_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2933794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558abb5fb3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IN"/>
          </a:p>
        </p:txBody>
      </p:sp>
      <p:sp>
        <p:nvSpPr>
          <p:cNvPr id="232" name="Google Shape;232;g2558abb5fb3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886589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4;p3"/>
          <p:cNvPicPr preferRelativeResize="0"/>
          <p:nvPr/>
        </p:nvPicPr>
        <p:blipFill rotWithShape="1">
          <a:blip r:embed="rId2">
            <a:alphaModFix/>
          </a:blip>
          <a:srcRect l="-55210" t="50562" r="55209" b="-6811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5;p3"/>
          <p:cNvPicPr preferRelativeResize="0"/>
          <p:nvPr/>
        </p:nvPicPr>
        <p:blipFill rotWithShape="1">
          <a:blip r:embed="rId3">
            <a:alphaModFix/>
          </a:blip>
          <a:srcRect l="36283" t="30" r="-6" b="-40"/>
          <a:stretch/>
        </p:blipFill>
        <p:spPr>
          <a:xfrm rot="10800000">
            <a:off x="5864950" y="-3275"/>
            <a:ext cx="3279050" cy="5146775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715100" y="3328050"/>
            <a:ext cx="7708800" cy="125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2" hasCustomPrompt="1"/>
          </p:nvPr>
        </p:nvSpPr>
        <p:spPr>
          <a:xfrm>
            <a:off x="715100" y="2074250"/>
            <a:ext cx="7708800" cy="125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7000">
                <a:solidFill>
                  <a:schemeClr val="l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None/>
              <a:defRPr sz="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subTitle" idx="1"/>
          </p:nvPr>
        </p:nvSpPr>
        <p:spPr>
          <a:xfrm>
            <a:off x="4572000" y="535000"/>
            <a:ext cx="3856800" cy="388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lt1"/>
        </a:solidFill>
        <a:effectLst/>
      </p:bgPr>
    </p:bg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0;p6"/>
          <p:cNvPicPr preferRelativeResize="0"/>
          <p:nvPr/>
        </p:nvPicPr>
        <p:blipFill rotWithShape="1">
          <a:blip r:embed="rId2">
            <a:alphaModFix/>
          </a:blip>
          <a:srcRect l="104756" t="-108210" r="280062" b="47851"/>
          <a:stretch/>
        </p:blipFill>
        <p:spPr>
          <a:xfrm rot="10800000">
            <a:off x="1325" y="-1637"/>
            <a:ext cx="9141450" cy="514677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bg>
      <p:bgPr>
        <a:solidFill>
          <a:schemeClr val="lt1"/>
        </a:solidFill>
        <a:effectLst/>
      </p:bgPr>
    </p:bg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Google Shape;73;p14"/>
          <p:cNvPicPr preferRelativeResize="0"/>
          <p:nvPr/>
        </p:nvPicPr>
        <p:blipFill rotWithShape="1">
          <a:blip r:embed="rId2">
            <a:alphaModFix/>
          </a:blip>
          <a:srcRect l="-6643" t="13471" r="27548" b="-35825"/>
          <a:stretch/>
        </p:blipFill>
        <p:spPr>
          <a:xfrm>
            <a:off x="5819050" y="0"/>
            <a:ext cx="332495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74" name="Google Shape;74;p14"/>
          <p:cNvPicPr preferRelativeResize="0"/>
          <p:nvPr/>
        </p:nvPicPr>
        <p:blipFill rotWithShape="1">
          <a:blip r:embed="rId2">
            <a:alphaModFix/>
          </a:blip>
          <a:srcRect l="-235242" t="44962" r="44460" b="-108521"/>
          <a:stretch/>
        </p:blipFill>
        <p:spPr>
          <a:xfrm rot="10800000">
            <a:off x="-10150" y="0"/>
            <a:ext cx="9154150" cy="5148375"/>
          </a:xfrm>
          <a:prstGeom prst="rect">
            <a:avLst/>
          </a:prstGeom>
          <a:noFill/>
          <a:ln>
            <a:noFill/>
          </a:ln>
        </p:spPr>
      </p:pic>
      <p:sp>
        <p:nvSpPr>
          <p:cNvPr id="75" name="Google Shape;75;p14"/>
          <p:cNvSpPr txBox="1">
            <a:spLocks noGrp="1"/>
          </p:cNvSpPr>
          <p:nvPr>
            <p:ph type="subTitle" idx="1"/>
          </p:nvPr>
        </p:nvSpPr>
        <p:spPr>
          <a:xfrm>
            <a:off x="715100" y="1503175"/>
            <a:ext cx="5930100" cy="20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76" name="Google Shape;76;p14"/>
          <p:cNvSpPr txBox="1">
            <a:spLocks noGrp="1"/>
          </p:cNvSpPr>
          <p:nvPr>
            <p:ph type="subTitle" idx="2"/>
          </p:nvPr>
        </p:nvSpPr>
        <p:spPr>
          <a:xfrm>
            <a:off x="715100" y="3965300"/>
            <a:ext cx="5930100" cy="45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bg>
      <p:bgPr>
        <a:solidFill>
          <a:schemeClr val="lt1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9"/>
          <p:cNvPicPr preferRelativeResize="0"/>
          <p:nvPr/>
        </p:nvPicPr>
        <p:blipFill rotWithShape="1">
          <a:blip r:embed="rId2">
            <a:alphaModFix/>
          </a:blip>
          <a:srcRect l="-50000" t="49600" r="50000" b="-5849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9"/>
          <p:cNvSpPr txBox="1">
            <a:spLocks noGrp="1"/>
          </p:cNvSpPr>
          <p:nvPr>
            <p:ph type="subTitle" idx="1"/>
          </p:nvPr>
        </p:nvSpPr>
        <p:spPr>
          <a:xfrm>
            <a:off x="715100" y="2046500"/>
            <a:ext cx="5930100" cy="72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9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97" name="Google Shape;97;p19"/>
          <p:cNvSpPr txBox="1">
            <a:spLocks noGrp="1"/>
          </p:cNvSpPr>
          <p:nvPr>
            <p:ph type="subTitle" idx="2"/>
          </p:nvPr>
        </p:nvSpPr>
        <p:spPr>
          <a:xfrm>
            <a:off x="715100" y="3299000"/>
            <a:ext cx="5930100" cy="72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9"/>
          <p:cNvSpPr txBox="1">
            <a:spLocks noGrp="1"/>
          </p:cNvSpPr>
          <p:nvPr>
            <p:ph type="subTitle" idx="3"/>
          </p:nvPr>
        </p:nvSpPr>
        <p:spPr>
          <a:xfrm>
            <a:off x="715100" y="1666700"/>
            <a:ext cx="5930100" cy="45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99" name="Google Shape;99;p19"/>
          <p:cNvSpPr txBox="1">
            <a:spLocks noGrp="1"/>
          </p:cNvSpPr>
          <p:nvPr>
            <p:ph type="subTitle" idx="4"/>
          </p:nvPr>
        </p:nvSpPr>
        <p:spPr>
          <a:xfrm>
            <a:off x="715100" y="2919200"/>
            <a:ext cx="5930100" cy="4560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BLANK_1_1_1_2">
    <p:bg>
      <p:bgPr>
        <a:solidFill>
          <a:schemeClr val="lt1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Google Shape;101;p20"/>
          <p:cNvPicPr preferRelativeResize="0"/>
          <p:nvPr/>
        </p:nvPicPr>
        <p:blipFill rotWithShape="1">
          <a:blip r:embed="rId2">
            <a:alphaModFix/>
          </a:blip>
          <a:srcRect l="-235242" t="44962" r="44460" b="-108521"/>
          <a:stretch/>
        </p:blipFill>
        <p:spPr>
          <a:xfrm rot="10800000">
            <a:off x="-10150" y="0"/>
            <a:ext cx="9154150" cy="514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20"/>
          <p:cNvPicPr preferRelativeResize="0"/>
          <p:nvPr/>
        </p:nvPicPr>
        <p:blipFill rotWithShape="1">
          <a:blip r:embed="rId2">
            <a:alphaModFix/>
          </a:blip>
          <a:srcRect l="-235242" t="44962" r="44460" b="-108521"/>
          <a:stretch/>
        </p:blipFill>
        <p:spPr>
          <a:xfrm rot="10800000" flipH="1">
            <a:off x="-4572" y="-2437"/>
            <a:ext cx="9153145" cy="5148375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0"/>
          <p:cNvSpPr txBox="1">
            <a:spLocks noGrp="1"/>
          </p:cNvSpPr>
          <p:nvPr>
            <p:ph type="subTitle" idx="1"/>
          </p:nvPr>
        </p:nvSpPr>
        <p:spPr>
          <a:xfrm>
            <a:off x="715100" y="2328775"/>
            <a:ext cx="2131800" cy="145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20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20"/>
          <p:cNvSpPr txBox="1">
            <a:spLocks noGrp="1"/>
          </p:cNvSpPr>
          <p:nvPr>
            <p:ph type="subTitle" idx="2"/>
          </p:nvPr>
        </p:nvSpPr>
        <p:spPr>
          <a:xfrm>
            <a:off x="715100" y="1666700"/>
            <a:ext cx="2131800" cy="73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106" name="Google Shape;106;p20"/>
          <p:cNvSpPr txBox="1">
            <a:spLocks noGrp="1"/>
          </p:cNvSpPr>
          <p:nvPr>
            <p:ph type="subTitle" idx="3"/>
          </p:nvPr>
        </p:nvSpPr>
        <p:spPr>
          <a:xfrm>
            <a:off x="3506100" y="2328775"/>
            <a:ext cx="2131800" cy="145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20"/>
          <p:cNvSpPr txBox="1">
            <a:spLocks noGrp="1"/>
          </p:cNvSpPr>
          <p:nvPr>
            <p:ph type="subTitle" idx="4"/>
          </p:nvPr>
        </p:nvSpPr>
        <p:spPr>
          <a:xfrm>
            <a:off x="3506099" y="1666700"/>
            <a:ext cx="2131800" cy="73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108" name="Google Shape;108;p20"/>
          <p:cNvSpPr txBox="1">
            <a:spLocks noGrp="1"/>
          </p:cNvSpPr>
          <p:nvPr>
            <p:ph type="subTitle" idx="5"/>
          </p:nvPr>
        </p:nvSpPr>
        <p:spPr>
          <a:xfrm>
            <a:off x="6297202" y="2328775"/>
            <a:ext cx="2131800" cy="145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20"/>
          <p:cNvSpPr txBox="1">
            <a:spLocks noGrp="1"/>
          </p:cNvSpPr>
          <p:nvPr>
            <p:ph type="subTitle" idx="6"/>
          </p:nvPr>
        </p:nvSpPr>
        <p:spPr>
          <a:xfrm>
            <a:off x="6297200" y="1666700"/>
            <a:ext cx="2131800" cy="734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BLANK_1_1_1_2_1">
    <p:bg>
      <p:bgPr>
        <a:solidFill>
          <a:schemeClr val="lt1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1"/>
          <p:cNvPicPr preferRelativeResize="0"/>
          <p:nvPr/>
        </p:nvPicPr>
        <p:blipFill rotWithShape="1">
          <a:blip r:embed="rId2">
            <a:alphaModFix/>
          </a:blip>
          <a:srcRect l="-50000" t="49600" r="50000" b="-5849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1"/>
          <p:cNvSpPr txBox="1">
            <a:spLocks noGrp="1"/>
          </p:cNvSpPr>
          <p:nvPr>
            <p:ph type="subTitle" idx="1"/>
          </p:nvPr>
        </p:nvSpPr>
        <p:spPr>
          <a:xfrm>
            <a:off x="715100" y="3758613"/>
            <a:ext cx="21318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4" name="Google Shape;114;p21"/>
          <p:cNvSpPr txBox="1">
            <a:spLocks noGrp="1"/>
          </p:cNvSpPr>
          <p:nvPr>
            <p:ph type="subTitle" idx="2"/>
          </p:nvPr>
        </p:nvSpPr>
        <p:spPr>
          <a:xfrm>
            <a:off x="715100" y="3377613"/>
            <a:ext cx="2131800" cy="457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115" name="Google Shape;115;p21"/>
          <p:cNvSpPr txBox="1">
            <a:spLocks noGrp="1"/>
          </p:cNvSpPr>
          <p:nvPr>
            <p:ph type="subTitle" idx="3"/>
          </p:nvPr>
        </p:nvSpPr>
        <p:spPr>
          <a:xfrm>
            <a:off x="3506099" y="3758613"/>
            <a:ext cx="21318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21"/>
          <p:cNvSpPr txBox="1">
            <a:spLocks noGrp="1"/>
          </p:cNvSpPr>
          <p:nvPr>
            <p:ph type="subTitle" idx="4"/>
          </p:nvPr>
        </p:nvSpPr>
        <p:spPr>
          <a:xfrm>
            <a:off x="3506099" y="3377613"/>
            <a:ext cx="2131800" cy="457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117" name="Google Shape;117;p21"/>
          <p:cNvSpPr txBox="1">
            <a:spLocks noGrp="1"/>
          </p:cNvSpPr>
          <p:nvPr>
            <p:ph type="subTitle" idx="5"/>
          </p:nvPr>
        </p:nvSpPr>
        <p:spPr>
          <a:xfrm>
            <a:off x="6297200" y="3758613"/>
            <a:ext cx="21318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18" name="Google Shape;118;p21"/>
          <p:cNvSpPr txBox="1">
            <a:spLocks noGrp="1"/>
          </p:cNvSpPr>
          <p:nvPr>
            <p:ph type="subTitle" idx="6"/>
          </p:nvPr>
        </p:nvSpPr>
        <p:spPr>
          <a:xfrm>
            <a:off x="6297200" y="3377613"/>
            <a:ext cx="2131800" cy="457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BLANK_1_1_1_1_1">
    <p:bg>
      <p:bgPr>
        <a:solidFill>
          <a:schemeClr val="lt1"/>
        </a:solidFill>
        <a:effectLst/>
      </p:bgPr>
    </p:bg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3"/>
          <p:cNvSpPr txBox="1">
            <a:spLocks noGrp="1"/>
          </p:cNvSpPr>
          <p:nvPr>
            <p:ph type="subTitle" idx="1"/>
          </p:nvPr>
        </p:nvSpPr>
        <p:spPr>
          <a:xfrm>
            <a:off x="715100" y="1879700"/>
            <a:ext cx="2432400" cy="887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23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3" name="Google Shape;133;p23"/>
          <p:cNvSpPr txBox="1">
            <a:spLocks noGrp="1"/>
          </p:cNvSpPr>
          <p:nvPr>
            <p:ph type="subTitle" idx="2"/>
          </p:nvPr>
        </p:nvSpPr>
        <p:spPr>
          <a:xfrm>
            <a:off x="715100" y="3574400"/>
            <a:ext cx="2432400" cy="887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23"/>
          <p:cNvSpPr txBox="1">
            <a:spLocks noGrp="1"/>
          </p:cNvSpPr>
          <p:nvPr>
            <p:ph type="subTitle" idx="3"/>
          </p:nvPr>
        </p:nvSpPr>
        <p:spPr>
          <a:xfrm>
            <a:off x="715100" y="1224500"/>
            <a:ext cx="2432400" cy="73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subTitle" idx="4"/>
          </p:nvPr>
        </p:nvSpPr>
        <p:spPr>
          <a:xfrm>
            <a:off x="715100" y="2919200"/>
            <a:ext cx="2432400" cy="73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subTitle" idx="5"/>
          </p:nvPr>
        </p:nvSpPr>
        <p:spPr>
          <a:xfrm>
            <a:off x="3355799" y="1879700"/>
            <a:ext cx="2432400" cy="887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subTitle" idx="6"/>
          </p:nvPr>
        </p:nvSpPr>
        <p:spPr>
          <a:xfrm>
            <a:off x="3355799" y="3574400"/>
            <a:ext cx="2432400" cy="887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3"/>
          <p:cNvSpPr txBox="1">
            <a:spLocks noGrp="1"/>
          </p:cNvSpPr>
          <p:nvPr>
            <p:ph type="subTitle" idx="7"/>
          </p:nvPr>
        </p:nvSpPr>
        <p:spPr>
          <a:xfrm>
            <a:off x="3355800" y="1224500"/>
            <a:ext cx="2432400" cy="73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139" name="Google Shape;139;p23"/>
          <p:cNvSpPr txBox="1">
            <a:spLocks noGrp="1"/>
          </p:cNvSpPr>
          <p:nvPr>
            <p:ph type="subTitle" idx="8"/>
          </p:nvPr>
        </p:nvSpPr>
        <p:spPr>
          <a:xfrm>
            <a:off x="3355800" y="2919200"/>
            <a:ext cx="2432400" cy="73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140" name="Google Shape;140;p23"/>
          <p:cNvSpPr txBox="1">
            <a:spLocks noGrp="1"/>
          </p:cNvSpPr>
          <p:nvPr>
            <p:ph type="subTitle" idx="9"/>
          </p:nvPr>
        </p:nvSpPr>
        <p:spPr>
          <a:xfrm>
            <a:off x="5996501" y="1879700"/>
            <a:ext cx="2432400" cy="887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41" name="Google Shape;141;p23"/>
          <p:cNvSpPr txBox="1">
            <a:spLocks noGrp="1"/>
          </p:cNvSpPr>
          <p:nvPr>
            <p:ph type="subTitle" idx="13"/>
          </p:nvPr>
        </p:nvSpPr>
        <p:spPr>
          <a:xfrm>
            <a:off x="5996501" y="3574400"/>
            <a:ext cx="2432400" cy="8871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142" name="Google Shape;142;p23"/>
          <p:cNvSpPr txBox="1">
            <a:spLocks noGrp="1"/>
          </p:cNvSpPr>
          <p:nvPr>
            <p:ph type="subTitle" idx="14"/>
          </p:nvPr>
        </p:nvSpPr>
        <p:spPr>
          <a:xfrm>
            <a:off x="5996503" y="1224500"/>
            <a:ext cx="2432400" cy="73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143" name="Google Shape;143;p23"/>
          <p:cNvSpPr txBox="1">
            <a:spLocks noGrp="1"/>
          </p:cNvSpPr>
          <p:nvPr>
            <p:ph type="subTitle" idx="15"/>
          </p:nvPr>
        </p:nvSpPr>
        <p:spPr>
          <a:xfrm>
            <a:off x="5996503" y="2919200"/>
            <a:ext cx="2432400" cy="731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CUSTOM_1_1">
    <p:bg>
      <p:bgPr>
        <a:solidFill>
          <a:schemeClr val="lt1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27"/>
          <p:cNvPicPr preferRelativeResize="0"/>
          <p:nvPr/>
        </p:nvPicPr>
        <p:blipFill rotWithShape="1">
          <a:blip r:embed="rId2">
            <a:alphaModFix/>
          </a:blip>
          <a:srcRect l="-235242" t="44962" r="44460" b="-108521"/>
          <a:stretch/>
        </p:blipFill>
        <p:spPr>
          <a:xfrm rot="10800000">
            <a:off x="-10150" y="0"/>
            <a:ext cx="9154150" cy="514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3" name="Google Shape;163;p27"/>
          <p:cNvPicPr preferRelativeResize="0"/>
          <p:nvPr/>
        </p:nvPicPr>
        <p:blipFill rotWithShape="1">
          <a:blip r:embed="rId2">
            <a:alphaModFix/>
          </a:blip>
          <a:srcRect l="-235242" t="44962" r="44460" b="-108521"/>
          <a:stretch/>
        </p:blipFill>
        <p:spPr>
          <a:xfrm rot="10800000" flipH="1">
            <a:off x="-4572" y="-2437"/>
            <a:ext cx="9153145" cy="5148375"/>
          </a:xfrm>
          <a:prstGeom prst="rect">
            <a:avLst/>
          </a:prstGeom>
          <a:noFill/>
          <a:ln>
            <a:noFill/>
          </a:ln>
        </p:spPr>
      </p:pic>
      <p:sp>
        <p:nvSpPr>
          <p:cNvPr id="164" name="Google Shape;164;p27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_1_1">
    <p:bg>
      <p:bgPr>
        <a:solidFill>
          <a:schemeClr val="lt1"/>
        </a:solidFill>
        <a:effectLst/>
      </p:bgPr>
    </p:bg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6" name="Google Shape;166;p28"/>
          <p:cNvPicPr preferRelativeResize="0"/>
          <p:nvPr/>
        </p:nvPicPr>
        <p:blipFill rotWithShape="1">
          <a:blip r:embed="rId2">
            <a:alphaModFix/>
          </a:blip>
          <a:srcRect l="-6643" t="-11183" r="27548" b="-11170"/>
          <a:stretch/>
        </p:blipFill>
        <p:spPr>
          <a:xfrm>
            <a:off x="5819050" y="0"/>
            <a:ext cx="332495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28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None/>
              <a:defRPr sz="25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bg>
      <p:bgPr>
        <a:solidFill>
          <a:schemeClr val="lt1"/>
        </a:solidFill>
        <a:effectLst/>
      </p:bgPr>
    </p:bg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0"/>
          <p:cNvPicPr preferRelativeResize="0"/>
          <p:nvPr/>
        </p:nvPicPr>
        <p:blipFill rotWithShape="1">
          <a:blip r:embed="rId2">
            <a:alphaModFix/>
          </a:blip>
          <a:srcRect l="-6643" t="13471" r="27548" b="-35825"/>
          <a:stretch/>
        </p:blipFill>
        <p:spPr>
          <a:xfrm flipH="1">
            <a:off x="-10680" y="-2437"/>
            <a:ext cx="3321293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0"/>
          <p:cNvPicPr preferRelativeResize="0"/>
          <p:nvPr/>
        </p:nvPicPr>
        <p:blipFill rotWithShape="1">
          <a:blip r:embed="rId2">
            <a:alphaModFix/>
          </a:blip>
          <a:srcRect l="-235242" t="44962" r="44460" b="-108521"/>
          <a:stretch/>
        </p:blipFill>
        <p:spPr>
          <a:xfrm rot="10800000" flipH="1">
            <a:off x="-10680" y="-2437"/>
            <a:ext cx="9144080" cy="514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bg>
      <p:bgPr>
        <a:solidFill>
          <a:schemeClr val="lt1"/>
        </a:solidFill>
        <a:effectLst/>
      </p:bgPr>
    </p:bg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Google Shape;178;p31"/>
          <p:cNvPicPr preferRelativeResize="0"/>
          <p:nvPr/>
        </p:nvPicPr>
        <p:blipFill rotWithShape="1">
          <a:blip r:embed="rId2">
            <a:alphaModFix/>
          </a:blip>
          <a:srcRect l="-55210" t="50562" r="55209" b="-6811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31"/>
          <p:cNvPicPr preferRelativeResize="0"/>
          <p:nvPr/>
        </p:nvPicPr>
        <p:blipFill rotWithShape="1">
          <a:blip r:embed="rId2">
            <a:alphaModFix/>
          </a:blip>
          <a:srcRect l="-55210" t="50562" r="55209" b="-6811"/>
          <a:stretch/>
        </p:blipFill>
        <p:spPr>
          <a:xfrm rot="10800000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bg>
      <p:bgPr>
        <a:solidFill>
          <a:schemeClr val="lt1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3"/>
          <p:cNvPicPr preferRelativeResize="0"/>
          <p:nvPr/>
        </p:nvPicPr>
        <p:blipFill rotWithShape="1">
          <a:blip r:embed="rId2">
            <a:alphaModFix/>
          </a:blip>
          <a:srcRect l="-235242" t="44962" r="44460" b="-108521"/>
          <a:stretch/>
        </p:blipFill>
        <p:spPr>
          <a:xfrm rot="10800000">
            <a:off x="-10150" y="0"/>
            <a:ext cx="9154150" cy="5148375"/>
          </a:xfrm>
          <a:prstGeom prst="rect">
            <a:avLst/>
          </a:prstGeom>
          <a:noFill/>
          <a:ln>
            <a:noFill/>
          </a:ln>
        </p:spPr>
      </p:pic>
      <p:sp>
        <p:nvSpPr>
          <p:cNvPr id="55" name="Google Shape;55;p13"/>
          <p:cNvSpPr txBox="1">
            <a:spLocks noGrp="1"/>
          </p:cNvSpPr>
          <p:nvPr>
            <p:ph type="title" hasCustomPrompt="1"/>
          </p:nvPr>
        </p:nvSpPr>
        <p:spPr>
          <a:xfrm>
            <a:off x="1070650" y="1367325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6" name="Google Shape;56;p13"/>
          <p:cNvSpPr txBox="1">
            <a:spLocks noGrp="1"/>
          </p:cNvSpPr>
          <p:nvPr>
            <p:ph type="subTitle" idx="1"/>
          </p:nvPr>
        </p:nvSpPr>
        <p:spPr>
          <a:xfrm>
            <a:off x="1609075" y="1367325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57" name="Google Shape;57;p13"/>
          <p:cNvSpPr txBox="1">
            <a:spLocks noGrp="1"/>
          </p:cNvSpPr>
          <p:nvPr>
            <p:ph type="title" idx="2"/>
          </p:nvPr>
        </p:nvSpPr>
        <p:spPr>
          <a:xfrm>
            <a:off x="715100" y="535000"/>
            <a:ext cx="7713900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30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3"/>
          <p:cNvSpPr txBox="1">
            <a:spLocks noGrp="1"/>
          </p:cNvSpPr>
          <p:nvPr>
            <p:ph type="title" idx="3" hasCustomPrompt="1"/>
          </p:nvPr>
        </p:nvSpPr>
        <p:spPr>
          <a:xfrm>
            <a:off x="1070650" y="2103525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59" name="Google Shape;59;p13"/>
          <p:cNvSpPr txBox="1">
            <a:spLocks noGrp="1"/>
          </p:cNvSpPr>
          <p:nvPr>
            <p:ph type="subTitle" idx="4"/>
          </p:nvPr>
        </p:nvSpPr>
        <p:spPr>
          <a:xfrm>
            <a:off x="1609075" y="2103524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title" idx="5" hasCustomPrompt="1"/>
          </p:nvPr>
        </p:nvSpPr>
        <p:spPr>
          <a:xfrm>
            <a:off x="1070650" y="2839750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6"/>
          </p:nvPr>
        </p:nvSpPr>
        <p:spPr>
          <a:xfrm>
            <a:off x="1609075" y="2839748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title" idx="7" hasCustomPrompt="1"/>
          </p:nvPr>
        </p:nvSpPr>
        <p:spPr>
          <a:xfrm>
            <a:off x="1070650" y="3575950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8"/>
          </p:nvPr>
        </p:nvSpPr>
        <p:spPr>
          <a:xfrm>
            <a:off x="1609075" y="3575948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title" idx="9" hasCustomPrompt="1"/>
          </p:nvPr>
        </p:nvSpPr>
        <p:spPr>
          <a:xfrm>
            <a:off x="4927449" y="1367325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13"/>
          </p:nvPr>
        </p:nvSpPr>
        <p:spPr>
          <a:xfrm>
            <a:off x="5465950" y="1367325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14" hasCustomPrompt="1"/>
          </p:nvPr>
        </p:nvSpPr>
        <p:spPr>
          <a:xfrm>
            <a:off x="4927449" y="2103522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subTitle" idx="15"/>
          </p:nvPr>
        </p:nvSpPr>
        <p:spPr>
          <a:xfrm>
            <a:off x="5465950" y="2103519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68" name="Google Shape;68;p13"/>
          <p:cNvSpPr txBox="1">
            <a:spLocks noGrp="1"/>
          </p:cNvSpPr>
          <p:nvPr>
            <p:ph type="title" idx="16" hasCustomPrompt="1"/>
          </p:nvPr>
        </p:nvSpPr>
        <p:spPr>
          <a:xfrm>
            <a:off x="4927449" y="2839728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type="subTitle" idx="17"/>
          </p:nvPr>
        </p:nvSpPr>
        <p:spPr>
          <a:xfrm>
            <a:off x="5465950" y="2839721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 idx="18" hasCustomPrompt="1"/>
          </p:nvPr>
        </p:nvSpPr>
        <p:spPr>
          <a:xfrm>
            <a:off x="4927449" y="3575925"/>
            <a:ext cx="5385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1800">
                <a:solidFill>
                  <a:schemeClr val="lt2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1" name="Google Shape;71;p13"/>
          <p:cNvSpPr txBox="1">
            <a:spLocks noGrp="1"/>
          </p:cNvSpPr>
          <p:nvPr>
            <p:ph type="subTitle" idx="19"/>
          </p:nvPr>
        </p:nvSpPr>
        <p:spPr>
          <a:xfrm>
            <a:off x="5465950" y="3575916"/>
            <a:ext cx="2607300" cy="7362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7030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accent6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5100" y="535000"/>
            <a:ext cx="77139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Alexandria Medium"/>
              <a:buNone/>
              <a:defRPr sz="2500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5100" y="1083700"/>
            <a:ext cx="7713900" cy="3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●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○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Char char="■"/>
              <a:defRPr sz="1200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8" r:id="rId3"/>
    <p:sldLayoutId id="2147483660" r:id="rId4"/>
    <p:sldLayoutId id="2147483665" r:id="rId5"/>
    <p:sldLayoutId id="2147483666" r:id="rId6"/>
    <p:sldLayoutId id="2147483667" r:id="rId7"/>
    <p:sldLayoutId id="2147483669" r:id="rId8"/>
    <p:sldLayoutId id="2147483673" r:id="rId9"/>
    <p:sldLayoutId id="2147483674" r:id="rId10"/>
    <p:sldLayoutId id="2147483676" r:id="rId11"/>
    <p:sldLayoutId id="2147483677" r:id="rId12"/>
    <p:sldLayoutId id="2147483681" r:id="rId1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9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9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50"/>
          <p:cNvSpPr txBox="1">
            <a:spLocks noGrp="1"/>
          </p:cNvSpPr>
          <p:nvPr>
            <p:ph type="subTitle" idx="1"/>
          </p:nvPr>
        </p:nvSpPr>
        <p:spPr>
          <a:xfrm>
            <a:off x="715100" y="1609732"/>
            <a:ext cx="6109446" cy="158813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“</a:t>
            </a:r>
            <a:r>
              <a:rPr lang="en-US" dirty="0"/>
              <a:t>Improving Web Automation with DOM Delta Processing and Privacy-Aware LLM Agents</a:t>
            </a:r>
            <a:r>
              <a:rPr lang="en" dirty="0"/>
              <a:t>”</a:t>
            </a:r>
            <a:endParaRPr dirty="0"/>
          </a:p>
        </p:txBody>
      </p:sp>
      <p:sp>
        <p:nvSpPr>
          <p:cNvPr id="379" name="Google Shape;379;p50"/>
          <p:cNvSpPr txBox="1">
            <a:spLocks noGrp="1"/>
          </p:cNvSpPr>
          <p:nvPr>
            <p:ph type="subTitle" idx="2"/>
          </p:nvPr>
        </p:nvSpPr>
        <p:spPr>
          <a:xfrm>
            <a:off x="715100" y="3893606"/>
            <a:ext cx="5930100" cy="7776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—Darji Dhruv S. (24MCD003)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—</a:t>
            </a:r>
            <a:r>
              <a:rPr lang="en-US" sz="1800" dirty="0"/>
              <a:t>Mentor: Dr. </a:t>
            </a:r>
            <a:r>
              <a:rPr lang="en-US" sz="1800" dirty="0" err="1"/>
              <a:t>Parita</a:t>
            </a:r>
            <a:r>
              <a:rPr lang="en-US" sz="1800" dirty="0"/>
              <a:t> </a:t>
            </a:r>
            <a:r>
              <a:rPr lang="en-US" sz="1800" dirty="0" err="1"/>
              <a:t>Oza</a:t>
            </a:r>
            <a:endParaRPr dirty="0"/>
          </a:p>
        </p:txBody>
      </p:sp>
      <p:cxnSp>
        <p:nvCxnSpPr>
          <p:cNvPr id="380" name="Google Shape;380;p50">
            <a:hlinkClick r:id="" action="ppaction://hlinkshowjump?jump=nextslide"/>
          </p:cNvPr>
          <p:cNvCxnSpPr/>
          <p:nvPr/>
        </p:nvCxnSpPr>
        <p:spPr>
          <a:xfrm>
            <a:off x="715100" y="729100"/>
            <a:ext cx="483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" name="Google Shape;263;p43">
            <a:extLst>
              <a:ext uri="{FF2B5EF4-FFF2-40B4-BE49-F238E27FC236}">
                <a16:creationId xmlns:a16="http://schemas.microsoft.com/office/drawing/2014/main" id="{D29736A1-A90E-59B4-A21F-DB5F89538343}"/>
              </a:ext>
            </a:extLst>
          </p:cNvPr>
          <p:cNvSpPr txBox="1">
            <a:spLocks/>
          </p:cNvSpPr>
          <p:nvPr/>
        </p:nvSpPr>
        <p:spPr>
          <a:xfrm>
            <a:off x="715100" y="3185897"/>
            <a:ext cx="3373680" cy="359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0" indent="0"/>
            <a:r>
              <a:rPr lang="en-US" sz="1200" dirty="0"/>
              <a:t>Major Project – 2</a:t>
            </a:r>
          </a:p>
          <a:p>
            <a:pPr marL="0" indent="0"/>
            <a:endParaRPr lang="en-US" sz="1200" dirty="0"/>
          </a:p>
          <a:p>
            <a:pPr marL="0" indent="0"/>
            <a:endParaRPr lang="en-US" sz="1200" dirty="0"/>
          </a:p>
        </p:txBody>
      </p:sp>
      <p:sp>
        <p:nvSpPr>
          <p:cNvPr id="2" name="Google Shape;263;p43">
            <a:extLst>
              <a:ext uri="{FF2B5EF4-FFF2-40B4-BE49-F238E27FC236}">
                <a16:creationId xmlns:a16="http://schemas.microsoft.com/office/drawing/2014/main" id="{8E4EF4CB-0E82-8AB2-16FE-90AE487233B3}"/>
              </a:ext>
            </a:extLst>
          </p:cNvPr>
          <p:cNvSpPr txBox="1">
            <a:spLocks/>
          </p:cNvSpPr>
          <p:nvPr/>
        </p:nvSpPr>
        <p:spPr>
          <a:xfrm>
            <a:off x="715100" y="3533767"/>
            <a:ext cx="3779528" cy="359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0" indent="0"/>
            <a:r>
              <a:rPr lang="en-US" sz="1200" dirty="0"/>
              <a:t>Computer Science &amp; Engineering (Data Science)</a:t>
            </a:r>
          </a:p>
          <a:p>
            <a:pPr marL="0" indent="0"/>
            <a:endParaRPr lang="en-US" sz="1200" dirty="0"/>
          </a:p>
          <a:p>
            <a:pPr marL="0" indent="0"/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7"/>
          <p:cNvSpPr txBox="1">
            <a:spLocks noGrp="1"/>
          </p:cNvSpPr>
          <p:nvPr>
            <p:ph type="title"/>
          </p:nvPr>
        </p:nvSpPr>
        <p:spPr>
          <a:xfrm>
            <a:off x="1070649" y="1367325"/>
            <a:ext cx="650693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207" name="Google Shape;207;p37"/>
          <p:cNvSpPr txBox="1">
            <a:spLocks noGrp="1"/>
          </p:cNvSpPr>
          <p:nvPr>
            <p:ph type="subTitle" idx="1"/>
          </p:nvPr>
        </p:nvSpPr>
        <p:spPr>
          <a:xfrm>
            <a:off x="1609075" y="1367325"/>
            <a:ext cx="3150512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208" name="Google Shape;208;p37"/>
          <p:cNvSpPr txBox="1">
            <a:spLocks noGrp="1"/>
          </p:cNvSpPr>
          <p:nvPr>
            <p:ph type="title" idx="2"/>
          </p:nvPr>
        </p:nvSpPr>
        <p:spPr>
          <a:xfrm>
            <a:off x="715100" y="535000"/>
            <a:ext cx="7713900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Contents</a:t>
            </a:r>
            <a:endParaRPr dirty="0"/>
          </a:p>
        </p:txBody>
      </p:sp>
      <p:sp>
        <p:nvSpPr>
          <p:cNvPr id="209" name="Google Shape;209;p37"/>
          <p:cNvSpPr txBox="1">
            <a:spLocks noGrp="1"/>
          </p:cNvSpPr>
          <p:nvPr>
            <p:ph type="title" idx="3"/>
          </p:nvPr>
        </p:nvSpPr>
        <p:spPr>
          <a:xfrm>
            <a:off x="1070649" y="1897772"/>
            <a:ext cx="650693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02</a:t>
            </a:r>
            <a:endParaRPr dirty="0"/>
          </a:p>
        </p:txBody>
      </p:sp>
      <p:sp>
        <p:nvSpPr>
          <p:cNvPr id="210" name="Google Shape;210;p37"/>
          <p:cNvSpPr txBox="1">
            <a:spLocks noGrp="1"/>
          </p:cNvSpPr>
          <p:nvPr>
            <p:ph type="subTitle" idx="4"/>
          </p:nvPr>
        </p:nvSpPr>
        <p:spPr>
          <a:xfrm>
            <a:off x="1609075" y="1897782"/>
            <a:ext cx="3150512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Problem Statement</a:t>
            </a:r>
            <a:endParaRPr dirty="0"/>
          </a:p>
        </p:txBody>
      </p:sp>
      <p:sp>
        <p:nvSpPr>
          <p:cNvPr id="211" name="Google Shape;211;p37"/>
          <p:cNvSpPr txBox="1">
            <a:spLocks noGrp="1"/>
          </p:cNvSpPr>
          <p:nvPr>
            <p:ph type="title" idx="5"/>
          </p:nvPr>
        </p:nvSpPr>
        <p:spPr>
          <a:xfrm>
            <a:off x="1070649" y="2421954"/>
            <a:ext cx="650693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03</a:t>
            </a:r>
            <a:endParaRPr dirty="0"/>
          </a:p>
        </p:txBody>
      </p:sp>
      <p:sp>
        <p:nvSpPr>
          <p:cNvPr id="212" name="Google Shape;212;p37"/>
          <p:cNvSpPr txBox="1">
            <a:spLocks noGrp="1"/>
          </p:cNvSpPr>
          <p:nvPr>
            <p:ph type="subTitle" idx="6"/>
          </p:nvPr>
        </p:nvSpPr>
        <p:spPr>
          <a:xfrm>
            <a:off x="1609075" y="2428219"/>
            <a:ext cx="3150512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Liturature Review</a:t>
            </a:r>
            <a:endParaRPr dirty="0"/>
          </a:p>
        </p:txBody>
      </p:sp>
      <p:sp>
        <p:nvSpPr>
          <p:cNvPr id="213" name="Google Shape;213;p37"/>
          <p:cNvSpPr txBox="1">
            <a:spLocks noGrp="1"/>
          </p:cNvSpPr>
          <p:nvPr>
            <p:ph type="title" idx="7"/>
          </p:nvPr>
        </p:nvSpPr>
        <p:spPr>
          <a:xfrm>
            <a:off x="1070649" y="2956651"/>
            <a:ext cx="650693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04</a:t>
            </a:r>
            <a:endParaRPr dirty="0"/>
          </a:p>
        </p:txBody>
      </p:sp>
      <p:sp>
        <p:nvSpPr>
          <p:cNvPr id="214" name="Google Shape;214;p37"/>
          <p:cNvSpPr txBox="1">
            <a:spLocks noGrp="1"/>
          </p:cNvSpPr>
          <p:nvPr>
            <p:ph type="subTitle" idx="8"/>
          </p:nvPr>
        </p:nvSpPr>
        <p:spPr>
          <a:xfrm>
            <a:off x="1609075" y="2946126"/>
            <a:ext cx="3150512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Research Gaps</a:t>
            </a:r>
            <a:endParaRPr dirty="0"/>
          </a:p>
        </p:txBody>
      </p:sp>
      <p:sp>
        <p:nvSpPr>
          <p:cNvPr id="215" name="Google Shape;215;p37"/>
          <p:cNvSpPr txBox="1">
            <a:spLocks noGrp="1"/>
          </p:cNvSpPr>
          <p:nvPr>
            <p:ph type="title" idx="9"/>
          </p:nvPr>
        </p:nvSpPr>
        <p:spPr>
          <a:xfrm>
            <a:off x="1070648" y="3474558"/>
            <a:ext cx="650693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05</a:t>
            </a:r>
            <a:endParaRPr dirty="0"/>
          </a:p>
        </p:txBody>
      </p:sp>
      <p:sp>
        <p:nvSpPr>
          <p:cNvPr id="216" name="Google Shape;216;p37"/>
          <p:cNvSpPr txBox="1">
            <a:spLocks noGrp="1"/>
          </p:cNvSpPr>
          <p:nvPr>
            <p:ph type="subTitle" idx="13"/>
          </p:nvPr>
        </p:nvSpPr>
        <p:spPr>
          <a:xfrm>
            <a:off x="1609075" y="3485083"/>
            <a:ext cx="3150512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Objective</a:t>
            </a:r>
            <a:endParaRPr dirty="0"/>
          </a:p>
        </p:txBody>
      </p:sp>
      <p:sp>
        <p:nvSpPr>
          <p:cNvPr id="217" name="Google Shape;217;p37"/>
          <p:cNvSpPr txBox="1">
            <a:spLocks noGrp="1"/>
          </p:cNvSpPr>
          <p:nvPr>
            <p:ph type="title" idx="14"/>
          </p:nvPr>
        </p:nvSpPr>
        <p:spPr>
          <a:xfrm>
            <a:off x="1070648" y="4027634"/>
            <a:ext cx="650693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06</a:t>
            </a:r>
            <a:endParaRPr dirty="0"/>
          </a:p>
        </p:txBody>
      </p:sp>
      <p:sp>
        <p:nvSpPr>
          <p:cNvPr id="218" name="Google Shape;218;p37"/>
          <p:cNvSpPr txBox="1">
            <a:spLocks noGrp="1"/>
          </p:cNvSpPr>
          <p:nvPr>
            <p:ph type="subTitle" idx="15"/>
          </p:nvPr>
        </p:nvSpPr>
        <p:spPr>
          <a:xfrm>
            <a:off x="1609075" y="4013515"/>
            <a:ext cx="3150512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SeeAct: Base Paper</a:t>
            </a:r>
            <a:endParaRPr dirty="0"/>
          </a:p>
        </p:txBody>
      </p:sp>
      <p:sp>
        <p:nvSpPr>
          <p:cNvPr id="219" name="Google Shape;219;p37"/>
          <p:cNvSpPr txBox="1">
            <a:spLocks noGrp="1"/>
          </p:cNvSpPr>
          <p:nvPr>
            <p:ph type="title" idx="16"/>
          </p:nvPr>
        </p:nvSpPr>
        <p:spPr>
          <a:xfrm>
            <a:off x="4759588" y="1367325"/>
            <a:ext cx="650693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07</a:t>
            </a:r>
            <a:endParaRPr dirty="0"/>
          </a:p>
        </p:txBody>
      </p:sp>
      <p:sp>
        <p:nvSpPr>
          <p:cNvPr id="220" name="Google Shape;220;p37"/>
          <p:cNvSpPr txBox="1">
            <a:spLocks noGrp="1"/>
          </p:cNvSpPr>
          <p:nvPr>
            <p:ph type="subTitle" idx="17"/>
          </p:nvPr>
        </p:nvSpPr>
        <p:spPr>
          <a:xfrm>
            <a:off x="5298091" y="1367325"/>
            <a:ext cx="3150512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IN" dirty="0"/>
              <a:t>Dataset</a:t>
            </a:r>
            <a:endParaRPr dirty="0"/>
          </a:p>
        </p:txBody>
      </p:sp>
      <p:sp>
        <p:nvSpPr>
          <p:cNvPr id="221" name="Google Shape;221;p37"/>
          <p:cNvSpPr txBox="1">
            <a:spLocks noGrp="1"/>
          </p:cNvSpPr>
          <p:nvPr>
            <p:ph type="title" idx="18"/>
          </p:nvPr>
        </p:nvSpPr>
        <p:spPr>
          <a:xfrm>
            <a:off x="4759587" y="1897774"/>
            <a:ext cx="650693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08</a:t>
            </a:r>
            <a:endParaRPr dirty="0"/>
          </a:p>
        </p:txBody>
      </p:sp>
      <p:sp>
        <p:nvSpPr>
          <p:cNvPr id="222" name="Google Shape;222;p37"/>
          <p:cNvSpPr txBox="1">
            <a:spLocks noGrp="1"/>
          </p:cNvSpPr>
          <p:nvPr>
            <p:ph type="subTitle" idx="19"/>
          </p:nvPr>
        </p:nvSpPr>
        <p:spPr>
          <a:xfrm>
            <a:off x="5298091" y="1897772"/>
            <a:ext cx="3150512" cy="45447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/>
            <a:r>
              <a:rPr lang="en-IN" dirty="0"/>
              <a:t>Novelty &amp; Proposed Work</a:t>
            </a:r>
          </a:p>
        </p:txBody>
      </p:sp>
      <p:sp>
        <p:nvSpPr>
          <p:cNvPr id="2" name="Google Shape;221;p37">
            <a:extLst>
              <a:ext uri="{FF2B5EF4-FFF2-40B4-BE49-F238E27FC236}">
                <a16:creationId xmlns:a16="http://schemas.microsoft.com/office/drawing/2014/main" id="{78B66172-D9D8-A271-B70D-1F9C938FC371}"/>
              </a:ext>
            </a:extLst>
          </p:cNvPr>
          <p:cNvSpPr txBox="1">
            <a:spLocks/>
          </p:cNvSpPr>
          <p:nvPr/>
        </p:nvSpPr>
        <p:spPr>
          <a:xfrm>
            <a:off x="4759587" y="2421956"/>
            <a:ext cx="650693" cy="454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1800" b="0" i="0" u="none" strike="noStrike" cap="none">
                <a:solidFill>
                  <a:schemeClr val="lt2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r>
              <a:rPr lang="en" dirty="0"/>
              <a:t>09</a:t>
            </a:r>
          </a:p>
        </p:txBody>
      </p:sp>
      <p:sp>
        <p:nvSpPr>
          <p:cNvPr id="3" name="Google Shape;222;p37">
            <a:extLst>
              <a:ext uri="{FF2B5EF4-FFF2-40B4-BE49-F238E27FC236}">
                <a16:creationId xmlns:a16="http://schemas.microsoft.com/office/drawing/2014/main" id="{0F7806AD-79A1-F7E8-BF96-D39169768596}"/>
              </a:ext>
            </a:extLst>
          </p:cNvPr>
          <p:cNvSpPr txBox="1">
            <a:spLocks/>
          </p:cNvSpPr>
          <p:nvPr/>
        </p:nvSpPr>
        <p:spPr>
          <a:xfrm>
            <a:off x="5298091" y="2421954"/>
            <a:ext cx="3150512" cy="454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indent="0"/>
            <a:r>
              <a:rPr lang="en" dirty="0"/>
              <a:t>Implementation</a:t>
            </a:r>
            <a:endParaRPr lang="en-IN" dirty="0"/>
          </a:p>
        </p:txBody>
      </p:sp>
      <p:sp>
        <p:nvSpPr>
          <p:cNvPr id="4" name="Google Shape;221;p37">
            <a:extLst>
              <a:ext uri="{FF2B5EF4-FFF2-40B4-BE49-F238E27FC236}">
                <a16:creationId xmlns:a16="http://schemas.microsoft.com/office/drawing/2014/main" id="{68885D59-DDCC-C6FE-ED53-4998B0AD476A}"/>
              </a:ext>
            </a:extLst>
          </p:cNvPr>
          <p:cNvSpPr txBox="1">
            <a:spLocks/>
          </p:cNvSpPr>
          <p:nvPr/>
        </p:nvSpPr>
        <p:spPr>
          <a:xfrm>
            <a:off x="4759587" y="2939861"/>
            <a:ext cx="650693" cy="454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1800" b="0" i="0" u="none" strike="noStrike" cap="none">
                <a:solidFill>
                  <a:schemeClr val="lt2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r>
              <a:rPr lang="en" dirty="0"/>
              <a:t>10</a:t>
            </a:r>
          </a:p>
        </p:txBody>
      </p:sp>
      <p:sp>
        <p:nvSpPr>
          <p:cNvPr id="5" name="Google Shape;222;p37">
            <a:extLst>
              <a:ext uri="{FF2B5EF4-FFF2-40B4-BE49-F238E27FC236}">
                <a16:creationId xmlns:a16="http://schemas.microsoft.com/office/drawing/2014/main" id="{F73FC2D0-263F-CA28-F5D2-D314958EDA56}"/>
              </a:ext>
            </a:extLst>
          </p:cNvPr>
          <p:cNvSpPr txBox="1">
            <a:spLocks/>
          </p:cNvSpPr>
          <p:nvPr/>
        </p:nvSpPr>
        <p:spPr>
          <a:xfrm>
            <a:off x="5298091" y="2956651"/>
            <a:ext cx="3150512" cy="454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indent="0"/>
            <a:r>
              <a:rPr lang="en-IN" dirty="0"/>
              <a:t>Future Work</a:t>
            </a:r>
          </a:p>
          <a:p>
            <a:pPr marL="0" indent="0"/>
            <a:endParaRPr lang="en-IN" dirty="0"/>
          </a:p>
        </p:txBody>
      </p:sp>
      <p:sp>
        <p:nvSpPr>
          <p:cNvPr id="6" name="Google Shape;221;p37">
            <a:extLst>
              <a:ext uri="{FF2B5EF4-FFF2-40B4-BE49-F238E27FC236}">
                <a16:creationId xmlns:a16="http://schemas.microsoft.com/office/drawing/2014/main" id="{3D60D9D5-1D3E-3C78-A221-BD9EC4A314D3}"/>
              </a:ext>
            </a:extLst>
          </p:cNvPr>
          <p:cNvSpPr txBox="1">
            <a:spLocks/>
          </p:cNvSpPr>
          <p:nvPr/>
        </p:nvSpPr>
        <p:spPr>
          <a:xfrm>
            <a:off x="4759587" y="3474560"/>
            <a:ext cx="650693" cy="454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1800" b="0" i="0" u="none" strike="noStrike" cap="none">
                <a:solidFill>
                  <a:schemeClr val="lt2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r>
              <a:rPr lang="en" dirty="0"/>
              <a:t>11</a:t>
            </a:r>
          </a:p>
        </p:txBody>
      </p:sp>
      <p:sp>
        <p:nvSpPr>
          <p:cNvPr id="7" name="Google Shape;222;p37">
            <a:extLst>
              <a:ext uri="{FF2B5EF4-FFF2-40B4-BE49-F238E27FC236}">
                <a16:creationId xmlns:a16="http://schemas.microsoft.com/office/drawing/2014/main" id="{755851FA-1337-C3EC-192C-D1B7B4E85D12}"/>
              </a:ext>
            </a:extLst>
          </p:cNvPr>
          <p:cNvSpPr txBox="1">
            <a:spLocks/>
          </p:cNvSpPr>
          <p:nvPr/>
        </p:nvSpPr>
        <p:spPr>
          <a:xfrm>
            <a:off x="5298091" y="3474558"/>
            <a:ext cx="3150512" cy="454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indent="0"/>
            <a:r>
              <a:rPr lang="en-IN" dirty="0"/>
              <a:t>Conclusion</a:t>
            </a:r>
          </a:p>
        </p:txBody>
      </p:sp>
      <p:sp>
        <p:nvSpPr>
          <p:cNvPr id="8" name="Google Shape;221;p37">
            <a:extLst>
              <a:ext uri="{FF2B5EF4-FFF2-40B4-BE49-F238E27FC236}">
                <a16:creationId xmlns:a16="http://schemas.microsoft.com/office/drawing/2014/main" id="{4635A073-9D27-D53A-FB31-B2BFF6B432A3}"/>
              </a:ext>
            </a:extLst>
          </p:cNvPr>
          <p:cNvSpPr txBox="1">
            <a:spLocks/>
          </p:cNvSpPr>
          <p:nvPr/>
        </p:nvSpPr>
        <p:spPr>
          <a:xfrm>
            <a:off x="4759587" y="4027636"/>
            <a:ext cx="650693" cy="454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1800" b="0" i="0" u="none" strike="noStrike" cap="none">
                <a:solidFill>
                  <a:schemeClr val="lt2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exandria Medium"/>
              <a:buNone/>
              <a:defRPr sz="30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r>
              <a:rPr lang="en" dirty="0"/>
              <a:t>12</a:t>
            </a:r>
          </a:p>
        </p:txBody>
      </p:sp>
      <p:sp>
        <p:nvSpPr>
          <p:cNvPr id="9" name="Google Shape;222;p37">
            <a:extLst>
              <a:ext uri="{FF2B5EF4-FFF2-40B4-BE49-F238E27FC236}">
                <a16:creationId xmlns:a16="http://schemas.microsoft.com/office/drawing/2014/main" id="{5D6C01FA-9B08-13B5-054B-6E2C785CC7AF}"/>
              </a:ext>
            </a:extLst>
          </p:cNvPr>
          <p:cNvSpPr txBox="1">
            <a:spLocks/>
          </p:cNvSpPr>
          <p:nvPr/>
        </p:nvSpPr>
        <p:spPr>
          <a:xfrm>
            <a:off x="5298091" y="4027634"/>
            <a:ext cx="3150512" cy="4544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indent="0"/>
            <a:r>
              <a:rPr lang="en-IN" dirty="0"/>
              <a:t>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/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Introduction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B92E26A1-DD82-E4C2-E11A-4F478357E3F1}"/>
              </a:ext>
            </a:extLst>
          </p:cNvPr>
          <p:cNvSpPr txBox="1">
            <a:spLocks/>
          </p:cNvSpPr>
          <p:nvPr/>
        </p:nvSpPr>
        <p:spPr>
          <a:xfrm>
            <a:off x="715099" y="1262728"/>
            <a:ext cx="3856901" cy="33457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GUI automation is a way to automate human interaction such as click, type, scroll, input etc. with user given instruction.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GUI automation accelerates tasks in </a:t>
            </a:r>
            <a:r>
              <a:rPr lang="en-US" sz="1200" b="1" dirty="0">
                <a:latin typeface="Albert Sans" panose="020B0604020202020204" charset="0"/>
              </a:rPr>
              <a:t>testing</a:t>
            </a:r>
            <a:r>
              <a:rPr lang="en-US" sz="1200" dirty="0">
                <a:latin typeface="Albert Sans" panose="020B0604020202020204" charset="0"/>
              </a:rPr>
              <a:t>, </a:t>
            </a:r>
            <a:r>
              <a:rPr lang="en-US" sz="1200" b="1" dirty="0">
                <a:latin typeface="Albert Sans" panose="020B0604020202020204" charset="0"/>
              </a:rPr>
              <a:t>verification</a:t>
            </a:r>
            <a:r>
              <a:rPr lang="en-US" sz="1200" dirty="0">
                <a:latin typeface="Albert Sans" panose="020B0604020202020204" charset="0"/>
              </a:rPr>
              <a:t>, </a:t>
            </a:r>
            <a:r>
              <a:rPr lang="en-US" sz="1200" b="1" dirty="0">
                <a:latin typeface="Albert Sans" panose="020B0604020202020204" charset="0"/>
              </a:rPr>
              <a:t>bug replay</a:t>
            </a:r>
            <a:r>
              <a:rPr lang="en-US" sz="1200" dirty="0">
                <a:latin typeface="Albert Sans" panose="020B0604020202020204" charset="0"/>
              </a:rPr>
              <a:t>, and </a:t>
            </a:r>
            <a:r>
              <a:rPr lang="en-US" sz="1200" b="1" dirty="0">
                <a:latin typeface="Albert Sans" panose="020B0604020202020204" charset="0"/>
              </a:rPr>
              <a:t>text-input generation</a:t>
            </a:r>
            <a:r>
              <a:rPr lang="en-US" sz="1200" dirty="0">
                <a:latin typeface="Albert Sans" panose="020B0604020202020204" charset="0"/>
              </a:rPr>
              <a:t>, reducing human effort and improving reliability.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Natural language interfaces allow users to describe tasks (“Order grocery”, “Change Settings”), enabling automatic execution by intelligent agents.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Automation is essential because manual GUI operations are slow, repetitive, error-prone, and difficult to scale.</a:t>
            </a:r>
          </a:p>
        </p:txBody>
      </p:sp>
      <p:pic>
        <p:nvPicPr>
          <p:cNvPr id="6" name="Picture 5" descr="A computer screen showing a robot&#10;&#10;AI-generated content may be incorrect.">
            <a:extLst>
              <a:ext uri="{FF2B5EF4-FFF2-40B4-BE49-F238E27FC236}">
                <a16:creationId xmlns:a16="http://schemas.microsoft.com/office/drawing/2014/main" id="{BC625909-F849-C9BA-0874-F2606497277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000" t="17194" r="12307" b="5242"/>
          <a:stretch>
            <a:fillRect/>
          </a:stretch>
        </p:blipFill>
        <p:spPr>
          <a:xfrm>
            <a:off x="4658202" y="1690786"/>
            <a:ext cx="4454220" cy="248965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68"/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967983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Problem Statement</a:t>
            </a:r>
            <a:endParaRPr dirty="0"/>
          </a:p>
        </p:txBody>
      </p:sp>
      <p:sp>
        <p:nvSpPr>
          <p:cNvPr id="6" name="Google Shape;293;p45">
            <a:extLst>
              <a:ext uri="{FF2B5EF4-FFF2-40B4-BE49-F238E27FC236}">
                <a16:creationId xmlns:a16="http://schemas.microsoft.com/office/drawing/2014/main" id="{217492C5-FB32-3290-F0FB-849B89CFC1C3}"/>
              </a:ext>
            </a:extLst>
          </p:cNvPr>
          <p:cNvSpPr txBox="1">
            <a:spLocks/>
          </p:cNvSpPr>
          <p:nvPr/>
        </p:nvSpPr>
        <p:spPr>
          <a:xfrm>
            <a:off x="715099" y="1083700"/>
            <a:ext cx="7956697" cy="31234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A0A0A"/>
                </a:solidFill>
                <a:effectLst/>
                <a:latin typeface="Albert Sans" panose="020B0604020202020204" charset="0"/>
              </a:rPr>
              <a:t>Although recent research has been done on the development of the LLM based web agent, web agents have low robustness, poor privacy, and improper scaling.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A0A0A"/>
                </a:solidFill>
                <a:effectLst/>
                <a:latin typeface="Albert Sans" panose="020B0604020202020204" charset="0"/>
              </a:rPr>
              <a:t>The majority of these approaches are based on complete system summarization of all pages in HTML and code-generation, which is computationally expensive and</a:t>
            </a:r>
            <a:r>
              <a:rPr lang="en-US" sz="1400" dirty="0">
                <a:solidFill>
                  <a:srgbClr val="0A0A0A"/>
                </a:solidFill>
                <a:latin typeface="Albert Sans" panose="020B0604020202020204" charset="0"/>
              </a:rPr>
              <a:t> does not provide cost effective solution</a:t>
            </a:r>
            <a:r>
              <a:rPr lang="en-US" sz="1400" b="0" i="0" dirty="0">
                <a:solidFill>
                  <a:srgbClr val="0A0A0A"/>
                </a:solidFill>
                <a:effectLst/>
                <a:latin typeface="Albert Sans" panose="020B0604020202020204" charset="0"/>
              </a:rPr>
              <a:t>. 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A0A0A"/>
                </a:solidFill>
                <a:latin typeface="Albert Sans" panose="020B0604020202020204" charset="0"/>
              </a:rPr>
              <a:t>As result these agents often fail to generalize across diverse domain or diverse task.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sz="1400" b="0" i="0" dirty="0">
                <a:solidFill>
                  <a:srgbClr val="0A0A0A"/>
                </a:solidFill>
                <a:effectLst/>
                <a:latin typeface="Albert Sans" panose="020B0604020202020204" charset="0"/>
              </a:rPr>
              <a:t>Which sho</a:t>
            </a:r>
            <a:r>
              <a:rPr lang="en-US" sz="1400" dirty="0">
                <a:solidFill>
                  <a:srgbClr val="0A0A0A"/>
                </a:solidFill>
                <a:latin typeface="Albert Sans" panose="020B0604020202020204" charset="0"/>
              </a:rPr>
              <a:t>wcase the clear need for more efficient, reliable &amp; scalable, robust and privacy aware web automation methods which are easy to access.</a:t>
            </a:r>
            <a:endParaRPr lang="en-US" sz="1400" b="0" i="0" dirty="0">
              <a:solidFill>
                <a:srgbClr val="0A0A0A"/>
              </a:solidFill>
              <a:effectLst/>
              <a:latin typeface="Albert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39391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Literature Review</a:t>
            </a:r>
            <a:endParaRPr dirty="0"/>
          </a:p>
        </p:txBody>
      </p:sp>
      <p:graphicFrame>
        <p:nvGraphicFramePr>
          <p:cNvPr id="198" name="Google Shape;198;p36"/>
          <p:cNvGraphicFramePr/>
          <p:nvPr>
            <p:extLst>
              <p:ext uri="{D42A27DB-BD31-4B8C-83A1-F6EECF244321}">
                <p14:modId xmlns:p14="http://schemas.microsoft.com/office/powerpoint/2010/main" val="3639312902"/>
              </p:ext>
            </p:extLst>
          </p:nvPr>
        </p:nvGraphicFramePr>
        <p:xfrm>
          <a:off x="715000" y="1083701"/>
          <a:ext cx="7713899" cy="3406522"/>
        </p:xfrm>
        <a:graphic>
          <a:graphicData uri="http://schemas.openxmlformats.org/drawingml/2006/table">
            <a:tbl>
              <a:tblPr firstRow="1" bandRow="1">
                <a:noFill/>
                <a:tableStyleId>{B3BDA68B-AE0E-4B94-9F14-75E3F68F22BD}</a:tableStyleId>
              </a:tblPr>
              <a:tblGrid>
                <a:gridCol w="648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3255">
                  <a:extLst>
                    <a:ext uri="{9D8B030D-6E8A-4147-A177-3AD203B41FA5}">
                      <a16:colId xmlns:a16="http://schemas.microsoft.com/office/drawing/2014/main" val="493164284"/>
                    </a:ext>
                  </a:extLst>
                </a:gridCol>
                <a:gridCol w="2849030">
                  <a:extLst>
                    <a:ext uri="{9D8B030D-6E8A-4147-A177-3AD203B41FA5}">
                      <a16:colId xmlns:a16="http://schemas.microsoft.com/office/drawing/2014/main" val="1205680258"/>
                    </a:ext>
                  </a:extLst>
                </a:gridCol>
                <a:gridCol w="23328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826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b="1" u="none" dirty="0">
                          <a:solidFill>
                            <a:schemeClr val="hlink"/>
                          </a:solidFill>
                          <a:latin typeface="Alexandria Medium" panose="020B0604020202020204" charset="-78"/>
                          <a:ea typeface="Albert Sans"/>
                          <a:cs typeface="Alexandria Medium" panose="020B0604020202020204" charset="-78"/>
                          <a:sym typeface="Albert Sans"/>
                        </a:rPr>
                        <a:t>Year</a:t>
                      </a:r>
                      <a:endParaRPr sz="1400" b="1" u="none" dirty="0">
                        <a:solidFill>
                          <a:schemeClr val="dk1"/>
                        </a:solidFill>
                        <a:latin typeface="Alexandria Medium" panose="020B0604020202020204" charset="-78"/>
                        <a:ea typeface="Albert Sans"/>
                        <a:cs typeface="Alexandria Medium" panose="020B0604020202020204" charset="-78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dirty="0">
                          <a:solidFill>
                            <a:schemeClr val="dk1"/>
                          </a:solidFill>
                          <a:latin typeface="Alexandria Medium" panose="020B0604020202020204" charset="-78"/>
                          <a:ea typeface="Albert Sans"/>
                          <a:cs typeface="Alexandria Medium" panose="020B0604020202020204" charset="-78"/>
                          <a:sym typeface="Albert Sans"/>
                        </a:rPr>
                        <a:t>Title</a:t>
                      </a:r>
                      <a:endParaRPr lang="en-IN" sz="1400" b="1" u="none" dirty="0">
                        <a:solidFill>
                          <a:schemeClr val="dk1"/>
                        </a:solidFill>
                        <a:latin typeface="Alexandria Medium" panose="020B0604020202020204" charset="-78"/>
                        <a:ea typeface="Albert Sans"/>
                        <a:cs typeface="Alexandria Medium" panose="020B0604020202020204" charset="-78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dirty="0">
                          <a:solidFill>
                            <a:schemeClr val="dk1"/>
                          </a:solidFill>
                          <a:latin typeface="Alexandria Medium" panose="020B0604020202020204" charset="-78"/>
                          <a:ea typeface="Albert Sans"/>
                          <a:cs typeface="Alexandria Medium" panose="020B0604020202020204" charset="-78"/>
                          <a:sym typeface="Albert Sans"/>
                        </a:rPr>
                        <a:t>Key Contribution</a:t>
                      </a:r>
                      <a:endParaRPr lang="en-IN" sz="1400" b="1" u="none" dirty="0">
                        <a:solidFill>
                          <a:schemeClr val="dk1"/>
                        </a:solidFill>
                        <a:latin typeface="Alexandria Medium" panose="020B0604020202020204" charset="-78"/>
                        <a:ea typeface="Albert Sans"/>
                        <a:cs typeface="Alexandria Medium" panose="020B0604020202020204" charset="-78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dirty="0">
                          <a:solidFill>
                            <a:schemeClr val="dk1"/>
                          </a:solidFill>
                          <a:latin typeface="Alexandria Medium" panose="020B0604020202020204" charset="-78"/>
                          <a:ea typeface="Albert Sans"/>
                          <a:cs typeface="Alexandria Medium" panose="020B0604020202020204" charset="-78"/>
                          <a:sym typeface="Albert Sans"/>
                        </a:rPr>
                        <a:t>Limitations</a:t>
                      </a:r>
                      <a:endParaRPr lang="en-IN" sz="1400" b="1" u="none" dirty="0">
                        <a:solidFill>
                          <a:schemeClr val="dk1"/>
                        </a:solidFill>
                        <a:latin typeface="Alexandria Medium" panose="020B0604020202020204" charset="-78"/>
                        <a:ea typeface="Albert Sans"/>
                        <a:cs typeface="Alexandria Medium" panose="020B0604020202020204" charset="-78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63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50" b="1" u="sng" dirty="0">
                          <a:solidFill>
                            <a:schemeClr val="dk1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May, 2025 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dirty="0">
                          <a:latin typeface="Albert Sans" panose="020B0604020202020204" charset="0"/>
                        </a:rPr>
                        <a:t>[ 1 ]</a:t>
                      </a:r>
                      <a:endParaRPr sz="1050" b="1" u="sng" dirty="0">
                        <a:solidFill>
                          <a:schemeClr val="dk1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Large Language Model-Brained GUI Agents: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A Survey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Systematic , detailed survey of LLM-brained GUI agents: historical evolution, core components, datasets, evaluation metrics, applications. acts as a “cookbook” for building GUI agents.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100" b="0" dirty="0">
                          <a:latin typeface="Albert Sans" panose="020B0604020202020204" charset="0"/>
                        </a:rPr>
                        <a:t>Identifies open research gaps : robust grounding, benchmarks, long-horizon planning.</a:t>
                      </a:r>
                      <a:endParaRPr sz="1100" b="0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594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50" b="1" u="sng" dirty="0">
                          <a:solidFill>
                            <a:schemeClr val="hlink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Jun, 2025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dirty="0">
                          <a:latin typeface="Albert Sans" panose="020B0604020202020204" charset="0"/>
                        </a:rPr>
                        <a:t>[ 2 ]</a:t>
                      </a:r>
                      <a:endParaRPr sz="1050" b="1" u="sng" dirty="0">
                        <a:solidFill>
                          <a:schemeClr val="dk1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A Survey on (M)LLM-Based GUI Agents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Breaks down modern GUI agents into four components (perception, exploration, planning, interaction) and analyzes technical/evaluation limitations.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100" b="0" dirty="0">
                          <a:latin typeface="Albert Sans" panose="020B0604020202020204" charset="0"/>
                        </a:rPr>
                        <a:t>Notes methodological limitations in current benchmarks and evaluation practices also highlight for standardization and improved element localization.</a:t>
                      </a:r>
                      <a:endParaRPr sz="1100" b="0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594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50" b="1" u="sng" dirty="0">
                          <a:solidFill>
                            <a:schemeClr val="hlink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Aug, 2025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dirty="0">
                          <a:latin typeface="Albert Sans" panose="020B0604020202020204" charset="0"/>
                        </a:rPr>
                        <a:t>[ 3 ]</a:t>
                      </a:r>
                      <a:endParaRPr sz="1050" b="1" u="sng" dirty="0">
                        <a:solidFill>
                          <a:schemeClr val="dk1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A Survey of </a:t>
                      </a:r>
                      <a:r>
                        <a:rPr lang="en-US" sz="1100" dirty="0" err="1">
                          <a:latin typeface="Albert Sans" panose="020B0604020202020204" charset="0"/>
                        </a:rPr>
                        <a:t>WebAgents</a:t>
                      </a:r>
                      <a:r>
                        <a:rPr lang="en-US" sz="1100" dirty="0">
                          <a:latin typeface="Albert Sans" panose="020B0604020202020204" charset="0"/>
                        </a:rPr>
                        <a:t>: Towards Next-Generation AI Agents for Web Automation with Large Foundation Models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Reviews </a:t>
                      </a:r>
                      <a:r>
                        <a:rPr lang="en-US" sz="1100" dirty="0" err="1">
                          <a:latin typeface="Albert Sans" panose="020B0604020202020204" charset="0"/>
                        </a:rPr>
                        <a:t>WebAgent</a:t>
                      </a:r>
                      <a:r>
                        <a:rPr lang="en-US" sz="1100" dirty="0">
                          <a:latin typeface="Albert Sans" panose="020B0604020202020204" charset="0"/>
                        </a:rPr>
                        <a:t> architectures, training strategies, and trustworthiness. frames web automation as a productivity/UX problem enabled by LFMs.</a:t>
                      </a:r>
                      <a:endParaRPr lang="en-US"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100" b="0" dirty="0">
                          <a:latin typeface="Albert Sans" panose="020B0604020202020204" charset="0"/>
                        </a:rPr>
                        <a:t>Highlights trustworthiness and robustness issues, and the need for better training/regulatory practices for </a:t>
                      </a:r>
                      <a:r>
                        <a:rPr lang="en-US" sz="1100" b="0" dirty="0" err="1">
                          <a:latin typeface="Albert Sans" panose="020B0604020202020204" charset="0"/>
                        </a:rPr>
                        <a:t>WebAgents</a:t>
                      </a:r>
                      <a:r>
                        <a:rPr lang="en-US" sz="1100" b="0" dirty="0">
                          <a:latin typeface="Albert Sans" panose="020B0604020202020204" charset="0"/>
                        </a:rPr>
                        <a:t>.</a:t>
                      </a:r>
                      <a:endParaRPr sz="1100" b="0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189849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>
          <a:extLst>
            <a:ext uri="{FF2B5EF4-FFF2-40B4-BE49-F238E27FC236}">
              <a16:creationId xmlns:a16="http://schemas.microsoft.com/office/drawing/2014/main" id="{B36674B6-5FC4-2C42-A5F2-899C68F71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6">
            <a:extLst>
              <a:ext uri="{FF2B5EF4-FFF2-40B4-BE49-F238E27FC236}">
                <a16:creationId xmlns:a16="http://schemas.microsoft.com/office/drawing/2014/main" id="{FEF5DFEE-DC09-DD68-C8EC-ECC68E22723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Literature Review</a:t>
            </a:r>
            <a:endParaRPr dirty="0"/>
          </a:p>
        </p:txBody>
      </p:sp>
      <p:graphicFrame>
        <p:nvGraphicFramePr>
          <p:cNvPr id="198" name="Google Shape;198;p36">
            <a:extLst>
              <a:ext uri="{FF2B5EF4-FFF2-40B4-BE49-F238E27FC236}">
                <a16:creationId xmlns:a16="http://schemas.microsoft.com/office/drawing/2014/main" id="{5557FDC8-A7AC-F163-97A9-AE052037107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69699383"/>
              </p:ext>
            </p:extLst>
          </p:nvPr>
        </p:nvGraphicFramePr>
        <p:xfrm>
          <a:off x="715000" y="1083701"/>
          <a:ext cx="7713899" cy="3610751"/>
        </p:xfrm>
        <a:graphic>
          <a:graphicData uri="http://schemas.openxmlformats.org/drawingml/2006/table">
            <a:tbl>
              <a:tblPr firstRow="1" bandRow="1">
                <a:noFill/>
                <a:tableStyleId>{B3BDA68B-AE0E-4B94-9F14-75E3F68F22BD}</a:tableStyleId>
              </a:tblPr>
              <a:tblGrid>
                <a:gridCol w="648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3255">
                  <a:extLst>
                    <a:ext uri="{9D8B030D-6E8A-4147-A177-3AD203B41FA5}">
                      <a16:colId xmlns:a16="http://schemas.microsoft.com/office/drawing/2014/main" val="493164284"/>
                    </a:ext>
                  </a:extLst>
                </a:gridCol>
                <a:gridCol w="2849030">
                  <a:extLst>
                    <a:ext uri="{9D8B030D-6E8A-4147-A177-3AD203B41FA5}">
                      <a16:colId xmlns:a16="http://schemas.microsoft.com/office/drawing/2014/main" val="1205680258"/>
                    </a:ext>
                  </a:extLst>
                </a:gridCol>
                <a:gridCol w="23328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094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b="1" u="none" dirty="0">
                          <a:solidFill>
                            <a:schemeClr val="hlink"/>
                          </a:solidFill>
                          <a:latin typeface="Alexandria Medium" panose="020B0604020202020204" charset="-78"/>
                          <a:ea typeface="Albert Sans"/>
                          <a:cs typeface="Alexandria Medium" panose="020B0604020202020204" charset="-78"/>
                          <a:sym typeface="Albert Sans"/>
                        </a:rPr>
                        <a:t>Year</a:t>
                      </a:r>
                      <a:endParaRPr sz="1400" b="1" u="none" dirty="0">
                        <a:solidFill>
                          <a:schemeClr val="dk1"/>
                        </a:solidFill>
                        <a:latin typeface="Alexandria Medium" panose="020B0604020202020204" charset="-78"/>
                        <a:ea typeface="Albert Sans"/>
                        <a:cs typeface="Alexandria Medium" panose="020B0604020202020204" charset="-78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dirty="0">
                          <a:solidFill>
                            <a:schemeClr val="dk1"/>
                          </a:solidFill>
                          <a:latin typeface="Alexandria Medium" panose="020B0604020202020204" charset="-78"/>
                          <a:ea typeface="Albert Sans"/>
                          <a:cs typeface="Alexandria Medium" panose="020B0604020202020204" charset="-78"/>
                          <a:sym typeface="Albert Sans"/>
                        </a:rPr>
                        <a:t>Title</a:t>
                      </a:r>
                      <a:endParaRPr lang="en-IN" sz="1400" b="1" u="none" dirty="0">
                        <a:solidFill>
                          <a:schemeClr val="dk1"/>
                        </a:solidFill>
                        <a:latin typeface="Alexandria Medium" panose="020B0604020202020204" charset="-78"/>
                        <a:ea typeface="Albert Sans"/>
                        <a:cs typeface="Alexandria Medium" panose="020B0604020202020204" charset="-78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dirty="0">
                          <a:solidFill>
                            <a:schemeClr val="dk1"/>
                          </a:solidFill>
                          <a:latin typeface="Alexandria Medium" panose="020B0604020202020204" charset="-78"/>
                          <a:ea typeface="Albert Sans"/>
                          <a:cs typeface="Alexandria Medium" panose="020B0604020202020204" charset="-78"/>
                          <a:sym typeface="Albert Sans"/>
                        </a:rPr>
                        <a:t>Key Contribution</a:t>
                      </a:r>
                      <a:endParaRPr lang="en-IN" sz="1400" b="1" u="none" dirty="0">
                        <a:solidFill>
                          <a:schemeClr val="dk1"/>
                        </a:solidFill>
                        <a:latin typeface="Alexandria Medium" panose="020B0604020202020204" charset="-78"/>
                        <a:ea typeface="Albert Sans"/>
                        <a:cs typeface="Alexandria Medium" panose="020B0604020202020204" charset="-78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dirty="0">
                          <a:solidFill>
                            <a:schemeClr val="dk1"/>
                          </a:solidFill>
                          <a:latin typeface="Alexandria Medium" panose="020B0604020202020204" charset="-78"/>
                          <a:ea typeface="Albert Sans"/>
                          <a:cs typeface="Alexandria Medium" panose="020B0604020202020204" charset="-78"/>
                          <a:sym typeface="Albert Sans"/>
                        </a:rPr>
                        <a:t>Limitations</a:t>
                      </a:r>
                      <a:endParaRPr lang="en-IN" sz="1400" b="1" u="none" dirty="0">
                        <a:solidFill>
                          <a:schemeClr val="dk1"/>
                        </a:solidFill>
                        <a:latin typeface="Alexandria Medium" panose="020B0604020202020204" charset="-78"/>
                        <a:ea typeface="Albert Sans"/>
                        <a:cs typeface="Alexandria Medium" panose="020B0604020202020204" charset="-78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3682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50" b="1" u="sng" dirty="0">
                          <a:solidFill>
                            <a:schemeClr val="dk1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Feb, 2025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dirty="0">
                          <a:latin typeface="Albert Sans" panose="020B0604020202020204" charset="0"/>
                        </a:rPr>
                        <a:t>[ 4 ]</a:t>
                      </a:r>
                      <a:endParaRPr sz="1050" b="1" u="sng" dirty="0">
                        <a:solidFill>
                          <a:schemeClr val="dk1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GUI Agents with Foundation Models: A Comprehensive Survey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Consolidates recent work using (M)LLMs for GUI tasks. offers taxonomy, datasets review, and unified framework.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100" b="0" dirty="0">
                          <a:latin typeface="Albert Sans" panose="020B0604020202020204" charset="0"/>
                        </a:rPr>
                        <a:t>Discusses practical gaps like unavailable checkpoints, inconsistent experimental settings, and reproducibility challenges. </a:t>
                      </a:r>
                      <a:endParaRPr sz="1100" b="0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4950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50" b="1" u="sng" dirty="0">
                          <a:solidFill>
                            <a:schemeClr val="hlink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Mar, 2024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dirty="0">
                          <a:latin typeface="Albert Sans" panose="020B0604020202020204" charset="0"/>
                        </a:rPr>
                        <a:t>[ 5 ]</a:t>
                      </a:r>
                      <a:endParaRPr sz="1050" b="1" u="sng" dirty="0">
                        <a:solidFill>
                          <a:schemeClr val="dk1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GPT-4V(ision) is a Generalist Web Agent, if Grounded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Shows GPT-4V (multimodal LMM) can act as a generalist web agent when grounded with both screenshot + HTML; introduces SeeAct, evaluates on MIND2WEB (51.1% success with manual grounding).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100" b="0" dirty="0">
                          <a:latin typeface="Albert Sans" panose="020B0604020202020204" charset="0"/>
                        </a:rPr>
                        <a:t>grounding strategies are imperfect and there’s a significant gap to oracle grounding. </a:t>
                      </a:r>
                      <a:r>
                        <a:rPr lang="en-US" sz="1100" b="0" dirty="0" err="1">
                          <a:latin typeface="Albert Sans" panose="020B0604020202020204" charset="0"/>
                        </a:rPr>
                        <a:t>SeeAct’s</a:t>
                      </a:r>
                      <a:r>
                        <a:rPr lang="en-US" sz="1100" b="0" dirty="0">
                          <a:latin typeface="Albert Sans" panose="020B0604020202020204" charset="0"/>
                        </a:rPr>
                        <a:t> best gains rely on expensive LMMs and manual grounding infrastructure.</a:t>
                      </a:r>
                      <a:endParaRPr sz="1100" b="0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950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50" b="1" u="sng" dirty="0">
                          <a:solidFill>
                            <a:schemeClr val="hlink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Nov, 2024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dirty="0">
                          <a:latin typeface="Albert Sans" panose="020B0604020202020204" charset="0"/>
                        </a:rPr>
                        <a:t>[ 6 ]</a:t>
                      </a:r>
                      <a:endParaRPr sz="1050" b="1" u="sng" dirty="0">
                        <a:solidFill>
                          <a:schemeClr val="dk1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latin typeface="Albert Sans" panose="020B0604020202020204" charset="0"/>
                        </a:rPr>
                        <a:t>AdaptAgent</a:t>
                      </a:r>
                      <a:r>
                        <a:rPr lang="en-US" sz="1100" dirty="0">
                          <a:latin typeface="Albert Sans" panose="020B0604020202020204" charset="0"/>
                        </a:rPr>
                        <a:t>: Adapting Multimodal Web Agents with Few-Shot Learning from Human Demonstrations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Proposes few-shot adaptation using human demonstrations to improve web agents’ generalization on unseen sites. shows 3.36%–7.21% absolute gains (relative 21%–66%) on benchmarks.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100" b="0" dirty="0">
                          <a:latin typeface="Albert Sans" panose="020B0604020202020204" charset="0"/>
                        </a:rPr>
                        <a:t>Improvement depends on demonstration selection and model type. few-shot gains vary and do not fully close the generalization gap for proprietary or very different sites. </a:t>
                      </a:r>
                      <a:endParaRPr sz="1100" b="0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1898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27830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>
          <a:extLst>
            <a:ext uri="{FF2B5EF4-FFF2-40B4-BE49-F238E27FC236}">
              <a16:creationId xmlns:a16="http://schemas.microsoft.com/office/drawing/2014/main" id="{3B75046E-8939-7DA3-AC64-E1688733E1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6">
            <a:extLst>
              <a:ext uri="{FF2B5EF4-FFF2-40B4-BE49-F238E27FC236}">
                <a16:creationId xmlns:a16="http://schemas.microsoft.com/office/drawing/2014/main" id="{70649957-B256-5544-7104-17968A628D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Literature Review</a:t>
            </a:r>
            <a:endParaRPr dirty="0"/>
          </a:p>
        </p:txBody>
      </p:sp>
      <p:graphicFrame>
        <p:nvGraphicFramePr>
          <p:cNvPr id="198" name="Google Shape;198;p36">
            <a:extLst>
              <a:ext uri="{FF2B5EF4-FFF2-40B4-BE49-F238E27FC236}">
                <a16:creationId xmlns:a16="http://schemas.microsoft.com/office/drawing/2014/main" id="{581BD6A2-CD4C-1F2E-8D7E-55186B20C4F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94243435"/>
              </p:ext>
            </p:extLst>
          </p:nvPr>
        </p:nvGraphicFramePr>
        <p:xfrm>
          <a:off x="715000" y="1083701"/>
          <a:ext cx="7713899" cy="3455995"/>
        </p:xfrm>
        <a:graphic>
          <a:graphicData uri="http://schemas.openxmlformats.org/drawingml/2006/table">
            <a:tbl>
              <a:tblPr firstRow="1" bandRow="1">
                <a:noFill/>
                <a:tableStyleId>{B3BDA68B-AE0E-4B94-9F14-75E3F68F22BD}</a:tableStyleId>
              </a:tblPr>
              <a:tblGrid>
                <a:gridCol w="6487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3255">
                  <a:extLst>
                    <a:ext uri="{9D8B030D-6E8A-4147-A177-3AD203B41FA5}">
                      <a16:colId xmlns:a16="http://schemas.microsoft.com/office/drawing/2014/main" val="493164284"/>
                    </a:ext>
                  </a:extLst>
                </a:gridCol>
                <a:gridCol w="2849030">
                  <a:extLst>
                    <a:ext uri="{9D8B030D-6E8A-4147-A177-3AD203B41FA5}">
                      <a16:colId xmlns:a16="http://schemas.microsoft.com/office/drawing/2014/main" val="1205680258"/>
                    </a:ext>
                  </a:extLst>
                </a:gridCol>
                <a:gridCol w="23328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8263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400" b="1" u="none" dirty="0">
                          <a:solidFill>
                            <a:schemeClr val="hlink"/>
                          </a:solidFill>
                          <a:latin typeface="Alexandria Medium" panose="020B0604020202020204" charset="-78"/>
                          <a:ea typeface="Albert Sans"/>
                          <a:cs typeface="Alexandria Medium" panose="020B0604020202020204" charset="-78"/>
                          <a:sym typeface="Albert Sans"/>
                        </a:rPr>
                        <a:t>Year</a:t>
                      </a:r>
                      <a:endParaRPr sz="1400" b="1" u="none" dirty="0">
                        <a:solidFill>
                          <a:schemeClr val="dk1"/>
                        </a:solidFill>
                        <a:latin typeface="Alexandria Medium" panose="020B0604020202020204" charset="-78"/>
                        <a:ea typeface="Albert Sans"/>
                        <a:cs typeface="Alexandria Medium" panose="020B0604020202020204" charset="-78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dirty="0">
                          <a:solidFill>
                            <a:schemeClr val="dk1"/>
                          </a:solidFill>
                          <a:latin typeface="Alexandria Medium" panose="020B0604020202020204" charset="-78"/>
                          <a:ea typeface="Albert Sans"/>
                          <a:cs typeface="Alexandria Medium" panose="020B0604020202020204" charset="-78"/>
                          <a:sym typeface="Albert Sans"/>
                        </a:rPr>
                        <a:t>Title</a:t>
                      </a:r>
                      <a:endParaRPr lang="en-IN" sz="1400" b="1" u="none" dirty="0">
                        <a:solidFill>
                          <a:schemeClr val="dk1"/>
                        </a:solidFill>
                        <a:latin typeface="Alexandria Medium" panose="020B0604020202020204" charset="-78"/>
                        <a:ea typeface="Albert Sans"/>
                        <a:cs typeface="Alexandria Medium" panose="020B0604020202020204" charset="-78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dirty="0">
                          <a:solidFill>
                            <a:schemeClr val="dk1"/>
                          </a:solidFill>
                          <a:latin typeface="Alexandria Medium" panose="020B0604020202020204" charset="-78"/>
                          <a:ea typeface="Albert Sans"/>
                          <a:cs typeface="Alexandria Medium" panose="020B0604020202020204" charset="-78"/>
                          <a:sym typeface="Albert Sans"/>
                        </a:rPr>
                        <a:t>Key Contribution</a:t>
                      </a:r>
                      <a:endParaRPr lang="en-IN" sz="1400" b="1" u="none" dirty="0">
                        <a:solidFill>
                          <a:schemeClr val="dk1"/>
                        </a:solidFill>
                        <a:latin typeface="Alexandria Medium" panose="020B0604020202020204" charset="-78"/>
                        <a:ea typeface="Albert Sans"/>
                        <a:cs typeface="Alexandria Medium" panose="020B0604020202020204" charset="-78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00" b="1" u="none" dirty="0">
                          <a:solidFill>
                            <a:schemeClr val="dk1"/>
                          </a:solidFill>
                          <a:latin typeface="Alexandria Medium" panose="020B0604020202020204" charset="-78"/>
                          <a:ea typeface="Albert Sans"/>
                          <a:cs typeface="Alexandria Medium" panose="020B0604020202020204" charset="-78"/>
                          <a:sym typeface="Albert Sans"/>
                        </a:rPr>
                        <a:t>Limitations</a:t>
                      </a:r>
                      <a:endParaRPr lang="en-IN" sz="1400" b="1" u="none" dirty="0">
                        <a:solidFill>
                          <a:schemeClr val="dk1"/>
                        </a:solidFill>
                        <a:latin typeface="Alexandria Medium" panose="020B0604020202020204" charset="-78"/>
                        <a:ea typeface="Albert Sans"/>
                        <a:cs typeface="Alexandria Medium" panose="020B0604020202020204" charset="-78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636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50" b="1" u="sng" dirty="0">
                          <a:solidFill>
                            <a:schemeClr val="dk1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May, 2025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dirty="0">
                          <a:latin typeface="Albert Sans" panose="020B0604020202020204" charset="0"/>
                        </a:rPr>
                        <a:t>[ 7 ]</a:t>
                      </a:r>
                      <a:endParaRPr sz="1050" b="1" u="sng" dirty="0">
                        <a:solidFill>
                          <a:schemeClr val="dk1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latin typeface="Albert Sans" panose="020B0604020202020204" charset="0"/>
                        </a:rPr>
                        <a:t>LiteWebAgent</a:t>
                      </a:r>
                      <a:r>
                        <a:rPr lang="en-US" sz="1100" dirty="0">
                          <a:latin typeface="Albert Sans" panose="020B0604020202020204" charset="0"/>
                        </a:rPr>
                        <a:t>: The Open-Source Suite for VLM-Based Web-Agent Applications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Provides an open, modular framework (planning, memory, tree search) plus production demos (serverless backend or Chrome extension) to help researchers build and deploy VLM web agents.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just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100" b="0" dirty="0">
                          <a:latin typeface="Albert Sans" panose="020B0604020202020204" charset="0"/>
                        </a:rPr>
                        <a:t>actual performance depends on chosen models and grounding modules.</a:t>
                      </a:r>
                      <a:endParaRPr sz="1100" b="0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594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50" b="1" u="sng" dirty="0">
                          <a:solidFill>
                            <a:schemeClr val="hlink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Aug, 2024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dirty="0">
                          <a:latin typeface="Albert Sans" panose="020B0604020202020204" charset="0"/>
                        </a:rPr>
                        <a:t>[ 8 ]</a:t>
                      </a:r>
                      <a:endParaRPr sz="1050" b="1" u="sng" dirty="0">
                        <a:solidFill>
                          <a:schemeClr val="dk1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 err="1">
                          <a:latin typeface="Albert Sans" panose="020B0604020202020204" charset="0"/>
                        </a:rPr>
                        <a:t>OpenWebAgent</a:t>
                      </a:r>
                      <a:r>
                        <a:rPr lang="en-US" sz="1100" dirty="0">
                          <a:latin typeface="Albert Sans" panose="020B0604020202020204" charset="0"/>
                        </a:rPr>
                        <a:t>: An Open Toolkit to Enable Web Agents on Large Language Models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Delivers a modular toolkit with an HTML parser, action generation module, and UI to accelerate building of LLM/LMM web agents; open-source code &amp; plugin.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100" b="0" dirty="0">
                          <a:latin typeface="Albert Sans" panose="020B0604020202020204" charset="0"/>
                        </a:rPr>
                        <a:t>Toolkit-oriented - does not itself claim new agent performance. Practical utility depends on integration choices and model quality.</a:t>
                      </a:r>
                      <a:endParaRPr sz="1100" b="0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594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IN" sz="1050" b="1" u="sng" dirty="0">
                          <a:solidFill>
                            <a:schemeClr val="hlink"/>
                          </a:solidFill>
                          <a:latin typeface="Albert Sans"/>
                          <a:ea typeface="Albert Sans"/>
                          <a:cs typeface="Albert Sans"/>
                          <a:sym typeface="Albert Sans"/>
                        </a:rPr>
                        <a:t>Jul, 2025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050" b="0" dirty="0">
                          <a:latin typeface="Albert Sans" panose="020B0604020202020204" charset="0"/>
                        </a:rPr>
                        <a:t>[ 9 ]</a:t>
                      </a:r>
                      <a:endParaRPr sz="1050" b="1" u="sng" dirty="0">
                        <a:solidFill>
                          <a:schemeClr val="dk1"/>
                        </a:solidFill>
                        <a:latin typeface="Albert Sans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Browsing Like Human: A Multimodal Web Agent with Experiential Fast-and-Slow Thinking (</a:t>
                      </a:r>
                      <a:r>
                        <a:rPr lang="en-US" sz="1100" dirty="0" err="1">
                          <a:latin typeface="Albert Sans" panose="020B0604020202020204" charset="0"/>
                        </a:rPr>
                        <a:t>WebExperT</a:t>
                      </a:r>
                      <a:r>
                        <a:rPr lang="en-US" sz="1100" dirty="0">
                          <a:latin typeface="Albert Sans" panose="020B0604020202020204" charset="0"/>
                        </a:rPr>
                        <a:t>)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100" dirty="0">
                          <a:latin typeface="Albert Sans" panose="020B0604020202020204" charset="0"/>
                        </a:rPr>
                        <a:t>Proposes a human-like fast/slow planning paradigm and experiential learning (reflecting on failures) to improve decomposition of complex instructions - shows strong results on MIND2WEB.</a:t>
                      </a:r>
                      <a:endParaRPr sz="1100" b="1" u="sng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100" b="0" dirty="0">
                          <a:latin typeface="Albert Sans" panose="020B0604020202020204" charset="0"/>
                        </a:rPr>
                        <a:t>Added complexity (planning + reflection) may increase compute and implementation complexity.</a:t>
                      </a:r>
                      <a:endParaRPr sz="1100" b="0" dirty="0">
                        <a:solidFill>
                          <a:schemeClr val="dk1"/>
                        </a:solidFill>
                        <a:latin typeface="Albert Sans" panose="020B0604020202020204" charset="0"/>
                        <a:ea typeface="Albert Sans"/>
                        <a:cs typeface="Albert Sans"/>
                        <a:sym typeface="Albert Sans"/>
                      </a:endParaRPr>
                    </a:p>
                  </a:txBody>
                  <a:tcPr marL="91425" marR="91425" marT="0" marB="0" anchor="ctr">
                    <a:lnL w="9525" cap="flat" cmpd="sng" algn="ctr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918984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145784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>
            <a:spLocks noGrp="1"/>
          </p:cNvSpPr>
          <p:nvPr>
            <p:ph type="subTitle" idx="1"/>
          </p:nvPr>
        </p:nvSpPr>
        <p:spPr>
          <a:xfrm>
            <a:off x="715100" y="1559777"/>
            <a:ext cx="2303165" cy="12858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dirty="0"/>
              <a:t>Current agents struggle with fine-grained visual-to-HTML grounding, causing major failures on real websites [ 4 ] [ 5 ] [ 9 ].</a:t>
            </a:r>
            <a:endParaRPr dirty="0"/>
          </a:p>
        </p:txBody>
      </p:sp>
      <p:sp>
        <p:nvSpPr>
          <p:cNvPr id="294" name="Google Shape;294;p4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Research Gaps</a:t>
            </a:r>
          </a:p>
        </p:txBody>
      </p:sp>
      <p:sp>
        <p:nvSpPr>
          <p:cNvPr id="295" name="Google Shape;295;p45"/>
          <p:cNvSpPr txBox="1">
            <a:spLocks noGrp="1"/>
          </p:cNvSpPr>
          <p:nvPr>
            <p:ph type="subTitle" idx="2"/>
          </p:nvPr>
        </p:nvSpPr>
        <p:spPr>
          <a:xfrm>
            <a:off x="715196" y="1083701"/>
            <a:ext cx="2131800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IN" sz="1400" dirty="0"/>
              <a:t>Unreliable Element Grounding</a:t>
            </a:r>
            <a:endParaRPr sz="1400" dirty="0"/>
          </a:p>
        </p:txBody>
      </p:sp>
      <p:sp>
        <p:nvSpPr>
          <p:cNvPr id="296" name="Google Shape;296;p45"/>
          <p:cNvSpPr txBox="1">
            <a:spLocks noGrp="1"/>
          </p:cNvSpPr>
          <p:nvPr>
            <p:ph type="subTitle" idx="3"/>
          </p:nvPr>
        </p:nvSpPr>
        <p:spPr>
          <a:xfrm>
            <a:off x="3506196" y="1559776"/>
            <a:ext cx="2303164" cy="12858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dirty="0"/>
              <a:t>Surveys highlight agents often require access to sensitive user data to effectively interact with the GUI environment [ 1 ] [ 3 ].</a:t>
            </a:r>
          </a:p>
        </p:txBody>
      </p:sp>
      <p:sp>
        <p:nvSpPr>
          <p:cNvPr id="297" name="Google Shape;297;p45"/>
          <p:cNvSpPr txBox="1">
            <a:spLocks noGrp="1"/>
          </p:cNvSpPr>
          <p:nvPr>
            <p:ph type="subTitle" idx="4"/>
          </p:nvPr>
        </p:nvSpPr>
        <p:spPr>
          <a:xfrm>
            <a:off x="3506195" y="1083700"/>
            <a:ext cx="2131800" cy="548701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/>
              <a:t>Privacy and Human-in-Loop Limitations</a:t>
            </a:r>
            <a:endParaRPr sz="1400" dirty="0"/>
          </a:p>
        </p:txBody>
      </p:sp>
      <p:sp>
        <p:nvSpPr>
          <p:cNvPr id="298" name="Google Shape;298;p45"/>
          <p:cNvSpPr txBox="1">
            <a:spLocks noGrp="1"/>
          </p:cNvSpPr>
          <p:nvPr>
            <p:ph type="subTitle" idx="5"/>
          </p:nvPr>
        </p:nvSpPr>
        <p:spPr>
          <a:xfrm>
            <a:off x="6297298" y="1559777"/>
            <a:ext cx="2303164" cy="128581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Real-world website contain thousands of DOM element.</a:t>
            </a:r>
          </a:p>
          <a:p>
            <a:pPr marL="171450" lvl="0" indent="-1714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Model does not look JS or CSS while inference, thus result may poor. [ 4 ]</a:t>
            </a:r>
            <a:endParaRPr dirty="0"/>
          </a:p>
        </p:txBody>
      </p:sp>
      <p:sp>
        <p:nvSpPr>
          <p:cNvPr id="299" name="Google Shape;299;p45"/>
          <p:cNvSpPr txBox="1">
            <a:spLocks noGrp="1"/>
          </p:cNvSpPr>
          <p:nvPr>
            <p:ph type="subTitle" idx="6"/>
          </p:nvPr>
        </p:nvSpPr>
        <p:spPr>
          <a:xfrm>
            <a:off x="6297296" y="1083700"/>
            <a:ext cx="2131800" cy="54870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en-IN" sz="1400" dirty="0"/>
              <a:t>Large and complex DOMs, missing </a:t>
            </a:r>
            <a:r>
              <a:rPr lang="en-IN" sz="1400" dirty="0" err="1"/>
              <a:t>js</a:t>
            </a:r>
            <a:r>
              <a:rPr lang="en-IN" sz="1400" dirty="0"/>
              <a:t>, </a:t>
            </a:r>
            <a:r>
              <a:rPr lang="en-IN" sz="1400" dirty="0" err="1"/>
              <a:t>css</a:t>
            </a:r>
            <a:endParaRPr sz="1400" dirty="0"/>
          </a:p>
        </p:txBody>
      </p:sp>
      <p:sp>
        <p:nvSpPr>
          <p:cNvPr id="2" name="Google Shape;293;p45">
            <a:extLst>
              <a:ext uri="{FF2B5EF4-FFF2-40B4-BE49-F238E27FC236}">
                <a16:creationId xmlns:a16="http://schemas.microsoft.com/office/drawing/2014/main" id="{1DF0CD9B-7C0D-A32F-F08F-E6C80604DBA3}"/>
              </a:ext>
            </a:extLst>
          </p:cNvPr>
          <p:cNvSpPr txBox="1">
            <a:spLocks/>
          </p:cNvSpPr>
          <p:nvPr/>
        </p:nvSpPr>
        <p:spPr>
          <a:xfrm>
            <a:off x="715004" y="3438475"/>
            <a:ext cx="2303165" cy="1285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dirty="0"/>
              <a:t>High cost &amp; resource demands, limit wider adoption of (M)LLM-based GUI agents [ 2 ].</a:t>
            </a:r>
          </a:p>
        </p:txBody>
      </p:sp>
      <p:sp>
        <p:nvSpPr>
          <p:cNvPr id="3" name="Google Shape;295;p45">
            <a:extLst>
              <a:ext uri="{FF2B5EF4-FFF2-40B4-BE49-F238E27FC236}">
                <a16:creationId xmlns:a16="http://schemas.microsoft.com/office/drawing/2014/main" id="{A6EDD8C2-FDDF-5BF9-115A-85720AC8FA3D}"/>
              </a:ext>
            </a:extLst>
          </p:cNvPr>
          <p:cNvSpPr txBox="1">
            <a:spLocks/>
          </p:cNvSpPr>
          <p:nvPr/>
        </p:nvSpPr>
        <p:spPr>
          <a:xfrm>
            <a:off x="715100" y="2962399"/>
            <a:ext cx="21318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indent="0"/>
            <a:r>
              <a:rPr lang="en-IN" sz="1400" dirty="0"/>
              <a:t>High Cost &amp; Diversity Bottlenecks</a:t>
            </a:r>
          </a:p>
        </p:txBody>
      </p:sp>
      <p:sp>
        <p:nvSpPr>
          <p:cNvPr id="4" name="Google Shape;296;p45">
            <a:extLst>
              <a:ext uri="{FF2B5EF4-FFF2-40B4-BE49-F238E27FC236}">
                <a16:creationId xmlns:a16="http://schemas.microsoft.com/office/drawing/2014/main" id="{8852FA2B-E011-46E0-EC74-C1A321BB7995}"/>
              </a:ext>
            </a:extLst>
          </p:cNvPr>
          <p:cNvSpPr txBox="1">
            <a:spLocks/>
          </p:cNvSpPr>
          <p:nvPr/>
        </p:nvSpPr>
        <p:spPr>
          <a:xfrm>
            <a:off x="3506100" y="3438474"/>
            <a:ext cx="2303164" cy="1285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dirty="0"/>
              <a:t>performance drops sharply for long tasks or unfamiliar layouts [ 6 ].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dirty="0"/>
              <a:t>Overall low success rate over unseen website (&lt;25%) [ 6 ].</a:t>
            </a:r>
          </a:p>
        </p:txBody>
      </p:sp>
      <p:sp>
        <p:nvSpPr>
          <p:cNvPr id="5" name="Google Shape;297;p45">
            <a:extLst>
              <a:ext uri="{FF2B5EF4-FFF2-40B4-BE49-F238E27FC236}">
                <a16:creationId xmlns:a16="http://schemas.microsoft.com/office/drawing/2014/main" id="{5737E93D-79F6-C537-6153-7092269C1F80}"/>
              </a:ext>
            </a:extLst>
          </p:cNvPr>
          <p:cNvSpPr txBox="1">
            <a:spLocks/>
          </p:cNvSpPr>
          <p:nvPr/>
        </p:nvSpPr>
        <p:spPr>
          <a:xfrm>
            <a:off x="3506099" y="2962398"/>
            <a:ext cx="2131800" cy="548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indent="0"/>
            <a:r>
              <a:rPr lang="en-IN" sz="1400" dirty="0"/>
              <a:t>Poor Generalization to Unseen Websites</a:t>
            </a:r>
            <a:endParaRPr lang="en-US" sz="1400" dirty="0"/>
          </a:p>
        </p:txBody>
      </p:sp>
      <p:sp>
        <p:nvSpPr>
          <p:cNvPr id="6" name="Google Shape;298;p45">
            <a:extLst>
              <a:ext uri="{FF2B5EF4-FFF2-40B4-BE49-F238E27FC236}">
                <a16:creationId xmlns:a16="http://schemas.microsoft.com/office/drawing/2014/main" id="{AED089A8-F5C8-FA2A-4DF8-23E4FED5D2D6}"/>
              </a:ext>
            </a:extLst>
          </p:cNvPr>
          <p:cNvSpPr txBox="1">
            <a:spLocks/>
          </p:cNvSpPr>
          <p:nvPr/>
        </p:nvSpPr>
        <p:spPr>
          <a:xfrm>
            <a:off x="6297202" y="3438475"/>
            <a:ext cx="2303164" cy="14641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dirty="0"/>
              <a:t>GUI agents remain vulnerable to adversarial UIs or unexpected DOM changes [ 8 ].</a:t>
            </a:r>
          </a:p>
          <a:p>
            <a:pPr marL="171450" indent="-171450" algn="just">
              <a:buFont typeface="Arial" panose="020B0604020202020204" pitchFamily="34" charset="0"/>
              <a:buChar char="•"/>
            </a:pPr>
            <a:r>
              <a:rPr lang="en-US" dirty="0"/>
              <a:t>lack of standardized safety protocols, privacy-aware design [ 2 ].</a:t>
            </a:r>
          </a:p>
        </p:txBody>
      </p:sp>
      <p:sp>
        <p:nvSpPr>
          <p:cNvPr id="7" name="Google Shape;299;p45">
            <a:extLst>
              <a:ext uri="{FF2B5EF4-FFF2-40B4-BE49-F238E27FC236}">
                <a16:creationId xmlns:a16="http://schemas.microsoft.com/office/drawing/2014/main" id="{E6F3341A-3D2D-0B41-16FA-571B57C6CC06}"/>
              </a:ext>
            </a:extLst>
          </p:cNvPr>
          <p:cNvSpPr txBox="1">
            <a:spLocks/>
          </p:cNvSpPr>
          <p:nvPr/>
        </p:nvSpPr>
        <p:spPr>
          <a:xfrm>
            <a:off x="6297200" y="2962398"/>
            <a:ext cx="2131800" cy="5487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18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1pPr>
            <a:lvl2pPr marL="914400" marR="0" lvl="1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2pPr>
            <a:lvl3pPr marL="1371600" marR="0" lvl="2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4pPr>
            <a:lvl5pPr marL="2286000" marR="0" lvl="4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5pPr>
            <a:lvl6pPr marL="2743200" marR="0" lvl="5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6pPr>
            <a:lvl7pPr marL="3200400" marR="0" lvl="6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7pPr>
            <a:lvl8pPr marL="3657600" marR="0" lvl="7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8pPr>
            <a:lvl9pPr marL="4114800" marR="0" lvl="8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lexandria Medium"/>
              <a:buNone/>
              <a:defRPr sz="2400" b="0" i="0" u="none" strike="noStrike" cap="none">
                <a:solidFill>
                  <a:schemeClr val="dk1"/>
                </a:solidFill>
                <a:latin typeface="Alexandria Medium"/>
                <a:ea typeface="Alexandria Medium"/>
                <a:cs typeface="Alexandria Medium"/>
                <a:sym typeface="Alexandria Medium"/>
              </a:defRPr>
            </a:lvl9pPr>
          </a:lstStyle>
          <a:p>
            <a:pPr marL="0" indent="0"/>
            <a:r>
              <a:rPr lang="en-IN" sz="1400" dirty="0"/>
              <a:t>Safety, Security &amp; Trustworthiness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7105780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6">
          <a:extLst>
            <a:ext uri="{FF2B5EF4-FFF2-40B4-BE49-F238E27FC236}">
              <a16:creationId xmlns:a16="http://schemas.microsoft.com/office/drawing/2014/main" id="{DD40ED0D-E15A-1C81-B93F-6050EC22D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68">
            <a:extLst>
              <a:ext uri="{FF2B5EF4-FFF2-40B4-BE49-F238E27FC236}">
                <a16:creationId xmlns:a16="http://schemas.microsoft.com/office/drawing/2014/main" id="{B290D8FC-E0CF-AAE2-D749-B45BF48A9D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967983" cy="54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Objectives</a:t>
            </a:r>
            <a:endParaRPr dirty="0"/>
          </a:p>
        </p:txBody>
      </p:sp>
      <p:sp>
        <p:nvSpPr>
          <p:cNvPr id="7" name="Google Shape;293;p45">
            <a:extLst>
              <a:ext uri="{FF2B5EF4-FFF2-40B4-BE49-F238E27FC236}">
                <a16:creationId xmlns:a16="http://schemas.microsoft.com/office/drawing/2014/main" id="{C072E95C-E878-36B7-DBC5-D50847B52149}"/>
              </a:ext>
            </a:extLst>
          </p:cNvPr>
          <p:cNvSpPr txBox="1">
            <a:spLocks/>
          </p:cNvSpPr>
          <p:nvPr/>
        </p:nvSpPr>
        <p:spPr>
          <a:xfrm>
            <a:off x="588008" y="1261984"/>
            <a:ext cx="8095074" cy="26195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algn="just">
              <a:buFont typeface="Arial" panose="020B0604020202020204" pitchFamily="34" charset="0"/>
              <a:buChar char="•"/>
            </a:pPr>
            <a:r>
              <a:rPr lang="en-US" sz="1400" dirty="0"/>
              <a:t>Build a web automation agent using multimodal which can perform better on some parameter to improve the overall automation process.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400" dirty="0"/>
              <a:t>Use HTML summarizer which can parse only query related values further we can use that as input to large models.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400" dirty="0"/>
              <a:t>Evaluate zero-shot and few-shot prompting for improving action prediction and grounding.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400" dirty="0"/>
              <a:t>Design a fallback for improvement over failure step and agent can go on back step for overall task success.</a:t>
            </a:r>
          </a:p>
          <a:p>
            <a:pPr algn="just">
              <a:buFont typeface="Arial" panose="020B0604020202020204" pitchFamily="34" charset="0"/>
              <a:buChar char="•"/>
            </a:pPr>
            <a:r>
              <a:rPr lang="en-US" sz="1400" dirty="0"/>
              <a:t>Design a HITL for human intervention while Web Automation work on privacy concern data (e.g. while login user must input their credential by their own). </a:t>
            </a:r>
            <a:endParaRPr lang="en-IN" sz="1400" dirty="0"/>
          </a:p>
        </p:txBody>
      </p:sp>
    </p:spTree>
    <p:extLst>
      <p:ext uri="{BB962C8B-B14F-4D97-AF65-F5344CB8AC3E}">
        <p14:creationId xmlns:p14="http://schemas.microsoft.com/office/powerpoint/2010/main" val="24031532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F9E8F7EE-675B-9E4F-3FF4-BA320203F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CD0436A2-FB51-76E4-9DAA-01C5AEDE68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dirty="0" err="1"/>
              <a:t>SeeAct</a:t>
            </a:r>
            <a:r>
              <a:rPr lang="en-IN" dirty="0"/>
              <a:t>: Base Paper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ACCC43D1-DF3D-9EAF-0834-B39809A1D785}"/>
              </a:ext>
            </a:extLst>
          </p:cNvPr>
          <p:cNvSpPr txBox="1">
            <a:spLocks/>
          </p:cNvSpPr>
          <p:nvPr/>
        </p:nvSpPr>
        <p:spPr>
          <a:xfrm>
            <a:off x="715098" y="1262728"/>
            <a:ext cx="7886207" cy="33457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1" algn="just"/>
            <a:r>
              <a:rPr lang="en-US" sz="1100" i="1" dirty="0">
                <a:latin typeface="Albert Sans" panose="020B0604020202020204" charset="0"/>
              </a:rPr>
              <a:t>Paper-Title: GPT-4V(ision) is a Generalist Web Agent, if Grounded</a:t>
            </a:r>
          </a:p>
          <a:p>
            <a:pPr lvl="1" algn="just"/>
            <a:endParaRPr lang="en-US" dirty="0">
              <a:latin typeface="Albert Sans" panose="020B0604020202020204" charset="0"/>
            </a:endParaRP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Albert Sans" panose="020B0604020202020204" charset="0"/>
              </a:rPr>
              <a:t>SeeAct use large multimodal model (e.g. GPT-4V(ision)) to see the webpage using screenshot + DOM and  reason like a human.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Albert Sans" panose="020B0604020202020204" charset="0"/>
              </a:rPr>
              <a:t>It demonstrates that visual reasoning + DOM grounding leads to significantly higher real-world task success (51.1% on live websites).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Albert Sans" panose="020B0604020202020204" charset="0"/>
              </a:rPr>
              <a:t>The paper provides a clear, simple and effective modular pipeline (perception → reasoning → grounding → execution) that serves as a strong baseline for designing our own system.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Albert Sans" panose="020B0604020202020204" charset="0"/>
              </a:rPr>
              <a:t>SeeAct explicitly highlights element grounding as the key challenge, which directly aligns with the research gap for our project targets.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9F5B248-DF68-816A-1B93-148D92FF9DBB}"/>
              </a:ext>
            </a:extLst>
          </p:cNvPr>
          <p:cNvSpPr txBox="1"/>
          <p:nvPr/>
        </p:nvSpPr>
        <p:spPr>
          <a:xfrm>
            <a:off x="715097" y="4833425"/>
            <a:ext cx="49043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/>
              <a:t>Source: [ 5 ]</a:t>
            </a:r>
            <a:endParaRPr lang="en-IN" sz="800" i="1" dirty="0"/>
          </a:p>
        </p:txBody>
      </p:sp>
    </p:spTree>
    <p:extLst>
      <p:ext uri="{BB962C8B-B14F-4D97-AF65-F5344CB8AC3E}">
        <p14:creationId xmlns:p14="http://schemas.microsoft.com/office/powerpoint/2010/main" val="1361816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D3195EF8-F2F9-AC96-869A-5E76AE062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AEE83671-BE4A-3FB9-EB71-435B415EEB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SeeAct: MultiModal-Mind2Web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E4F121E3-B9FA-7E6F-429F-B541499DA5DD}"/>
              </a:ext>
            </a:extLst>
          </p:cNvPr>
          <p:cNvSpPr txBox="1">
            <a:spLocks/>
          </p:cNvSpPr>
          <p:nvPr/>
        </p:nvSpPr>
        <p:spPr>
          <a:xfrm>
            <a:off x="715098" y="1262728"/>
            <a:ext cx="7886207" cy="16844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1" algn="just"/>
            <a:r>
              <a:rPr lang="en-US" sz="1200" b="1" dirty="0">
                <a:latin typeface="Albert Sans" panose="020B0604020202020204" charset="0"/>
              </a:rPr>
              <a:t>What is Multimodal-Mind2Web:</a:t>
            </a:r>
          </a:p>
          <a:p>
            <a:pPr lvl="1" algn="just"/>
            <a:endParaRPr lang="en-IN" sz="1200" b="1" dirty="0">
              <a:latin typeface="Albert Sans" panose="020B0604020202020204" charset="0"/>
            </a:endParaRP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It is the multimodal version of Mind2Web, Where each webpage state has both screenshot image + HTML DOM [ 10 ]. 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Covers 137 websites, spanning 31 top-level domains, with a broad variety of user tasks + interaction patterns [ 10 ]. 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Consists of </a:t>
            </a:r>
            <a:r>
              <a:rPr lang="en-US" sz="1200">
                <a:latin typeface="Albert Sans" panose="020B0604020202020204" charset="0"/>
              </a:rPr>
              <a:t>over 2,000+ </a:t>
            </a:r>
            <a:r>
              <a:rPr lang="en-US" sz="1200" dirty="0">
                <a:latin typeface="Albert Sans" panose="020B0604020202020204" charset="0"/>
              </a:rPr>
              <a:t>distinct tasks (in the original Mind2Web) with crowdsourced action sequences [ 10 ].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792BC6F2-8F1E-7E35-55EA-ADBEDBD2C9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9203863"/>
              </p:ext>
            </p:extLst>
          </p:nvPr>
        </p:nvGraphicFramePr>
        <p:xfrm>
          <a:off x="715100" y="2947182"/>
          <a:ext cx="7886205" cy="1828503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1753782">
                  <a:extLst>
                    <a:ext uri="{9D8B030D-6E8A-4147-A177-3AD203B41FA5}">
                      <a16:colId xmlns:a16="http://schemas.microsoft.com/office/drawing/2014/main" val="1788441655"/>
                    </a:ext>
                  </a:extLst>
                </a:gridCol>
                <a:gridCol w="3503688">
                  <a:extLst>
                    <a:ext uri="{9D8B030D-6E8A-4147-A177-3AD203B41FA5}">
                      <a16:colId xmlns:a16="http://schemas.microsoft.com/office/drawing/2014/main" val="413686892"/>
                    </a:ext>
                  </a:extLst>
                </a:gridCol>
                <a:gridCol w="2628735">
                  <a:extLst>
                    <a:ext uri="{9D8B030D-6E8A-4147-A177-3AD203B41FA5}">
                      <a16:colId xmlns:a16="http://schemas.microsoft.com/office/drawing/2014/main" val="1405997795"/>
                    </a:ext>
                  </a:extLst>
                </a:gridCol>
              </a:tblGrid>
              <a:tr h="214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Split / Set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No. of actions / steps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What it means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9836580"/>
                  </a:ext>
                </a:extLst>
              </a:tr>
              <a:tr h="3654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Train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7775 actions from 1009 tasks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training pool for learning / experimentation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6579234"/>
                  </a:ext>
                </a:extLst>
              </a:tr>
              <a:tr h="3654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 err="1">
                          <a:latin typeface="Albert Sans" panose="020B0604020202020204" charset="0"/>
                        </a:rPr>
                        <a:t>Test_task</a:t>
                      </a:r>
                      <a:endParaRPr lang="en-IN" sz="1200" dirty="0">
                        <a:latin typeface="Albert Sans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1339 actions from 177 tasks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tests generalization across tasks within known websites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3456989"/>
                  </a:ext>
                </a:extLst>
              </a:tr>
              <a:tr h="3654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 err="1">
                          <a:latin typeface="Albert Sans" panose="020B0604020202020204" charset="0"/>
                        </a:rPr>
                        <a:t>Test_website</a:t>
                      </a:r>
                      <a:endParaRPr lang="en-IN" sz="1200" dirty="0">
                        <a:latin typeface="Albert Sans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1019 actions from 142 tasks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tests cross-website generalization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5377867"/>
                  </a:ext>
                </a:extLst>
              </a:tr>
              <a:tr h="2149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 err="1">
                          <a:latin typeface="Albert Sans" panose="020B0604020202020204" charset="0"/>
                        </a:rPr>
                        <a:t>Test_domain</a:t>
                      </a:r>
                      <a:endParaRPr lang="en-IN" sz="1200" dirty="0">
                        <a:latin typeface="Albert Sans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4060 actions from 694 tasks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tests cross-domain robustness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7741429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82E43B85-5067-79F9-2BFD-700E9D6629AB}"/>
              </a:ext>
            </a:extLst>
          </p:cNvPr>
          <p:cNvSpPr txBox="1"/>
          <p:nvPr/>
        </p:nvSpPr>
        <p:spPr>
          <a:xfrm>
            <a:off x="715097" y="4833425"/>
            <a:ext cx="49043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/>
              <a:t>Source: [ 10 ]</a:t>
            </a:r>
            <a:endParaRPr lang="en-IN" sz="800" i="1" dirty="0"/>
          </a:p>
        </p:txBody>
      </p:sp>
    </p:spTree>
    <p:extLst>
      <p:ext uri="{BB962C8B-B14F-4D97-AF65-F5344CB8AC3E}">
        <p14:creationId xmlns:p14="http://schemas.microsoft.com/office/powerpoint/2010/main" val="4857201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C859A572-113F-81ED-2B1B-458746F381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361F8381-DF38-C111-B091-B33EEFEE90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SeeAct: MultiModal-Mind2Web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7EA5E4D9-7132-46DA-8CAA-3789AD6C76B6}"/>
              </a:ext>
            </a:extLst>
          </p:cNvPr>
          <p:cNvSpPr txBox="1">
            <a:spLocks/>
          </p:cNvSpPr>
          <p:nvPr/>
        </p:nvSpPr>
        <p:spPr>
          <a:xfrm>
            <a:off x="715098" y="1262728"/>
            <a:ext cx="7886207" cy="33457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1" algn="just"/>
            <a:r>
              <a:rPr lang="en-IN" sz="1200" b="1" dirty="0">
                <a:latin typeface="Albert Sans" panose="020B0604020202020204" charset="0"/>
              </a:rPr>
              <a:t>What each data-row contains:</a:t>
            </a:r>
          </a:p>
          <a:p>
            <a:pPr lvl="1" algn="just"/>
            <a:endParaRPr lang="en-IN" sz="1200" b="1" dirty="0">
              <a:latin typeface="Albert Sans" panose="020B0604020202020204" charset="0"/>
            </a:endParaRP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b="1" i="1" dirty="0">
                <a:latin typeface="Albert Sans" panose="020B0604020202020204" charset="0"/>
              </a:rPr>
              <a:t>screenshot</a:t>
            </a:r>
            <a:r>
              <a:rPr lang="en-US" sz="1200" dirty="0">
                <a:latin typeface="Albert Sans" panose="020B0604020202020204" charset="0"/>
              </a:rPr>
              <a:t>: </a:t>
            </a:r>
            <a:r>
              <a:rPr lang="en-US" sz="1200" dirty="0" err="1">
                <a:latin typeface="Albert Sans" panose="020B0604020202020204" charset="0"/>
              </a:rPr>
              <a:t>png</a:t>
            </a:r>
            <a:r>
              <a:rPr lang="en-US" sz="1200" dirty="0">
                <a:latin typeface="Albert Sans" panose="020B0604020202020204" charset="0"/>
              </a:rPr>
              <a:t> snapshot of rendered page before action.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b="1" i="1" dirty="0">
                <a:latin typeface="Albert Sans" panose="020B0604020202020204" charset="0"/>
              </a:rPr>
              <a:t>raw_html</a:t>
            </a:r>
            <a:r>
              <a:rPr lang="en-US" sz="1200" dirty="0">
                <a:latin typeface="Albert Sans" panose="020B0604020202020204" charset="0"/>
              </a:rPr>
              <a:t> / </a:t>
            </a:r>
            <a:r>
              <a:rPr lang="en-US" sz="1200" b="1" i="1" dirty="0">
                <a:latin typeface="Albert Sans" panose="020B0604020202020204" charset="0"/>
              </a:rPr>
              <a:t>cleaned_html</a:t>
            </a:r>
            <a:r>
              <a:rPr lang="en-US" sz="1200" dirty="0">
                <a:latin typeface="Albert Sans" panose="020B0604020202020204" charset="0"/>
              </a:rPr>
              <a:t>: HTML source of the page at that moment. 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b="1" i="1" dirty="0">
                <a:latin typeface="Albert Sans" panose="020B0604020202020204" charset="0"/>
              </a:rPr>
              <a:t>operation</a:t>
            </a:r>
            <a:r>
              <a:rPr lang="en-US" sz="1200" dirty="0">
                <a:latin typeface="Albert Sans" panose="020B0604020202020204" charset="0"/>
              </a:rPr>
              <a:t>: what action was taken (Click / Type / Select) + optional value (text, dropdown option, etc.)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b="1" i="1" dirty="0" err="1">
                <a:latin typeface="Albert Sans" panose="020B0604020202020204" charset="0"/>
              </a:rPr>
              <a:t>annotation_id</a:t>
            </a:r>
            <a:r>
              <a:rPr lang="en-US" sz="1200" dirty="0">
                <a:latin typeface="Albert Sans" panose="020B0604020202020204" charset="0"/>
              </a:rPr>
              <a:t>: groups actions belonging to the same high-level “task” (so that multi-step trajectories are reconstruct able). 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endParaRPr lang="en-US" sz="1200" dirty="0">
              <a:latin typeface="Albert Sans" panose="020B0604020202020204" charset="0"/>
            </a:endParaRPr>
          </a:p>
          <a:p>
            <a:pPr lvl="1" algn="just"/>
            <a:r>
              <a:rPr lang="en-US" sz="1200" b="1" dirty="0">
                <a:latin typeface="Albert Sans" panose="020B0604020202020204" charset="0"/>
              </a:rPr>
              <a:t>Why it's suited for Vision-Based Web Agents like </a:t>
            </a:r>
            <a:r>
              <a:rPr lang="en-US" sz="1200" b="1" dirty="0" err="1">
                <a:latin typeface="Albert Sans" panose="020B0604020202020204" charset="0"/>
              </a:rPr>
              <a:t>SeeAct</a:t>
            </a:r>
            <a:r>
              <a:rPr lang="en-US" sz="1200" b="1" dirty="0">
                <a:latin typeface="Albert Sans" panose="020B0604020202020204" charset="0"/>
              </a:rPr>
              <a:t>:</a:t>
            </a:r>
          </a:p>
          <a:p>
            <a:pPr lvl="1" algn="just"/>
            <a:endParaRPr lang="en-US" sz="1200" b="1" dirty="0">
              <a:latin typeface="Albert Sans" panose="020B0604020202020204" charset="0"/>
            </a:endParaRP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Dataset is available at 13.8GB of total size, which enable easy development.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each state has both visual (screenshot) and structural (DOM / HTML) information  enabling agents to reason both visually (what user sees) and precisely (which element to click).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Most benchmarks use this dataset, which leads better comparability.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9D15B2-6593-FEF4-C25C-AC4A09364A57}"/>
              </a:ext>
            </a:extLst>
          </p:cNvPr>
          <p:cNvSpPr txBox="1"/>
          <p:nvPr/>
        </p:nvSpPr>
        <p:spPr>
          <a:xfrm>
            <a:off x="715097" y="4833425"/>
            <a:ext cx="49043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/>
              <a:t>Source: [ 5 ]</a:t>
            </a:r>
            <a:endParaRPr lang="en-IN" sz="800" i="1" dirty="0"/>
          </a:p>
        </p:txBody>
      </p:sp>
    </p:spTree>
    <p:extLst>
      <p:ext uri="{BB962C8B-B14F-4D97-AF65-F5344CB8AC3E}">
        <p14:creationId xmlns:p14="http://schemas.microsoft.com/office/powerpoint/2010/main" val="39872955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p6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dirty="0" err="1"/>
              <a:t>SeeAct</a:t>
            </a:r>
            <a:r>
              <a:rPr lang="en-IN" dirty="0"/>
              <a:t>: Architecture &amp; Implementation</a:t>
            </a:r>
            <a:endParaRPr dirty="0"/>
          </a:p>
        </p:txBody>
      </p:sp>
      <p:sp>
        <p:nvSpPr>
          <p:cNvPr id="509" name="Google Shape;509;p61"/>
          <p:cNvSpPr/>
          <p:nvPr/>
        </p:nvSpPr>
        <p:spPr>
          <a:xfrm>
            <a:off x="732359" y="1444799"/>
            <a:ext cx="120900" cy="120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0" name="Google Shape;510;p61"/>
          <p:cNvSpPr txBox="1"/>
          <p:nvPr/>
        </p:nvSpPr>
        <p:spPr>
          <a:xfrm>
            <a:off x="988408" y="1345388"/>
            <a:ext cx="4845505" cy="748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1200" b="1" dirty="0">
                <a:latin typeface="Albert Sans" panose="020B0604020202020204" charset="0"/>
              </a:rPr>
              <a:t>Action Generation</a:t>
            </a:r>
            <a:r>
              <a:rPr lang="en-IN" sz="1200" dirty="0">
                <a:latin typeface="Albert Sans" panose="020B0604020202020204" charset="0"/>
              </a:rPr>
              <a:t> (LMM)</a:t>
            </a:r>
            <a:r>
              <a:rPr lang="en-US" sz="1200" dirty="0">
                <a:solidFill>
                  <a:schemeClr val="dk1"/>
                </a:solidFill>
                <a:latin typeface="Albert Sans" panose="020B0604020202020204" charset="0"/>
                <a:ea typeface="Alexandria Medium"/>
                <a:cs typeface="Alexandria Medium"/>
                <a:sym typeface="Alexandria Medium"/>
              </a:rPr>
              <a:t>: Given the current screenshot + task + history to model which return a textual action description for action.</a:t>
            </a:r>
          </a:p>
        </p:txBody>
      </p:sp>
      <p:sp>
        <p:nvSpPr>
          <p:cNvPr id="511" name="Google Shape;511;p61"/>
          <p:cNvSpPr/>
          <p:nvPr/>
        </p:nvSpPr>
        <p:spPr>
          <a:xfrm>
            <a:off x="732359" y="2307391"/>
            <a:ext cx="120900" cy="120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2" name="Google Shape;512;p61"/>
          <p:cNvSpPr txBox="1"/>
          <p:nvPr/>
        </p:nvSpPr>
        <p:spPr>
          <a:xfrm>
            <a:off x="988407" y="2191525"/>
            <a:ext cx="4845506" cy="748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1200" b="1" dirty="0">
                <a:latin typeface="Albert Sans" panose="020B0604020202020204" charset="0"/>
              </a:rPr>
              <a:t>Action Grounding</a:t>
            </a:r>
            <a:r>
              <a:rPr lang="en-IN" sz="1200" dirty="0">
                <a:latin typeface="Albert Sans" panose="020B0604020202020204" charset="0"/>
              </a:rPr>
              <a:t>:</a:t>
            </a:r>
            <a:r>
              <a:rPr lang="en-IN" sz="1200" dirty="0">
                <a:solidFill>
                  <a:schemeClr val="dk1"/>
                </a:solidFill>
                <a:latin typeface="Albert Sans" panose="020B0604020202020204" charset="0"/>
                <a:ea typeface="Alexandria Medium"/>
                <a:cs typeface="Alexandria Medium"/>
                <a:sym typeface="Alexandria Medium"/>
              </a:rPr>
              <a:t> </a:t>
            </a:r>
            <a:r>
              <a:rPr lang="en-US" sz="1200" dirty="0">
                <a:solidFill>
                  <a:schemeClr val="dk1"/>
                </a:solidFill>
                <a:latin typeface="Albert Sans" panose="020B0604020202020204" charset="0"/>
                <a:ea typeface="Alexandria Medium"/>
                <a:cs typeface="Alexandria Medium"/>
                <a:sym typeface="Alexandria Medium"/>
              </a:rPr>
              <a:t>Map textual description to actual DOM element + operation (click / type / select) by heuristic ranking of DOM elements.</a:t>
            </a:r>
            <a:endParaRPr lang="en-IN" sz="1200" dirty="0">
              <a:solidFill>
                <a:schemeClr val="dk1"/>
              </a:solidFill>
              <a:latin typeface="Albert Sans" panose="020B0604020202020204" charset="0"/>
              <a:ea typeface="Alexandria Medium"/>
              <a:cs typeface="Alexandria Medium"/>
              <a:sym typeface="Alexandria Medium"/>
            </a:endParaRPr>
          </a:p>
        </p:txBody>
      </p:sp>
      <p:sp>
        <p:nvSpPr>
          <p:cNvPr id="513" name="Google Shape;513;p61"/>
          <p:cNvSpPr/>
          <p:nvPr/>
        </p:nvSpPr>
        <p:spPr>
          <a:xfrm>
            <a:off x="732359" y="3169983"/>
            <a:ext cx="120900" cy="1209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4" name="Google Shape;514;p61"/>
          <p:cNvSpPr txBox="1"/>
          <p:nvPr/>
        </p:nvSpPr>
        <p:spPr>
          <a:xfrm>
            <a:off x="988407" y="3037663"/>
            <a:ext cx="4845508" cy="748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IN" sz="1200" b="1" dirty="0">
                <a:latin typeface="Albert Sans" panose="020B0604020202020204" charset="0"/>
              </a:rPr>
              <a:t>Browser Execution</a:t>
            </a:r>
            <a:r>
              <a:rPr lang="en-IN" sz="1200" dirty="0">
                <a:latin typeface="Albert Sans" panose="020B0604020202020204" charset="0"/>
              </a:rPr>
              <a:t>:</a:t>
            </a:r>
            <a:r>
              <a:rPr lang="en-US" sz="1200" dirty="0">
                <a:solidFill>
                  <a:schemeClr val="dk1"/>
                </a:solidFill>
                <a:latin typeface="Albert Sans" panose="020B0604020202020204" charset="0"/>
                <a:ea typeface="Alexandria Medium"/>
                <a:cs typeface="Alexandria Medium"/>
                <a:sym typeface="Alexandria Medium"/>
              </a:rPr>
              <a:t>  Use automation (via Playwright / browser engine) to execute the action. Webpage updates and we get new screenshot + DOM.</a:t>
            </a:r>
          </a:p>
        </p:txBody>
      </p:sp>
      <p:cxnSp>
        <p:nvCxnSpPr>
          <p:cNvPr id="523" name="Google Shape;523;p61"/>
          <p:cNvCxnSpPr>
            <a:cxnSpLocks/>
            <a:stCxn id="509" idx="2"/>
            <a:endCxn id="511" idx="0"/>
          </p:cNvCxnSpPr>
          <p:nvPr/>
        </p:nvCxnSpPr>
        <p:spPr>
          <a:xfrm>
            <a:off x="792809" y="1565699"/>
            <a:ext cx="0" cy="74169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24" name="Google Shape;524;p61"/>
          <p:cNvCxnSpPr>
            <a:cxnSpLocks/>
            <a:stCxn id="511" idx="2"/>
            <a:endCxn id="513" idx="0"/>
          </p:cNvCxnSpPr>
          <p:nvPr/>
        </p:nvCxnSpPr>
        <p:spPr>
          <a:xfrm>
            <a:off x="792809" y="2428291"/>
            <a:ext cx="0" cy="741692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pic>
        <p:nvPicPr>
          <p:cNvPr id="3" name="Picture 2" descr="A diagram of a diagram&#10;&#10;AI-generated content may be incorrect.">
            <a:extLst>
              <a:ext uri="{FF2B5EF4-FFF2-40B4-BE49-F238E27FC236}">
                <a16:creationId xmlns:a16="http://schemas.microsoft.com/office/drawing/2014/main" id="{325B3A7B-7B92-84EF-E63E-A8EFB2CC7D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4362" y="1035227"/>
            <a:ext cx="2384469" cy="40649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7CAE38D-7E35-A58E-5C51-8CC7705B6404}"/>
              </a:ext>
            </a:extLst>
          </p:cNvPr>
          <p:cNvSpPr txBox="1"/>
          <p:nvPr/>
        </p:nvSpPr>
        <p:spPr>
          <a:xfrm>
            <a:off x="715097" y="4833425"/>
            <a:ext cx="49043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/>
              <a:t>Source: [ 5 ]</a:t>
            </a:r>
            <a:endParaRPr lang="en-IN" sz="800" i="1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4D8A5641-5BE9-1B5B-8D01-0B7A43F6F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0A4B6A29-F018-BB3C-CF10-245A855388D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dirty="0" err="1"/>
              <a:t>SeeAct</a:t>
            </a:r>
            <a:r>
              <a:rPr lang="en-IN" dirty="0"/>
              <a:t>: Methodology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C76E7DC2-23A2-61B8-CB22-3A1DD14CFC5E}"/>
              </a:ext>
            </a:extLst>
          </p:cNvPr>
          <p:cNvSpPr txBox="1">
            <a:spLocks/>
          </p:cNvSpPr>
          <p:nvPr/>
        </p:nvSpPr>
        <p:spPr>
          <a:xfrm>
            <a:off x="715098" y="1262728"/>
            <a:ext cx="7886207" cy="33457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1" algn="just"/>
            <a:r>
              <a:rPr lang="en-US" sz="1200" i="1" dirty="0">
                <a:latin typeface="Albert Sans" panose="020B0604020202020204" charset="0"/>
              </a:rPr>
              <a:t>Paper-Title: GPT-4V(ision) is a Generalist Web Agent, if Grounded</a:t>
            </a:r>
          </a:p>
          <a:p>
            <a:pPr lvl="1" algn="just"/>
            <a:endParaRPr lang="en-US" sz="1200" dirty="0">
              <a:latin typeface="Albert Sans" panose="020B0604020202020204" charset="0"/>
            </a:endParaRPr>
          </a:p>
          <a:p>
            <a:pPr lvl="1" algn="just"/>
            <a:r>
              <a:rPr lang="en-IN" sz="1200" b="1" dirty="0">
                <a:latin typeface="Albert Sans" panose="020B0604020202020204" charset="0"/>
              </a:rPr>
              <a:t>Action Generation: </a:t>
            </a:r>
            <a:r>
              <a:rPr lang="en-US" sz="1200" dirty="0">
                <a:latin typeface="Albert Sans" panose="020B0604020202020204" charset="0"/>
              </a:rPr>
              <a:t>SeeAct uses a large multimodal model (LMM), primarily GPT-4V(ision).</a:t>
            </a:r>
          </a:p>
          <a:p>
            <a:pPr marL="285750" lvl="8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Screenshot image (visual input), The task description (natural language) and History of previous actions (what has already been done) given to the model.</a:t>
            </a:r>
          </a:p>
          <a:p>
            <a:pPr lvl="8" algn="just"/>
            <a:endParaRPr lang="en-IN" sz="1200" b="1" dirty="0">
              <a:latin typeface="Albert Sans" panose="020B0604020202020204" charset="0"/>
            </a:endParaRPr>
          </a:p>
          <a:p>
            <a:pPr lvl="8" algn="just"/>
            <a:r>
              <a:rPr lang="en-IN" sz="1200" b="1" dirty="0">
                <a:latin typeface="Albert Sans" panose="020B0604020202020204" charset="0"/>
              </a:rPr>
              <a:t>Action Grounding: </a:t>
            </a:r>
            <a:r>
              <a:rPr lang="en-US" sz="1200" dirty="0">
                <a:latin typeface="Albert Sans" panose="020B0604020202020204" charset="0"/>
              </a:rPr>
              <a:t>SeeAct uses </a:t>
            </a:r>
            <a:r>
              <a:rPr lang="en-US" sz="1200" dirty="0" err="1">
                <a:latin typeface="Albert Sans" panose="020B0604020202020204" charset="0"/>
              </a:rPr>
              <a:t>DeBERTa</a:t>
            </a:r>
            <a:r>
              <a:rPr lang="en-US" sz="1200" dirty="0">
                <a:latin typeface="Albert Sans" panose="020B0604020202020204" charset="0"/>
              </a:rPr>
              <a:t> model for grounding with cross-encoder variant, meaning: given a pair of (query, candidate element representation), the model outputs a score representing how likely that candidate is relevant to the query (i.e. the next action).</a:t>
            </a:r>
          </a:p>
          <a:p>
            <a:pPr marL="285750" lvl="8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Practically: “query” could be some features derived from the textual intention (e.g. “I want to click the button that says ‘Search’”), candidate element = some DOM element represented by its HTML metadata (tag, text content, attributes). The cross-encoder concatenates both and outputs a relevance score.</a:t>
            </a:r>
          </a:p>
          <a:p>
            <a:pPr marL="285750" lvl="8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They use this to rank all DOM elements and choose top-50 for grounding module. This greatly reduces complexity compared to considering full DOM.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9DF7212-6A8B-A773-F682-37F1D076FF1A}"/>
              </a:ext>
            </a:extLst>
          </p:cNvPr>
          <p:cNvSpPr txBox="1"/>
          <p:nvPr/>
        </p:nvSpPr>
        <p:spPr>
          <a:xfrm>
            <a:off x="715097" y="4833425"/>
            <a:ext cx="49043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/>
              <a:t>Source: [ 5 ]</a:t>
            </a:r>
            <a:endParaRPr lang="en-IN" sz="800" i="1" dirty="0"/>
          </a:p>
        </p:txBody>
      </p:sp>
    </p:spTree>
    <p:extLst>
      <p:ext uri="{BB962C8B-B14F-4D97-AF65-F5344CB8AC3E}">
        <p14:creationId xmlns:p14="http://schemas.microsoft.com/office/powerpoint/2010/main" val="1151346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76E23E80-7D20-8648-5123-6E7D3BF50E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6D8CC630-7FE9-A4F4-B503-A0B4D2333D2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dirty="0" err="1"/>
              <a:t>SeeAct</a:t>
            </a:r>
            <a:r>
              <a:rPr lang="en-IN" dirty="0"/>
              <a:t>: Grounding Methods</a:t>
            </a:r>
            <a:endParaRPr dirty="0"/>
          </a:p>
        </p:txBody>
      </p:sp>
      <p:graphicFrame>
        <p:nvGraphicFramePr>
          <p:cNvPr id="3" name="Google Shape;198;p36">
            <a:extLst>
              <a:ext uri="{FF2B5EF4-FFF2-40B4-BE49-F238E27FC236}">
                <a16:creationId xmlns:a16="http://schemas.microsoft.com/office/drawing/2014/main" id="{E281971D-C15A-C8C0-8D51-EB1797AD50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63629332"/>
              </p:ext>
            </p:extLst>
          </p:nvPr>
        </p:nvGraphicFramePr>
        <p:xfrm>
          <a:off x="714999" y="1083701"/>
          <a:ext cx="7886207" cy="3406522"/>
        </p:xfrm>
        <a:graphic>
          <a:graphicData uri="http://schemas.openxmlformats.org/drawingml/2006/table">
            <a:tbl>
              <a:tblPr firstRow="1" bandRow="1">
                <a:tableStyleId>{17292A2E-F333-43FB-9621-5CBBE7FDCDCB}</a:tableStyleId>
              </a:tblPr>
              <a:tblGrid>
                <a:gridCol w="1767949">
                  <a:extLst>
                    <a:ext uri="{9D8B030D-6E8A-4147-A177-3AD203B41FA5}">
                      <a16:colId xmlns:a16="http://schemas.microsoft.com/office/drawing/2014/main" val="493164284"/>
                    </a:ext>
                  </a:extLst>
                </a:gridCol>
                <a:gridCol w="3664634">
                  <a:extLst>
                    <a:ext uri="{9D8B030D-6E8A-4147-A177-3AD203B41FA5}">
                      <a16:colId xmlns:a16="http://schemas.microsoft.com/office/drawing/2014/main" val="1205680258"/>
                    </a:ext>
                  </a:extLst>
                </a:gridCol>
                <a:gridCol w="2453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826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What model asks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How grounding works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5636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latin typeface="Albert Sans" panose="020B0604020202020204" charset="0"/>
                        </a:rPr>
                        <a:t>Element Attributes</a:t>
                      </a:r>
                      <a:endParaRPr lang="en-IN" sz="1200" dirty="0">
                        <a:latin typeface="Albert Sans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Ask LMM to output type + visible text + detailed description of target element (e.g. “button labeled ‘Search’ near top-right”)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Heuristic match over DOM: search for element(s) with that type + text; if unique → select; if ambiguous → further prompt.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5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 dirty="0">
                          <a:latin typeface="Albert Sans" panose="020B0604020202020204" charset="0"/>
                        </a:rPr>
                        <a:t>Textual Choices</a:t>
                      </a:r>
                      <a:endParaRPr lang="en-IN" sz="1200" dirty="0">
                        <a:latin typeface="Albert Sans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Provide candidate list (top-50) as multi-choice options (HTML snippet + text) to LMM; ask: “Which element corresponds to your intended target?”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LLM picks one choice (or “None”). This directly yields element. Best among automatic methods.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45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1">
                          <a:latin typeface="Albert Sans" panose="020B0604020202020204" charset="0"/>
                        </a:rPr>
                        <a:t>Image </a:t>
                      </a:r>
                      <a:r>
                        <a:rPr lang="en-IN" sz="1200" b="1" dirty="0">
                          <a:latin typeface="Albert Sans" panose="020B0604020202020204" charset="0"/>
                        </a:rPr>
                        <a:t>Annotation</a:t>
                      </a:r>
                      <a:endParaRPr lang="en-IN" sz="1200" dirty="0">
                        <a:latin typeface="Albert Sans" panose="020B0604020202020204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Overlay bounding boxes (or numbered labels) on the </a:t>
                      </a:r>
                      <a:r>
                        <a:rPr lang="en-US" sz="1200" b="0" dirty="0">
                          <a:latin typeface="Albert Sans" panose="020B0604020202020204" charset="0"/>
                        </a:rPr>
                        <a:t>screenshot image</a:t>
                      </a:r>
                      <a:r>
                        <a:rPr lang="en-US" sz="1200" dirty="0">
                          <a:latin typeface="Albert Sans" panose="020B0604020202020204" charset="0"/>
                        </a:rPr>
                        <a:t>, corresponding to candidate elements. feed annotated image + textual plan to LMM; ask it to output label/box number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The box number indicates which element to act upon. This tries to use visual alignment.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91898498"/>
                  </a:ext>
                </a:extLst>
              </a:tr>
            </a:tbl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26CD6268-67DB-D521-E5C6-DD3C57921736}"/>
              </a:ext>
            </a:extLst>
          </p:cNvPr>
          <p:cNvSpPr txBox="1"/>
          <p:nvPr/>
        </p:nvSpPr>
        <p:spPr>
          <a:xfrm>
            <a:off x="715097" y="4833425"/>
            <a:ext cx="49043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/>
              <a:t>Source: [ 5 ]</a:t>
            </a:r>
            <a:endParaRPr lang="en-IN" sz="800" i="1" dirty="0"/>
          </a:p>
        </p:txBody>
      </p:sp>
    </p:spTree>
    <p:extLst>
      <p:ext uri="{BB962C8B-B14F-4D97-AF65-F5344CB8AC3E}">
        <p14:creationId xmlns:p14="http://schemas.microsoft.com/office/powerpoint/2010/main" val="25980065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CC6C04E4-1B22-F022-58C5-D6821FBF7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EE3B0B8E-AD9C-A707-B36F-14397D3C60F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SeeAct: Evaluation Strategy </a:t>
            </a:r>
            <a:r>
              <a:rPr lang="en-IN" dirty="0"/>
              <a:t>&amp; Metrics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771C49D8-61C1-2E37-4844-623EDCE3FB8D}"/>
              </a:ext>
            </a:extLst>
          </p:cNvPr>
          <p:cNvSpPr txBox="1">
            <a:spLocks/>
          </p:cNvSpPr>
          <p:nvPr/>
        </p:nvSpPr>
        <p:spPr>
          <a:xfrm>
            <a:off x="715098" y="1262727"/>
            <a:ext cx="7886207" cy="334577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1" algn="just"/>
            <a:r>
              <a:rPr lang="en-US" sz="1200" b="1" dirty="0">
                <a:latin typeface="Albert Sans" panose="020B0604020202020204" charset="0"/>
              </a:rPr>
              <a:t>Two evaluation settings: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i="1" dirty="0">
                <a:latin typeface="Albert Sans" panose="020B0604020202020204" charset="0"/>
              </a:rPr>
              <a:t>Offline evaluation:</a:t>
            </a:r>
            <a:r>
              <a:rPr lang="en-US" sz="1200" dirty="0">
                <a:latin typeface="Albert Sans" panose="020B0604020202020204" charset="0"/>
              </a:rPr>
              <a:t> on webpages and state-action directly from the dataset (Multimodal‑Mind2Web). 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i="1" dirty="0">
                <a:latin typeface="Albert Sans" panose="020B0604020202020204" charset="0"/>
              </a:rPr>
              <a:t>Online evaluation:</a:t>
            </a:r>
            <a:r>
              <a:rPr lang="en-US" sz="1200" dirty="0">
                <a:latin typeface="Albert Sans" panose="020B0604020202020204" charset="0"/>
              </a:rPr>
              <a:t> running the agent on live websites through a browser automation tool (Playwright) to check real-world behavior. 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endParaRPr lang="en-US" sz="1200" dirty="0">
              <a:latin typeface="Albert Sans" panose="020B0604020202020204" charset="0"/>
            </a:endParaRPr>
          </a:p>
          <a:p>
            <a:pPr lvl="1" algn="just"/>
            <a:r>
              <a:rPr lang="en-US" sz="1200" b="1" dirty="0">
                <a:latin typeface="Albert Sans" panose="020B0604020202020204" charset="0"/>
              </a:rPr>
              <a:t>Step-level Metrics :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Element Accuracy: Did the agent pick the correct HTML element vs ground-truth? 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Operation F1: Token-level F1 score of the predicted operation compared to ground truth. 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Step Success Rate: A step is successful only if both element selection and operation are correct. Macro-averaged across tasks. 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endParaRPr lang="en-US" sz="1200" dirty="0">
              <a:latin typeface="Albert Sans" panose="020B0604020202020204" charset="0"/>
            </a:endParaRPr>
          </a:p>
          <a:p>
            <a:pPr lvl="1" algn="just"/>
            <a:r>
              <a:rPr lang="en-US" sz="1200" b="1" dirty="0">
                <a:latin typeface="Albert Sans" panose="020B0604020202020204" charset="0"/>
              </a:rPr>
              <a:t>Task-level Metric: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Task Success Rate: A full task is counted successful only if final outcome achieved. (Strict: no step-error tolerated).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3FFD745-C60A-376A-FCCA-585984358EBC}"/>
              </a:ext>
            </a:extLst>
          </p:cNvPr>
          <p:cNvSpPr txBox="1"/>
          <p:nvPr/>
        </p:nvSpPr>
        <p:spPr>
          <a:xfrm>
            <a:off x="715097" y="4833425"/>
            <a:ext cx="49043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/>
              <a:t>Source: [ 5 ]</a:t>
            </a:r>
            <a:endParaRPr lang="en-IN" sz="800" i="1" dirty="0"/>
          </a:p>
        </p:txBody>
      </p:sp>
    </p:spTree>
    <p:extLst>
      <p:ext uri="{BB962C8B-B14F-4D97-AF65-F5344CB8AC3E}">
        <p14:creationId xmlns:p14="http://schemas.microsoft.com/office/powerpoint/2010/main" val="37535401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737D046B-1392-8028-A4D2-E0264B466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D878EBCA-DDC7-C70B-AD85-33DC3F75E7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SeeAct: Evaluation Strategy </a:t>
            </a:r>
            <a:r>
              <a:rPr lang="en-IN" dirty="0"/>
              <a:t>&amp; Metrics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89F4243D-04F5-AE65-5D8B-B5C6AB0C006A}"/>
              </a:ext>
            </a:extLst>
          </p:cNvPr>
          <p:cNvSpPr txBox="1">
            <a:spLocks/>
          </p:cNvSpPr>
          <p:nvPr/>
        </p:nvSpPr>
        <p:spPr>
          <a:xfrm>
            <a:off x="715098" y="1262727"/>
            <a:ext cx="7886207" cy="119208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Online (Live) Task Success: measure the proportion of tasks the agent fully completes under real conditions. Example: with oracle grounding, SeeAct achieves ~51.1% success on live websites. 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dirty="0">
                <a:latin typeface="Albert Sans" panose="020B0604020202020204" charset="0"/>
              </a:rPr>
              <a:t>Why multiple metrics: Step-level metrics (Ele. Acc, Op. F1, Step SR) allow diagnosing where failures happen (wrong click, wrong type, wrong element). The Task-level success rate tests real end-to-end performance that whether the agent actually accomplishes full user-specified tasks.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51A15FD-BF09-F0AE-B3B0-A06FDD265DD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350079"/>
              </p:ext>
            </p:extLst>
          </p:nvPr>
        </p:nvGraphicFramePr>
        <p:xfrm>
          <a:off x="715097" y="2571750"/>
          <a:ext cx="7886206" cy="2011680"/>
        </p:xfrm>
        <a:graphic>
          <a:graphicData uri="http://schemas.openxmlformats.org/drawingml/2006/table">
            <a:tbl>
              <a:tblPr firstRow="1" bandRow="1">
                <a:tableStyleId>{ED083AE6-46FA-4A59-8FB0-9F97EB10719F}</a:tableStyleId>
              </a:tblPr>
              <a:tblGrid>
                <a:gridCol w="3943103">
                  <a:extLst>
                    <a:ext uri="{9D8B030D-6E8A-4147-A177-3AD203B41FA5}">
                      <a16:colId xmlns:a16="http://schemas.microsoft.com/office/drawing/2014/main" val="1722319510"/>
                    </a:ext>
                  </a:extLst>
                </a:gridCol>
                <a:gridCol w="3943103">
                  <a:extLst>
                    <a:ext uri="{9D8B030D-6E8A-4147-A177-3AD203B41FA5}">
                      <a16:colId xmlns:a16="http://schemas.microsoft.com/office/drawing/2014/main" val="3442246916"/>
                    </a:ext>
                  </a:extLst>
                </a:gridCol>
              </a:tblGrid>
              <a:tr h="21659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Metric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Purpose / What it measures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36535127"/>
                  </a:ext>
                </a:extLst>
              </a:tr>
              <a:tr h="189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Element Accuracy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Albert Sans" panose="020B0604020202020204" charset="0"/>
                        </a:rPr>
                        <a:t>Correctness of element selection (which DOM node)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0503952"/>
                  </a:ext>
                </a:extLst>
              </a:tr>
              <a:tr h="3032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Operation F1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Albert Sans" panose="020B0604020202020204" charset="0"/>
                        </a:rPr>
                        <a:t>Correctness of action type &amp; input value (click, type, select + typed value)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82016037"/>
                  </a:ext>
                </a:extLst>
              </a:tr>
              <a:tr h="3032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Step Success 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Overall correctness of each action step (element + operation)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3228834"/>
                  </a:ext>
                </a:extLst>
              </a:tr>
              <a:tr h="189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Task Success Rate (SR)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Whether task defined goal </a:t>
                      </a:r>
                      <a:r>
                        <a:rPr lang="en-US" sz="1200" dirty="0" err="1">
                          <a:latin typeface="Albert Sans" panose="020B0604020202020204" charset="0"/>
                        </a:rPr>
                        <a:t>achive</a:t>
                      </a:r>
                      <a:endParaRPr lang="en-US" sz="1200" dirty="0">
                        <a:latin typeface="Albert Sans" panose="020B0604020202020204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93115190"/>
                  </a:ext>
                </a:extLst>
              </a:tr>
              <a:tr h="18988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latin typeface="Albert Sans" panose="020B0604020202020204" charset="0"/>
                        </a:rPr>
                        <a:t>Online Task Success (Live)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>
                          <a:latin typeface="Albert Sans" panose="020B0604020202020204" charset="0"/>
                        </a:rPr>
                        <a:t>Real-world success executing on live websites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6963895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C4D4CD4-C25E-5E22-5B4D-10CBEB53B206}"/>
              </a:ext>
            </a:extLst>
          </p:cNvPr>
          <p:cNvSpPr txBox="1"/>
          <p:nvPr/>
        </p:nvSpPr>
        <p:spPr>
          <a:xfrm>
            <a:off x="715097" y="4833425"/>
            <a:ext cx="49043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/>
              <a:t>Source: [ 5 ]</a:t>
            </a:r>
            <a:endParaRPr lang="en-IN" sz="800" i="1" dirty="0"/>
          </a:p>
        </p:txBody>
      </p:sp>
    </p:spTree>
    <p:extLst>
      <p:ext uri="{BB962C8B-B14F-4D97-AF65-F5344CB8AC3E}">
        <p14:creationId xmlns:p14="http://schemas.microsoft.com/office/powerpoint/2010/main" val="9222496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48"/>
          <p:cNvSpPr txBox="1">
            <a:spLocks noGrp="1"/>
          </p:cNvSpPr>
          <p:nvPr>
            <p:ph type="subTitle" idx="1"/>
          </p:nvPr>
        </p:nvSpPr>
        <p:spPr>
          <a:xfrm>
            <a:off x="715100" y="1558334"/>
            <a:ext cx="3717074" cy="305016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With oracle grounding (i.e. perfect element mapping), GPT-4V + SeeAct achieves ~51.1% success rate on live websites (end-to-end tasks). </a:t>
            </a:r>
          </a:p>
          <a:p>
            <a:pPr marL="171450" lvl="0" indent="-1714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Demonstrates that vision + language multimodal models are viable as generalist web agents — outperforming text-only models.</a:t>
            </a:r>
          </a:p>
          <a:p>
            <a:pPr marL="171450" lvl="0" indent="-1714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Enables agentic planning, page-reasoning, handling multi-step workflows across diverse, real-world websites.</a:t>
            </a:r>
            <a:endParaRPr dirty="0"/>
          </a:p>
        </p:txBody>
      </p:sp>
      <p:sp>
        <p:nvSpPr>
          <p:cNvPr id="356" name="Google Shape;356;p4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IN" dirty="0" err="1"/>
              <a:t>SeeAct</a:t>
            </a:r>
            <a:r>
              <a:rPr lang="en-IN" dirty="0"/>
              <a:t>: Results, Challenges &amp; Limitations</a:t>
            </a:r>
            <a:endParaRPr lang="en-US" dirty="0"/>
          </a:p>
        </p:txBody>
      </p:sp>
      <p:sp>
        <p:nvSpPr>
          <p:cNvPr id="358" name="Google Shape;358;p48"/>
          <p:cNvSpPr txBox="1">
            <a:spLocks noGrp="1"/>
          </p:cNvSpPr>
          <p:nvPr>
            <p:ph type="subTitle" idx="3"/>
          </p:nvPr>
        </p:nvSpPr>
        <p:spPr>
          <a:xfrm>
            <a:off x="715100" y="1085834"/>
            <a:ext cx="3717074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just"/>
            <a:r>
              <a:rPr lang="en-IN" dirty="0"/>
              <a:t>Strengths </a:t>
            </a:r>
            <a:endParaRPr dirty="0"/>
          </a:p>
        </p:txBody>
      </p:sp>
      <p:sp>
        <p:nvSpPr>
          <p:cNvPr id="360" name="Google Shape;360;p48"/>
          <p:cNvSpPr txBox="1">
            <a:spLocks noGrp="1"/>
          </p:cNvSpPr>
          <p:nvPr>
            <p:ph type="subTitle" idx="5"/>
          </p:nvPr>
        </p:nvSpPr>
        <p:spPr>
          <a:xfrm>
            <a:off x="4571999" y="1556199"/>
            <a:ext cx="3717074" cy="30501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71450" lvl="0" indent="-171450" algn="just">
              <a:buFont typeface="Arial" panose="020B0604020202020204" pitchFamily="34" charset="0"/>
              <a:buChar char="•"/>
            </a:pPr>
            <a:r>
              <a:rPr lang="en-US" dirty="0"/>
              <a:t>Grounding (element localization) remains major bottleneck , SeeAct use heuristic grounding which create bottleneck.</a:t>
            </a:r>
          </a:p>
          <a:p>
            <a:pPr marL="171450" lvl="0" indent="-1714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Visual grounding methods (e.g. bounding boxes) struggle on complex, dense web layouts — hallucination, mis-alignment, ambiguous elements. </a:t>
            </a:r>
          </a:p>
          <a:p>
            <a:pPr marL="171450" lvl="0" indent="-171450" algn="just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dirty="0"/>
              <a:t>Many real-world UI challenges remain: dynamic content, pop-ups, JS-heavy interactions, complex widgets (scroll, hover, drag, modals). </a:t>
            </a:r>
            <a:r>
              <a:rPr lang="en-US" dirty="0" err="1"/>
              <a:t>SeeAct’s</a:t>
            </a:r>
            <a:r>
              <a:rPr lang="en-US" dirty="0"/>
              <a:t> action set is limited (click/type/select).</a:t>
            </a:r>
          </a:p>
        </p:txBody>
      </p:sp>
      <p:sp>
        <p:nvSpPr>
          <p:cNvPr id="362" name="Google Shape;362;p48"/>
          <p:cNvSpPr txBox="1">
            <a:spLocks noGrp="1"/>
          </p:cNvSpPr>
          <p:nvPr>
            <p:ph type="subTitle" idx="7"/>
          </p:nvPr>
        </p:nvSpPr>
        <p:spPr>
          <a:xfrm>
            <a:off x="4572000" y="1083700"/>
            <a:ext cx="3717074" cy="548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just"/>
            <a:r>
              <a:rPr lang="en-IN" dirty="0"/>
              <a:t>Limitations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9492B2-7AB7-2E6E-5F9E-E52CB38FC6D4}"/>
              </a:ext>
            </a:extLst>
          </p:cNvPr>
          <p:cNvSpPr txBox="1"/>
          <p:nvPr/>
        </p:nvSpPr>
        <p:spPr>
          <a:xfrm>
            <a:off x="715097" y="4833425"/>
            <a:ext cx="49043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/>
              <a:t>Source: [ 5 ]</a:t>
            </a:r>
            <a:endParaRPr lang="en-IN" sz="800" i="1" dirty="0"/>
          </a:p>
        </p:txBody>
      </p:sp>
    </p:spTree>
    <p:extLst>
      <p:ext uri="{BB962C8B-B14F-4D97-AF65-F5344CB8AC3E}">
        <p14:creationId xmlns:p14="http://schemas.microsoft.com/office/powerpoint/2010/main" val="16232830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578F9954-5193-2B2D-B5EB-2D45BF692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E3B828B7-0954-22F8-D18B-B4045FDB15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Novelty and Proposed Work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F9A2E51D-CEB4-9C1A-C7BE-2F9134B13073}"/>
              </a:ext>
            </a:extLst>
          </p:cNvPr>
          <p:cNvSpPr txBox="1">
            <a:spLocks/>
          </p:cNvSpPr>
          <p:nvPr/>
        </p:nvSpPr>
        <p:spPr>
          <a:xfrm>
            <a:off x="715098" y="1262728"/>
            <a:ext cx="4708375" cy="33457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Albert Sans" panose="020B0604020202020204" charset="0"/>
              </a:rPr>
              <a:t>Multimodal Input:</a:t>
            </a:r>
            <a:r>
              <a:rPr lang="en-US" sz="1200" dirty="0">
                <a:latin typeface="Albert Sans" panose="020B0604020202020204" charset="0"/>
              </a:rPr>
              <a:t> Combine Screenshot + HTML DOM during model inference to give both visual and structural context.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Albert Sans" panose="020B0604020202020204" charset="0"/>
              </a:rPr>
              <a:t>DOM Summarization:</a:t>
            </a:r>
            <a:r>
              <a:rPr lang="en-US" sz="1200" dirty="0">
                <a:latin typeface="Albert Sans" panose="020B0604020202020204" charset="0"/>
              </a:rPr>
              <a:t> Apply HTML summarization techniques to compress DOM structure so the model receives meaningful, token-efficient input.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Albert Sans" panose="020B0604020202020204" charset="0"/>
              </a:rPr>
              <a:t>Zero-Shot &amp; Few-Shot Prompting:</a:t>
            </a:r>
            <a:r>
              <a:rPr lang="en-US" sz="1200" dirty="0">
                <a:latin typeface="Albert Sans" panose="020B0604020202020204" charset="0"/>
              </a:rPr>
              <a:t> Implement both techniques to test how example-guided prompting improves prediction quality.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Albert Sans" panose="020B0604020202020204" charset="0"/>
              </a:rPr>
              <a:t>Fallback Correction Loop:</a:t>
            </a:r>
            <a:r>
              <a:rPr lang="en-US" sz="1200" dirty="0">
                <a:latin typeface="Albert Sans" panose="020B0604020202020204" charset="0"/>
              </a:rPr>
              <a:t> Detect failures using model confidence + action history.  automatically re-prompt the model to “rethink” the step.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sz="1200" b="1" dirty="0">
                <a:latin typeface="Albert Sans" panose="020B0604020202020204" charset="0"/>
              </a:rPr>
              <a:t>Human-in-the-Loop (HITL):</a:t>
            </a:r>
            <a:r>
              <a:rPr lang="en-US" sz="1200" dirty="0">
                <a:latin typeface="Albert Sans" panose="020B0604020202020204" charset="0"/>
              </a:rPr>
              <a:t> Use confidence thresholds to trigger human confirmation for low-confidence predictions.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F1F99E-C861-6EF5-B0C0-0040AE71C5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3473" y="383864"/>
            <a:ext cx="3622053" cy="43714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8140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578F9954-5193-2B2D-B5EB-2D45BF692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E3B828B7-0954-22F8-D18B-B4045FDB151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Base Paper Implementation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F9A2E51D-CEB4-9C1A-C7BE-2F9134B13073}"/>
              </a:ext>
            </a:extLst>
          </p:cNvPr>
          <p:cNvSpPr txBox="1">
            <a:spLocks/>
          </p:cNvSpPr>
          <p:nvPr/>
        </p:nvSpPr>
        <p:spPr>
          <a:xfrm>
            <a:off x="715098" y="1262728"/>
            <a:ext cx="4708375" cy="33457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latin typeface="Albert Sans" panose="020B0604020202020204" charset="0"/>
              </a:rPr>
              <a:t>Multimodal Min2web Loader:</a:t>
            </a:r>
            <a:r>
              <a:rPr lang="en-US" dirty="0">
                <a:latin typeface="Albert Sans" panose="020B0604020202020204" charset="0"/>
              </a:rPr>
              <a:t> Dataset loader used to load single task or batch of task from the different .parquet files 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latin typeface="Albert Sans" panose="020B0604020202020204" charset="0"/>
              </a:rPr>
              <a:t>Input Preparation:</a:t>
            </a:r>
            <a:r>
              <a:rPr lang="en-US" dirty="0">
                <a:latin typeface="Albert Sans" panose="020B0604020202020204" charset="0"/>
              </a:rPr>
              <a:t> Action Generation required specific input which is provided using input preparation layer.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latin typeface="Albert Sans" panose="020B0604020202020204" charset="0"/>
              </a:rPr>
              <a:t>Action Generation:</a:t>
            </a:r>
            <a:r>
              <a:rPr lang="en-US" dirty="0">
                <a:latin typeface="Albert Sans" panose="020B0604020202020204" charset="0"/>
              </a:rPr>
              <a:t> Core reasoning module. It generate textual step for defined user instruction using MLLM.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latin typeface="Albert Sans" panose="020B0604020202020204" charset="0"/>
              </a:rPr>
              <a:t>Action Grounding:</a:t>
            </a:r>
            <a:r>
              <a:rPr lang="en-US" dirty="0">
                <a:latin typeface="Albert Sans" panose="020B0604020202020204" charset="0"/>
              </a:rPr>
              <a:t> Map predicted plan to actual element using different methods. 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b="1" dirty="0">
                <a:latin typeface="Albert Sans" panose="020B0604020202020204" charset="0"/>
              </a:rPr>
              <a:t>Evaluation:</a:t>
            </a:r>
            <a:r>
              <a:rPr lang="en-US" dirty="0">
                <a:latin typeface="Albert Sans" panose="020B0604020202020204" charset="0"/>
              </a:rPr>
              <a:t> Evaluation used to compare the Outcome and ground truth for further analysis.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F1F99E-C861-6EF5-B0C0-0040AE71C5E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822937" y="187817"/>
            <a:ext cx="2605964" cy="476786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2F1724F-62EF-6AB2-CAE2-E077AAABBC03}"/>
              </a:ext>
            </a:extLst>
          </p:cNvPr>
          <p:cNvSpPr txBox="1"/>
          <p:nvPr/>
        </p:nvSpPr>
        <p:spPr>
          <a:xfrm>
            <a:off x="715097" y="4833425"/>
            <a:ext cx="49043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/>
              <a:t>Source: [ 5 ]</a:t>
            </a:r>
            <a:endParaRPr lang="en-IN" sz="800" i="1" dirty="0"/>
          </a:p>
        </p:txBody>
      </p:sp>
    </p:spTree>
    <p:extLst>
      <p:ext uri="{BB962C8B-B14F-4D97-AF65-F5344CB8AC3E}">
        <p14:creationId xmlns:p14="http://schemas.microsoft.com/office/powerpoint/2010/main" val="152361065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71001CBB-376A-2249-31E8-0A295BDD38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A2012DE2-6523-421B-5C23-F290462B74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Base Paper Results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6028952-31D8-B03D-185D-D31A9C52F87F}"/>
              </a:ext>
            </a:extLst>
          </p:cNvPr>
          <p:cNvSpPr txBox="1"/>
          <p:nvPr/>
        </p:nvSpPr>
        <p:spPr>
          <a:xfrm>
            <a:off x="4571999" y="4361170"/>
            <a:ext cx="49043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i="1" dirty="0"/>
              <a:t>Source: [ 5 ]</a:t>
            </a:r>
            <a:endParaRPr lang="en-IN" sz="800" i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2996763-4AEF-B6ED-1A1B-BE7162CB9C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97" y="1295148"/>
            <a:ext cx="3696750" cy="30058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2AF2885-A4C1-E789-D7B8-0E931F2BC9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1847" y="1295148"/>
            <a:ext cx="4395541" cy="296229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0D15CE3D-4050-C1B9-9D54-369FC338E237}"/>
              </a:ext>
            </a:extLst>
          </p:cNvPr>
          <p:cNvSpPr txBox="1"/>
          <p:nvPr/>
        </p:nvSpPr>
        <p:spPr>
          <a:xfrm>
            <a:off x="630703" y="4361170"/>
            <a:ext cx="24571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800" i="1" dirty="0"/>
              <a:t>Note* : results are generated with low detail mode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85C34D3-5141-20D9-B581-23DE7574ABF2}"/>
              </a:ext>
            </a:extLst>
          </p:cNvPr>
          <p:cNvSpPr txBox="1"/>
          <p:nvPr/>
        </p:nvSpPr>
        <p:spPr>
          <a:xfrm>
            <a:off x="4571999" y="4199587"/>
            <a:ext cx="279243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800" i="1" dirty="0"/>
              <a:t>Note* : results are generated with high detail mode</a:t>
            </a:r>
          </a:p>
        </p:txBody>
      </p:sp>
    </p:spTree>
    <p:extLst>
      <p:ext uri="{BB962C8B-B14F-4D97-AF65-F5344CB8AC3E}">
        <p14:creationId xmlns:p14="http://schemas.microsoft.com/office/powerpoint/2010/main" val="33196658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FE632204-D88C-B3BE-87A6-E73A6BF0A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78FF63ED-B4E2-A0DC-7BAD-A950A9C523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Improvement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46BF4C92-F60F-6751-92C6-B2D686119DC0}"/>
              </a:ext>
            </a:extLst>
          </p:cNvPr>
          <p:cNvSpPr txBox="1">
            <a:spLocks/>
          </p:cNvSpPr>
          <p:nvPr/>
        </p:nvSpPr>
        <p:spPr>
          <a:xfrm>
            <a:off x="715098" y="1262728"/>
            <a:ext cx="4708375" cy="33457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b="1" dirty="0" err="1"/>
              <a:t>PolicyHub</a:t>
            </a:r>
            <a:r>
              <a:rPr lang="en-US" b="1" dirty="0"/>
              <a:t>:</a:t>
            </a:r>
            <a:r>
              <a:rPr lang="en-US" dirty="0"/>
              <a:t> Structured set of safety rules, contain default rules, user can add required rules in policy.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b="1" dirty="0"/>
              <a:t>Risk-based HITL Gate:</a:t>
            </a:r>
            <a:r>
              <a:rPr lang="en-US" dirty="0"/>
              <a:t> Dedicated HITL Gate which filter risky or low confident actions.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b="1" dirty="0"/>
              <a:t>Policy Risk:</a:t>
            </a:r>
            <a:r>
              <a:rPr lang="en-US" dirty="0"/>
              <a:t> Quantify of how risky an action might be according to predefined policies.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b="1" dirty="0"/>
              <a:t>Confidence : </a:t>
            </a:r>
            <a:r>
              <a:rPr lang="en-US" dirty="0"/>
              <a:t>Model confidence to decide whether an action is correct or safe.</a:t>
            </a:r>
            <a:endParaRPr lang="en-US" b="1" dirty="0"/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b="1" dirty="0"/>
              <a:t>Adaptive Grounding:</a:t>
            </a:r>
            <a:r>
              <a:rPr lang="en-US" dirty="0"/>
              <a:t> HITL will block further grounding stage as generator has already planned what to do.</a:t>
            </a:r>
            <a:endParaRPr lang="en-US" dirty="0">
              <a:latin typeface="Albert Sans" panose="020B060402020202020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7777A9E-5E6D-928D-3FC5-98277B89872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05976" y="401591"/>
            <a:ext cx="3248549" cy="4340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4565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A5815895-1759-A8A2-AD38-31ED3C427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97026521-DABD-91B1-8C2D-6C9C4985358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Improvement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9DFFDB74-ABD1-EDC3-2C17-E6DEB560FEE2}"/>
              </a:ext>
            </a:extLst>
          </p:cNvPr>
          <p:cNvSpPr txBox="1">
            <a:spLocks/>
          </p:cNvSpPr>
          <p:nvPr/>
        </p:nvSpPr>
        <p:spPr>
          <a:xfrm>
            <a:off x="715099" y="1083700"/>
            <a:ext cx="3559145" cy="33457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b="1" dirty="0" err="1"/>
              <a:t>SeeAct</a:t>
            </a:r>
            <a:r>
              <a:rPr lang="en-US" b="1" dirty="0"/>
              <a:t>:</a:t>
            </a:r>
          </a:p>
          <a:p>
            <a:pPr lvl="1" algn="just"/>
            <a:endParaRPr lang="en-US" dirty="0"/>
          </a:p>
          <a:p>
            <a:pPr lvl="1" algn="just"/>
            <a:r>
              <a:rPr lang="en-US" dirty="0"/>
              <a:t>at = π(</a:t>
            </a:r>
            <a:r>
              <a:rPr lang="en-US" dirty="0" err="1"/>
              <a:t>st</a:t>
            </a:r>
            <a:r>
              <a:rPr lang="en-US" dirty="0"/>
              <a:t>, T, {a1, a2, ..., at−1})</a:t>
            </a:r>
          </a:p>
          <a:p>
            <a:pPr lvl="1" algn="just"/>
            <a:endParaRPr lang="en-US" dirty="0"/>
          </a:p>
          <a:p>
            <a:pPr lvl="1" algn="just"/>
            <a:r>
              <a:rPr lang="en-US" dirty="0"/>
              <a:t>st+1 = S(at) = {ht+1, it+1} </a:t>
            </a:r>
          </a:p>
          <a:p>
            <a:pPr lvl="1" algn="just"/>
            <a:endParaRPr lang="en-US" dirty="0"/>
          </a:p>
          <a:p>
            <a:pPr lvl="1" algn="just"/>
            <a:endParaRPr lang="en-US" dirty="0"/>
          </a:p>
          <a:p>
            <a:pPr lvl="1" algn="just"/>
            <a:r>
              <a:rPr lang="en-US" sz="1200" dirty="0"/>
              <a:t>Where:</a:t>
            </a:r>
          </a:p>
          <a:p>
            <a:pPr lvl="1" algn="just"/>
            <a:r>
              <a:rPr lang="en-US" sz="1200" dirty="0"/>
              <a:t>at = action at time t</a:t>
            </a:r>
          </a:p>
          <a:p>
            <a:pPr lvl="1" algn="just"/>
            <a:r>
              <a:rPr lang="en-US" sz="1200" dirty="0"/>
              <a:t>s = site specific input (html + image)</a:t>
            </a:r>
          </a:p>
          <a:p>
            <a:pPr lvl="1" algn="just"/>
            <a:r>
              <a:rPr lang="en-US" sz="1200" dirty="0"/>
              <a:t>π = </a:t>
            </a:r>
            <a:r>
              <a:rPr lang="en-US" sz="1200" dirty="0" err="1"/>
              <a:t>Multimodel</a:t>
            </a:r>
            <a:r>
              <a:rPr lang="en-US" sz="1200" dirty="0"/>
              <a:t> LLM</a:t>
            </a:r>
          </a:p>
          <a:p>
            <a:pPr lvl="1" algn="just"/>
            <a:r>
              <a:rPr lang="en-US" sz="1200" dirty="0"/>
              <a:t>T = user defined task</a:t>
            </a:r>
          </a:p>
          <a:p>
            <a:pPr lvl="1" algn="just"/>
            <a:endParaRPr lang="en-US" dirty="0"/>
          </a:p>
        </p:txBody>
      </p:sp>
      <p:sp>
        <p:nvSpPr>
          <p:cNvPr id="2" name="Google Shape;257;p42">
            <a:extLst>
              <a:ext uri="{FF2B5EF4-FFF2-40B4-BE49-F238E27FC236}">
                <a16:creationId xmlns:a16="http://schemas.microsoft.com/office/drawing/2014/main" id="{415987AD-CF04-FD3C-FE78-E3475D5688E0}"/>
              </a:ext>
            </a:extLst>
          </p:cNvPr>
          <p:cNvSpPr txBox="1">
            <a:spLocks/>
          </p:cNvSpPr>
          <p:nvPr/>
        </p:nvSpPr>
        <p:spPr>
          <a:xfrm>
            <a:off x="4869756" y="1083699"/>
            <a:ext cx="3559145" cy="35248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b="1" dirty="0" err="1"/>
              <a:t>Our’s</a:t>
            </a:r>
            <a:r>
              <a:rPr lang="en-US" b="1" dirty="0"/>
              <a:t>:</a:t>
            </a:r>
          </a:p>
          <a:p>
            <a:pPr lvl="1" algn="just"/>
            <a:endParaRPr lang="en-US" dirty="0"/>
          </a:p>
          <a:p>
            <a:pPr lvl="1" algn="just"/>
            <a:r>
              <a:rPr lang="en-US" dirty="0"/>
              <a:t>At = π(</a:t>
            </a:r>
            <a:r>
              <a:rPr lang="en-US" dirty="0" err="1"/>
              <a:t>st</a:t>
            </a:r>
            <a:r>
              <a:rPr lang="en-US" dirty="0"/>
              <a:t>, T, {a1, a2, ..., at−1}, pt)</a:t>
            </a:r>
          </a:p>
          <a:p>
            <a:pPr lvl="1" algn="just"/>
            <a:endParaRPr lang="en-US" dirty="0"/>
          </a:p>
          <a:p>
            <a:pPr lvl="1" algn="just"/>
            <a:r>
              <a:rPr lang="en-US" dirty="0"/>
              <a:t>st+1 = S(at) = {ht+1, it+1}</a:t>
            </a:r>
          </a:p>
          <a:p>
            <a:pPr lvl="1" algn="just"/>
            <a:endParaRPr lang="en-US" dirty="0"/>
          </a:p>
          <a:p>
            <a:pPr lvl="1" algn="just"/>
            <a:r>
              <a:rPr lang="en-US" sz="1200" dirty="0"/>
              <a:t>Where:</a:t>
            </a:r>
          </a:p>
          <a:p>
            <a:pPr lvl="1" algn="just"/>
            <a:r>
              <a:rPr lang="en-US" sz="1200" dirty="0"/>
              <a:t>at = action at time t</a:t>
            </a:r>
          </a:p>
          <a:p>
            <a:pPr lvl="1" algn="just"/>
            <a:r>
              <a:rPr lang="en-US" sz="1200" dirty="0"/>
              <a:t>s = site specific input (html + image)</a:t>
            </a:r>
          </a:p>
          <a:p>
            <a:pPr lvl="1" algn="just"/>
            <a:r>
              <a:rPr lang="en-US" sz="1200" dirty="0"/>
              <a:t>π = </a:t>
            </a:r>
            <a:r>
              <a:rPr lang="en-US" sz="1200" dirty="0" err="1"/>
              <a:t>Multimodel</a:t>
            </a:r>
            <a:r>
              <a:rPr lang="en-US" sz="1200" dirty="0"/>
              <a:t> LLM</a:t>
            </a:r>
          </a:p>
          <a:p>
            <a:pPr lvl="1" algn="just"/>
            <a:r>
              <a:rPr lang="en-US" sz="1200" dirty="0"/>
              <a:t>T = user defined task</a:t>
            </a:r>
          </a:p>
          <a:p>
            <a:pPr lvl="1" algn="just"/>
            <a:r>
              <a:rPr lang="en-US" sz="1200" dirty="0"/>
              <a:t>pt = </a:t>
            </a:r>
            <a:r>
              <a:rPr lang="en-IN" sz="1200" dirty="0"/>
              <a:t>Policy rules</a:t>
            </a:r>
          </a:p>
          <a:p>
            <a:pPr lvl="1" algn="just"/>
            <a:r>
              <a:rPr lang="en-IN" sz="1200" dirty="0"/>
              <a:t>At ∈ (at, c, r, hr)</a:t>
            </a:r>
          </a:p>
          <a:p>
            <a:pPr lvl="1" algn="just"/>
            <a:r>
              <a:rPr lang="en-IN" sz="1200" dirty="0"/>
              <a:t>c = confidence c ∈ [0,100],</a:t>
            </a:r>
          </a:p>
          <a:p>
            <a:pPr lvl="1" algn="just"/>
            <a:r>
              <a:rPr lang="en-IN" sz="1200" dirty="0"/>
              <a:t>r ∈ {0,1},</a:t>
            </a:r>
          </a:p>
          <a:p>
            <a:pPr lvl="1" algn="just"/>
            <a:r>
              <a:rPr lang="en-IN" sz="1200" dirty="0"/>
              <a:t>hr = </a:t>
            </a:r>
            <a:r>
              <a:rPr lang="en-IN" sz="1200" dirty="0" err="1"/>
              <a:t>hitl_reason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66915238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5E48094C-DCB9-140F-0F21-F54D83A905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E6AD072D-BC4D-DF10-CC63-4C08CF2A0C7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Improvement - Algorithm</a:t>
            </a:r>
            <a:endParaRPr dirty="0"/>
          </a:p>
        </p:txBody>
      </p:sp>
      <p:sp>
        <p:nvSpPr>
          <p:cNvPr id="2" name="Google Shape;257;p42">
            <a:extLst>
              <a:ext uri="{FF2B5EF4-FFF2-40B4-BE49-F238E27FC236}">
                <a16:creationId xmlns:a16="http://schemas.microsoft.com/office/drawing/2014/main" id="{41CEA194-793C-1880-2AF4-A0ABBD761BCC}"/>
              </a:ext>
            </a:extLst>
          </p:cNvPr>
          <p:cNvSpPr txBox="1">
            <a:spLocks/>
          </p:cNvSpPr>
          <p:nvPr/>
        </p:nvSpPr>
        <p:spPr>
          <a:xfrm>
            <a:off x="715099" y="1083699"/>
            <a:ext cx="7886207" cy="35248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1" algn="just"/>
            <a:r>
              <a:rPr lang="en-US" sz="1200" dirty="0"/>
              <a:t>At = π(</a:t>
            </a:r>
            <a:r>
              <a:rPr lang="en-US" sz="1200" dirty="0" err="1"/>
              <a:t>st</a:t>
            </a:r>
            <a:r>
              <a:rPr lang="en-US" sz="1200" dirty="0"/>
              <a:t>, T, {a1, a2, ..., at−1}, pt)</a:t>
            </a:r>
          </a:p>
          <a:p>
            <a:pPr lvl="1" algn="just"/>
            <a:r>
              <a:rPr lang="en-IN" sz="1200" dirty="0"/>
              <a:t>at, c, r, hr = At</a:t>
            </a:r>
          </a:p>
          <a:p>
            <a:pPr lvl="1" algn="just"/>
            <a:endParaRPr lang="en-US" sz="1200" dirty="0"/>
          </a:p>
          <a:p>
            <a:pPr lvl="1" algn="just"/>
            <a:r>
              <a:rPr lang="en-US" sz="1200" dirty="0"/>
              <a:t>matched = compare action plan and policy keywords</a:t>
            </a:r>
          </a:p>
          <a:p>
            <a:pPr lvl="1" algn="just"/>
            <a:endParaRPr lang="en-US" sz="1200" dirty="0"/>
          </a:p>
          <a:p>
            <a:pPr lvl="1" algn="just"/>
            <a:r>
              <a:rPr lang="en-US" sz="1200" dirty="0"/>
              <a:t>if (r&gt;0 or matched or c&lt;confidence){</a:t>
            </a:r>
          </a:p>
          <a:p>
            <a:pPr lvl="1" algn="just"/>
            <a:r>
              <a:rPr lang="en-US" sz="1200" dirty="0"/>
              <a:t> r = 1 #policy_risk detected</a:t>
            </a:r>
          </a:p>
          <a:p>
            <a:pPr lvl="1" algn="just"/>
            <a:r>
              <a:rPr lang="en-US" sz="1200" dirty="0"/>
              <a:t>}</a:t>
            </a:r>
          </a:p>
          <a:p>
            <a:pPr lvl="1" algn="just"/>
            <a:endParaRPr lang="en-US" sz="1200" dirty="0"/>
          </a:p>
          <a:p>
            <a:pPr lvl="1" algn="just"/>
            <a:r>
              <a:rPr lang="en-US" sz="1200" dirty="0"/>
              <a:t>if (r == 1) {</a:t>
            </a:r>
          </a:p>
          <a:p>
            <a:pPr lvl="1" algn="just"/>
            <a:r>
              <a:rPr lang="en-US" sz="1200" dirty="0"/>
              <a:t> HITL value triggered, as wait for human interaction for step</a:t>
            </a:r>
          </a:p>
          <a:p>
            <a:pPr lvl="1" algn="just"/>
            <a:r>
              <a:rPr lang="en-US" sz="1200" dirty="0"/>
              <a:t>} else {</a:t>
            </a:r>
          </a:p>
          <a:p>
            <a:pPr lvl="1" algn="just"/>
            <a:r>
              <a:rPr lang="en-US" sz="1200" dirty="0"/>
              <a:t> Executer further steps from grounding</a:t>
            </a:r>
          </a:p>
          <a:p>
            <a:pPr lvl="1" algn="just"/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58101033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9E5E1699-5618-18A0-9BEC-CFE0179B9E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576E51EF-7A19-D606-EB58-01C2C43C24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Implementation &amp; Initial Result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DB5E6783-834E-BF7D-4C30-1A78C15B49CA}"/>
              </a:ext>
            </a:extLst>
          </p:cNvPr>
          <p:cNvSpPr txBox="1">
            <a:spLocks/>
          </p:cNvSpPr>
          <p:nvPr/>
        </p:nvSpPr>
        <p:spPr>
          <a:xfrm>
            <a:off x="715098" y="1262728"/>
            <a:ext cx="7886207" cy="35241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1" algn="just"/>
            <a:r>
              <a:rPr lang="en-US" sz="1200" dirty="0">
                <a:latin typeface="Albert Sans" panose="020B0604020202020204" charset="0"/>
              </a:rPr>
              <a:t>*Initial results are computed on 13 live websites (7 required HITL, 6 not required HITL)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D27CA91-3CBD-5898-5A22-B11F797398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2607810"/>
              </p:ext>
            </p:extLst>
          </p:nvPr>
        </p:nvGraphicFramePr>
        <p:xfrm>
          <a:off x="715098" y="1615147"/>
          <a:ext cx="4386438" cy="1645920"/>
        </p:xfrm>
        <a:graphic>
          <a:graphicData uri="http://schemas.openxmlformats.org/drawingml/2006/table">
            <a:tbl>
              <a:tblPr/>
              <a:tblGrid>
                <a:gridCol w="2193219">
                  <a:extLst>
                    <a:ext uri="{9D8B030D-6E8A-4147-A177-3AD203B41FA5}">
                      <a16:colId xmlns:a16="http://schemas.microsoft.com/office/drawing/2014/main" val="2663582867"/>
                    </a:ext>
                  </a:extLst>
                </a:gridCol>
                <a:gridCol w="2193219">
                  <a:extLst>
                    <a:ext uri="{9D8B030D-6E8A-4147-A177-3AD203B41FA5}">
                      <a16:colId xmlns:a16="http://schemas.microsoft.com/office/drawing/2014/main" val="939614190"/>
                    </a:ext>
                  </a:extLst>
                </a:gridCol>
              </a:tblGrid>
              <a:tr h="2395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Metric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Value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1531913"/>
                  </a:ext>
                </a:extLst>
              </a:tr>
              <a:tr h="2395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HITL Recall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latin typeface="Albert Sans" panose="020B0604020202020204" charset="0"/>
                        </a:rPr>
                        <a:t>42.85%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6911438"/>
                  </a:ext>
                </a:extLst>
              </a:tr>
              <a:tr h="2395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HITL Precision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latin typeface="Albert Sans" panose="020B0604020202020204" charset="0"/>
                        </a:rPr>
                        <a:t>100%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1248814"/>
                  </a:ext>
                </a:extLst>
              </a:tr>
              <a:tr h="2395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HITL Accuracy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b="0" dirty="0">
                          <a:latin typeface="Albert Sans" panose="020B0604020202020204" charset="0"/>
                        </a:rPr>
                        <a:t>69.23%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9596245"/>
                  </a:ext>
                </a:extLst>
              </a:tr>
              <a:tr h="2395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>
                          <a:latin typeface="Albert Sans" panose="020B0604020202020204" charset="0"/>
                        </a:rPr>
                        <a:t>False Positive 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0%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0206443"/>
                  </a:ext>
                </a:extLst>
              </a:tr>
              <a:tr h="2395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False Negative Rate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1200" dirty="0">
                          <a:latin typeface="Albert Sans" panose="020B0604020202020204" charset="0"/>
                        </a:rPr>
                        <a:t>57.14%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539136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9247B929-FEAB-066F-EDAB-1CB2BC90F0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3944" y="1615147"/>
            <a:ext cx="3499769" cy="2562962"/>
          </a:xfrm>
          <a:prstGeom prst="rect">
            <a:avLst/>
          </a:prstGeom>
        </p:spPr>
      </p:pic>
      <p:sp>
        <p:nvSpPr>
          <p:cNvPr id="7" name="Google Shape;257;p42">
            <a:extLst>
              <a:ext uri="{FF2B5EF4-FFF2-40B4-BE49-F238E27FC236}">
                <a16:creationId xmlns:a16="http://schemas.microsoft.com/office/drawing/2014/main" id="{69FAFD07-CBD2-61F6-33C7-742696EBABEE}"/>
              </a:ext>
            </a:extLst>
          </p:cNvPr>
          <p:cNvSpPr txBox="1">
            <a:spLocks/>
          </p:cNvSpPr>
          <p:nvPr/>
        </p:nvSpPr>
        <p:spPr>
          <a:xfrm>
            <a:off x="715098" y="3367168"/>
            <a:ext cx="4468846" cy="12413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Albert Sans" panose="020B0604020202020204" charset="0"/>
              </a:rPr>
              <a:t>The system is able in triggering HITL.</a:t>
            </a:r>
          </a:p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Albert Sans" panose="020B0604020202020204" charset="0"/>
              </a:rPr>
              <a:t>It avoids unnecessary human interruptions (0 false positives),</a:t>
            </a:r>
          </a:p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Albert Sans" panose="020B0604020202020204" charset="0"/>
              </a:rPr>
              <a:t>but misses some high-risk cases (false negatives),</a:t>
            </a:r>
          </a:p>
          <a:p>
            <a:pPr marL="171450" lvl="1" indent="-171450">
              <a:buFont typeface="Arial" panose="020B0604020202020204" pitchFamily="34" charset="0"/>
              <a:buChar char="•"/>
            </a:pPr>
            <a:r>
              <a:rPr lang="en-US" sz="1100" dirty="0">
                <a:latin typeface="Albert Sans" panose="020B0604020202020204" charset="0"/>
              </a:rPr>
              <a:t>which we aim to improve via expanded risk keywords and site-level overrides.</a:t>
            </a:r>
          </a:p>
        </p:txBody>
      </p:sp>
    </p:spTree>
    <p:extLst>
      <p:ext uri="{BB962C8B-B14F-4D97-AF65-F5344CB8AC3E}">
        <p14:creationId xmlns:p14="http://schemas.microsoft.com/office/powerpoint/2010/main" val="388237728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3969E92C-CE75-8DC4-FB5D-65C2683CA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7CBFF59D-6A77-7C4F-ABDB-88A81F3061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Future Work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C0FBA6D7-2724-F933-FFF8-1FA4CDC4E599}"/>
              </a:ext>
            </a:extLst>
          </p:cNvPr>
          <p:cNvSpPr txBox="1">
            <a:spLocks/>
          </p:cNvSpPr>
          <p:nvPr/>
        </p:nvSpPr>
        <p:spPr>
          <a:xfrm>
            <a:off x="715098" y="1262728"/>
            <a:ext cx="7886207" cy="33457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Albert Sans" panose="020B0604020202020204" charset="0"/>
              </a:rPr>
              <a:t>Gather and collect HITL results from different previous researches.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Albert Sans" panose="020B0604020202020204" charset="0"/>
              </a:rPr>
              <a:t>Use their dataset evaluation strategy on our defined architecture and collect result data.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Albert Sans" panose="020B0604020202020204" charset="0"/>
              </a:rPr>
              <a:t>Compute comparative results summary and tables.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Albert Sans" panose="020B0604020202020204" charset="0"/>
              </a:rPr>
              <a:t>Draft research paper around that results.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Albert Sans" panose="020B0604020202020204" charset="0"/>
              </a:rPr>
              <a:t>Search about publication and try for publication of our results.</a:t>
            </a:r>
          </a:p>
        </p:txBody>
      </p:sp>
    </p:spTree>
    <p:extLst>
      <p:ext uri="{BB962C8B-B14F-4D97-AF65-F5344CB8AC3E}">
        <p14:creationId xmlns:p14="http://schemas.microsoft.com/office/powerpoint/2010/main" val="90586769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>
          <a:extLst>
            <a:ext uri="{FF2B5EF4-FFF2-40B4-BE49-F238E27FC236}">
              <a16:creationId xmlns:a16="http://schemas.microsoft.com/office/drawing/2014/main" id="{A78D3CCD-C04F-071F-A7E5-876064101E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64">
            <a:extLst>
              <a:ext uri="{FF2B5EF4-FFF2-40B4-BE49-F238E27FC236}">
                <a16:creationId xmlns:a16="http://schemas.microsoft.com/office/drawing/2014/main" id="{C3100394-277B-A8F8-CABE-5AE430D076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15099" y="535000"/>
            <a:ext cx="7886207" cy="5487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n-US" dirty="0"/>
              <a:t>Conclusion</a:t>
            </a:r>
            <a:endParaRPr dirty="0"/>
          </a:p>
        </p:txBody>
      </p:sp>
      <p:sp>
        <p:nvSpPr>
          <p:cNvPr id="5" name="Google Shape;257;p42">
            <a:extLst>
              <a:ext uri="{FF2B5EF4-FFF2-40B4-BE49-F238E27FC236}">
                <a16:creationId xmlns:a16="http://schemas.microsoft.com/office/drawing/2014/main" id="{9BA0AC58-8F60-8D07-5738-FA81779997AB}"/>
              </a:ext>
            </a:extLst>
          </p:cNvPr>
          <p:cNvSpPr txBox="1">
            <a:spLocks/>
          </p:cNvSpPr>
          <p:nvPr/>
        </p:nvSpPr>
        <p:spPr>
          <a:xfrm>
            <a:off x="715098" y="1262728"/>
            <a:ext cx="7886207" cy="334577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Albert Sans" panose="020B0604020202020204" charset="0"/>
              </a:rPr>
              <a:t>In recent advancement we have seen that multimodal input (Screenshot + DOM) is essential for accurate UI action prediction.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Albert Sans" panose="020B0604020202020204" charset="0"/>
              </a:rPr>
              <a:t>Preliminary tests show that lightweight models like Qwen2-VL-2B unable to understand and produce action plan for given user instruction. 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Albert Sans" panose="020B0604020202020204" charset="0"/>
              </a:rPr>
              <a:t>Initial result over novelty showcase high false negative rate which showcase failure over HITL demanding steps and need improvement.</a:t>
            </a:r>
          </a:p>
          <a:p>
            <a:pPr marL="285750" lvl="1" indent="-285750" algn="just">
              <a:buFont typeface="Arial" panose="020B0604020202020204" pitchFamily="34" charset="0"/>
              <a:buChar char="•"/>
            </a:pPr>
            <a:r>
              <a:rPr lang="en-US" dirty="0">
                <a:latin typeface="Albert Sans" panose="020B0604020202020204" charset="0"/>
              </a:rPr>
              <a:t>Implemented methodology use fixed confidence value which further can be update with </a:t>
            </a:r>
            <a:r>
              <a:rPr lang="en-US">
                <a:latin typeface="Albert Sans" panose="020B0604020202020204" charset="0"/>
              </a:rPr>
              <a:t>adaptive learning.</a:t>
            </a:r>
            <a:endParaRPr lang="en-US" dirty="0">
              <a:latin typeface="Albert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018354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References</a:t>
            </a:r>
            <a:endParaRPr dirty="0"/>
          </a:p>
        </p:txBody>
      </p:sp>
      <p:sp>
        <p:nvSpPr>
          <p:cNvPr id="3" name="Google Shape;263;p43">
            <a:extLst>
              <a:ext uri="{FF2B5EF4-FFF2-40B4-BE49-F238E27FC236}">
                <a16:creationId xmlns:a16="http://schemas.microsoft.com/office/drawing/2014/main" id="{176743E2-4936-959E-D83E-8265B8D93132}"/>
              </a:ext>
            </a:extLst>
          </p:cNvPr>
          <p:cNvSpPr txBox="1">
            <a:spLocks/>
          </p:cNvSpPr>
          <p:nvPr/>
        </p:nvSpPr>
        <p:spPr>
          <a:xfrm>
            <a:off x="715100" y="1408149"/>
            <a:ext cx="7713900" cy="3461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0" indent="0" algn="just"/>
            <a:r>
              <a:rPr lang="en-US" dirty="0"/>
              <a:t>[1] C. Zhang, S. He, J. Qian, B. Li, L. Li, S. Qin, Y. Kang, M. Ma, G. Liu, Q. Lin, S. Rajmohan, D. Zhang, and Q. Zhang, “Large language model-brained </a:t>
            </a:r>
            <a:r>
              <a:rPr lang="en-US" dirty="0" err="1"/>
              <a:t>gui</a:t>
            </a:r>
            <a:r>
              <a:rPr lang="en-US" dirty="0"/>
              <a:t> agents: A survey,” 2025.</a:t>
            </a:r>
          </a:p>
          <a:p>
            <a:pPr marL="0" indent="0" algn="just"/>
            <a:endParaRPr lang="en-US" dirty="0"/>
          </a:p>
          <a:p>
            <a:pPr marL="0" indent="0" algn="just"/>
            <a:r>
              <a:rPr lang="en-US" dirty="0"/>
              <a:t>[2] F. Tang, H. Xu, H. Zhang, S. Chen, X. Wu, Y. Shen, W. Zhang, G. Hou, Z. Tan, Y. Yan, K. Song, J. Shao, W. Lu, J. Xiao, and Y. Zhuang, “A survey on (m)</a:t>
            </a:r>
            <a:r>
              <a:rPr lang="en-US" dirty="0" err="1"/>
              <a:t>llm</a:t>
            </a:r>
            <a:r>
              <a:rPr lang="en-US" dirty="0"/>
              <a:t>-based  </a:t>
            </a:r>
            <a:r>
              <a:rPr lang="en-US" dirty="0" err="1"/>
              <a:t>gui</a:t>
            </a:r>
            <a:r>
              <a:rPr lang="en-US" dirty="0"/>
              <a:t> agents,” 2025.</a:t>
            </a:r>
          </a:p>
          <a:p>
            <a:pPr marL="0" indent="0" algn="just"/>
            <a:endParaRPr lang="en-US" dirty="0"/>
          </a:p>
          <a:p>
            <a:pPr marL="0" indent="0" algn="just"/>
            <a:r>
              <a:rPr lang="en-US" dirty="0"/>
              <a:t>[3] L. Ning, Z. Liang, Z. Jiang, H. Qu, Y. Ding, W. Fan, X. </a:t>
            </a:r>
            <a:r>
              <a:rPr lang="en-US" dirty="0" err="1"/>
              <a:t>yong</a:t>
            </a:r>
            <a:r>
              <a:rPr lang="en-US" dirty="0"/>
              <a:t> Wei, S. Lin, H. Liu, P. S. Yu, and Q. Li, “A survey of </a:t>
            </a:r>
            <a:r>
              <a:rPr lang="en-US" dirty="0" err="1"/>
              <a:t>webagents</a:t>
            </a:r>
            <a:r>
              <a:rPr lang="en-US" dirty="0"/>
              <a:t>: Towards next-generation ai agents for web automation with large foundation models,” 2025.</a:t>
            </a:r>
          </a:p>
          <a:p>
            <a:pPr marL="0" indent="0" algn="just"/>
            <a:endParaRPr lang="en-US" dirty="0"/>
          </a:p>
          <a:p>
            <a:pPr marL="0" indent="0" algn="just"/>
            <a:r>
              <a:rPr lang="en-US" dirty="0"/>
              <a:t>[4] S. Wang, W. Liu, J. Chen, Y. Zhou, W. Gan, X. Zeng, Y. Che, S. Yu, X. Hao, K. Shao, B. Wang, C. Wu, Y. Wang, R. Tang, and J. Hao, “Gui agents with foundation models: A comprehensive survey,” 2025.</a:t>
            </a:r>
          </a:p>
          <a:p>
            <a:pPr marL="0" indent="0" algn="just"/>
            <a:endParaRPr lang="en-US" dirty="0"/>
          </a:p>
          <a:p>
            <a:pPr marL="0" indent="0" algn="just"/>
            <a:r>
              <a:rPr lang="en-US" dirty="0"/>
              <a:t>[5] B. Zheng, B. Gou, J. Kil, H. Sun, and Y. Su, “Gpt-4v(ision) is a generalist web agent, if grounded,” 2024.</a:t>
            </a:r>
          </a:p>
          <a:p>
            <a:pPr marL="0" indent="0" algn="just"/>
            <a:endParaRPr lang="en-US" dirty="0"/>
          </a:p>
          <a:p>
            <a:pPr marL="0" indent="0" algn="just"/>
            <a:r>
              <a:rPr lang="en-US" dirty="0"/>
              <a:t>[6] G. Verma, R. Kaur, N. </a:t>
            </a:r>
            <a:r>
              <a:rPr lang="en-US" dirty="0" err="1"/>
              <a:t>Srishankar</a:t>
            </a:r>
            <a:r>
              <a:rPr lang="en-US" dirty="0"/>
              <a:t>, Z. Zeng, T. Balch, and M. Veloso, “</a:t>
            </a:r>
            <a:r>
              <a:rPr lang="en-US" dirty="0" err="1"/>
              <a:t>Adaptagent</a:t>
            </a:r>
            <a:r>
              <a:rPr lang="en-US" dirty="0"/>
              <a:t>: Adapting multimodal web agents with few-shot learning from human demonstrations,” 2024.</a:t>
            </a:r>
          </a:p>
        </p:txBody>
      </p:sp>
    </p:spTree>
    <p:extLst>
      <p:ext uri="{BB962C8B-B14F-4D97-AF65-F5344CB8AC3E}">
        <p14:creationId xmlns:p14="http://schemas.microsoft.com/office/powerpoint/2010/main" val="317189868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References</a:t>
            </a:r>
            <a:endParaRPr dirty="0"/>
          </a:p>
        </p:txBody>
      </p:sp>
      <p:sp>
        <p:nvSpPr>
          <p:cNvPr id="3" name="Google Shape;263;p43">
            <a:extLst>
              <a:ext uri="{FF2B5EF4-FFF2-40B4-BE49-F238E27FC236}">
                <a16:creationId xmlns:a16="http://schemas.microsoft.com/office/drawing/2014/main" id="{176743E2-4936-959E-D83E-8265B8D93132}"/>
              </a:ext>
            </a:extLst>
          </p:cNvPr>
          <p:cNvSpPr txBox="1">
            <a:spLocks/>
          </p:cNvSpPr>
          <p:nvPr/>
        </p:nvSpPr>
        <p:spPr>
          <a:xfrm>
            <a:off x="715100" y="1408149"/>
            <a:ext cx="7713900" cy="3461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lbert Sans"/>
              <a:buNone/>
              <a:defRPr sz="1200" b="0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marL="0" indent="0" algn="just"/>
            <a:r>
              <a:rPr lang="en-US" dirty="0"/>
              <a:t>[7] D. Zhang, B. Rama, J. Ni, S. He, F. Zhao, K. Chen, A. Chen, and J. Cao, “</a:t>
            </a:r>
            <a:r>
              <a:rPr lang="en-US" dirty="0" err="1"/>
              <a:t>Litewebagent</a:t>
            </a:r>
            <a:r>
              <a:rPr lang="en-US" dirty="0"/>
              <a:t>: The open-source suite for </a:t>
            </a:r>
            <a:r>
              <a:rPr lang="en-US" dirty="0" err="1"/>
              <a:t>vlm</a:t>
            </a:r>
            <a:r>
              <a:rPr lang="en-US" dirty="0"/>
              <a:t>-based web-agent applications,” 2025.</a:t>
            </a:r>
          </a:p>
          <a:p>
            <a:pPr marL="0" indent="0" algn="just"/>
            <a:endParaRPr lang="en-US" dirty="0"/>
          </a:p>
          <a:p>
            <a:pPr marL="0" indent="0" algn="just"/>
            <a:r>
              <a:rPr lang="en-US" dirty="0"/>
              <a:t>[8] I. L. </a:t>
            </a:r>
            <a:r>
              <a:rPr lang="en-US" dirty="0" err="1"/>
              <a:t>Iong</a:t>
            </a:r>
            <a:r>
              <a:rPr lang="en-US" dirty="0"/>
              <a:t>, X. Liu, Y. Chen, H. Lai, S. Yao, P. Shen, H. Yu, Y. Dong, and J. Tang, “</a:t>
            </a:r>
            <a:r>
              <a:rPr lang="en-US" dirty="0" err="1"/>
              <a:t>Openwebagent</a:t>
            </a:r>
            <a:r>
              <a:rPr lang="en-US" dirty="0"/>
              <a:t>: An open toolkit to enable web agents on large language models,” in Proceedings of the 62nd Annual Meeting of the Association for Computational Linguistics (Volume 3: System Demonstrations), pp. 72–81, 2024.</a:t>
            </a:r>
          </a:p>
          <a:p>
            <a:pPr marL="0" indent="0" algn="just"/>
            <a:endParaRPr lang="en-US" dirty="0"/>
          </a:p>
          <a:p>
            <a:pPr marL="0" indent="0" algn="just"/>
            <a:r>
              <a:rPr lang="en-US" dirty="0"/>
              <a:t>[9] H. Luo, J. Kuang, W. Liu, Y. Shen, J. Luan, and Y. Deng, “Browsing like human: A multimodal web agent with experiential fast-and-slow thinking,” in Proceedings of the 63rd Annual Meeting of the Association for Computational Linguistics (Volume1: Long Papers), pp. 14232–14251, 2025.</a:t>
            </a:r>
          </a:p>
          <a:p>
            <a:pPr marL="0" indent="0" algn="just"/>
            <a:endParaRPr lang="en-US" dirty="0"/>
          </a:p>
          <a:p>
            <a:pPr marL="0" indent="0" algn="just"/>
            <a:r>
              <a:rPr lang="en-US" dirty="0"/>
              <a:t>[10] X. Deng, Y. Gu, B. Zheng, S. Chen, S. Stevens, B. Wang, H. Sun, and Y. Su, “Mind2web: Towards a generalist agent for the web,” 2023.</a:t>
            </a:r>
          </a:p>
        </p:txBody>
      </p:sp>
    </p:spTree>
    <p:extLst>
      <p:ext uri="{BB962C8B-B14F-4D97-AF65-F5344CB8AC3E}">
        <p14:creationId xmlns:p14="http://schemas.microsoft.com/office/powerpoint/2010/main" val="21598263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dirty="0"/>
              <a:t>Thanks!</a:t>
            </a:r>
            <a:endParaRPr sz="4800" dirty="0"/>
          </a:p>
        </p:txBody>
      </p:sp>
      <p:sp>
        <p:nvSpPr>
          <p:cNvPr id="236" name="Google Shape;236;p39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dirty="0"/>
              <a:t>Do have any questions?</a:t>
            </a:r>
            <a:endParaRPr sz="1200" dirty="0"/>
          </a:p>
        </p:txBody>
      </p:sp>
      <p:cxnSp>
        <p:nvCxnSpPr>
          <p:cNvPr id="237" name="Google Shape;237;p39">
            <a:hlinkClick r:id="" action="ppaction://hlinkshowjump?jump=nextslide"/>
          </p:cNvPr>
          <p:cNvCxnSpPr/>
          <p:nvPr/>
        </p:nvCxnSpPr>
        <p:spPr>
          <a:xfrm>
            <a:off x="715100" y="729100"/>
            <a:ext cx="4833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triangle" w="med" len="med"/>
          </a:ln>
        </p:spPr>
      </p:cxnSp>
    </p:spTree>
    <p:extLst>
      <p:ext uri="{BB962C8B-B14F-4D97-AF65-F5344CB8AC3E}">
        <p14:creationId xmlns:p14="http://schemas.microsoft.com/office/powerpoint/2010/main" val="3305431390"/>
      </p:ext>
    </p:extLst>
  </p:cSld>
  <p:clrMapOvr>
    <a:masterClrMapping/>
  </p:clrMapOvr>
</p:sld>
</file>

<file path=ppt/theme/theme1.xml><?xml version="1.0" encoding="utf-8"?>
<a:theme xmlns:a="http://schemas.openxmlformats.org/drawingml/2006/main" name="Lead Funnel by Slidesgo">
  <a:themeElements>
    <a:clrScheme name="UBQ Color Palet">
      <a:dk1>
        <a:srgbClr val="15110E"/>
      </a:dk1>
      <a:lt1>
        <a:srgbClr val="FFFAF6"/>
      </a:lt1>
      <a:dk2>
        <a:srgbClr val="C2E5F5"/>
      </a:dk2>
      <a:lt2>
        <a:srgbClr val="5296B8"/>
      </a:lt2>
      <a:accent1>
        <a:srgbClr val="002582"/>
      </a:accent1>
      <a:accent2>
        <a:srgbClr val="FF6700"/>
      </a:accent2>
      <a:accent3>
        <a:srgbClr val="9800A8"/>
      </a:accent3>
      <a:accent4>
        <a:srgbClr val="8DB2BF"/>
      </a:accent4>
      <a:accent5>
        <a:srgbClr val="FFFFFF"/>
      </a:accent5>
      <a:accent6>
        <a:srgbClr val="FFFFFF"/>
      </a:accent6>
      <a:hlink>
        <a:srgbClr val="15110E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3292</TotalTime>
  <Words>3908</Words>
  <Application>Microsoft Office PowerPoint</Application>
  <PresentationFormat>On-screen Show (16:9)</PresentationFormat>
  <Paragraphs>353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4" baseType="lpstr">
      <vt:lpstr>Albert Sans</vt:lpstr>
      <vt:lpstr>Alexandria Medium</vt:lpstr>
      <vt:lpstr>Arial</vt:lpstr>
      <vt:lpstr>Lead Funnel by Slidesgo</vt:lpstr>
      <vt:lpstr>PowerPoint Presentation</vt:lpstr>
      <vt:lpstr>01</vt:lpstr>
      <vt:lpstr>Introduction</vt:lpstr>
      <vt:lpstr>Problem Statement</vt:lpstr>
      <vt:lpstr>Literature Review</vt:lpstr>
      <vt:lpstr>Literature Review</vt:lpstr>
      <vt:lpstr>Literature Review</vt:lpstr>
      <vt:lpstr>Research Gaps</vt:lpstr>
      <vt:lpstr>Objectives</vt:lpstr>
      <vt:lpstr>SeeAct: Base Paper</vt:lpstr>
      <vt:lpstr>SeeAct: MultiModal-Mind2Web</vt:lpstr>
      <vt:lpstr>SeeAct: MultiModal-Mind2Web</vt:lpstr>
      <vt:lpstr>SeeAct: Architecture &amp; Implementation</vt:lpstr>
      <vt:lpstr>SeeAct: Methodology</vt:lpstr>
      <vt:lpstr>SeeAct: Grounding Methods</vt:lpstr>
      <vt:lpstr>SeeAct: Evaluation Strategy &amp; Metrics</vt:lpstr>
      <vt:lpstr>SeeAct: Evaluation Strategy &amp; Metrics</vt:lpstr>
      <vt:lpstr>SeeAct: Results, Challenges &amp; Limitations</vt:lpstr>
      <vt:lpstr>Novelty and Proposed Work</vt:lpstr>
      <vt:lpstr>Base Paper Implementation</vt:lpstr>
      <vt:lpstr>Base Paper Results</vt:lpstr>
      <vt:lpstr>Improvement</vt:lpstr>
      <vt:lpstr>Improvement</vt:lpstr>
      <vt:lpstr>Improvement - Algorithm</vt:lpstr>
      <vt:lpstr>Implementation &amp; Initial Result</vt:lpstr>
      <vt:lpstr>Future Work</vt:lpstr>
      <vt:lpstr>Conclusion</vt:lpstr>
      <vt:lpstr>References</vt:lpstr>
      <vt:lpstr>References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darji dhruv</cp:lastModifiedBy>
  <cp:revision>635</cp:revision>
  <dcterms:modified xsi:type="dcterms:W3CDTF">2026-02-21T04:13:52Z</dcterms:modified>
</cp:coreProperties>
</file>