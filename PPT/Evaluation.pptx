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31"/>
  </p:notesMasterIdLst>
  <p:sldIdLst>
    <p:sldId id="271" r:id="rId2"/>
    <p:sldId id="258" r:id="rId3"/>
    <p:sldId id="285" r:id="rId4"/>
    <p:sldId id="363" r:id="rId5"/>
    <p:sldId id="257" r:id="rId6"/>
    <p:sldId id="379" r:id="rId7"/>
    <p:sldId id="378" r:id="rId8"/>
    <p:sldId id="402" r:id="rId9"/>
    <p:sldId id="403" r:id="rId10"/>
    <p:sldId id="404" r:id="rId11"/>
    <p:sldId id="371" r:id="rId12"/>
    <p:sldId id="396" r:id="rId13"/>
    <p:sldId id="380" r:id="rId14"/>
    <p:sldId id="389" r:id="rId15"/>
    <p:sldId id="397" r:id="rId16"/>
    <p:sldId id="409" r:id="rId17"/>
    <p:sldId id="282" r:id="rId18"/>
    <p:sldId id="399" r:id="rId19"/>
    <p:sldId id="400" r:id="rId20"/>
    <p:sldId id="391" r:id="rId21"/>
    <p:sldId id="395" r:id="rId22"/>
    <p:sldId id="414" r:id="rId23"/>
    <p:sldId id="390" r:id="rId24"/>
    <p:sldId id="412" r:id="rId25"/>
    <p:sldId id="392" r:id="rId26"/>
    <p:sldId id="368" r:id="rId27"/>
    <p:sldId id="377" r:id="rId28"/>
    <p:sldId id="406" r:id="rId29"/>
    <p:sldId id="361" r:id="rId30"/>
  </p:sldIdLst>
  <p:sldSz cx="9144000" cy="5143500" type="screen16x9"/>
  <p:notesSz cx="6858000" cy="9144000"/>
  <p:embeddedFontLst>
    <p:embeddedFont>
      <p:font typeface="Albert Sans" panose="020B0604020202020204" charset="0"/>
      <p:regular r:id="rId32"/>
      <p:bold r:id="rId33"/>
      <p:italic r:id="rId34"/>
      <p:boldItalic r:id="rId35"/>
    </p:embeddedFont>
    <p:embeddedFont>
      <p:font typeface="Alexandria Medium" panose="020B0604020202020204" charset="-78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3BDA68B-AE0E-4B94-9F14-75E3F68F22BD}">
  <a:tblStyle styleId="{B3BDA68B-AE0E-4B94-9F14-75E3F68F22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B551ED7-B00C-4E3C-8821-FD0B8191B11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61" autoAdjust="0"/>
    <p:restoredTop sz="95039" autoAdjust="0"/>
  </p:normalViewPr>
  <p:slideViewPr>
    <p:cSldViewPr snapToGrid="0">
      <p:cViewPr varScale="1">
        <p:scale>
          <a:sx n="109" d="100"/>
          <a:sy n="109" d="100"/>
        </p:scale>
        <p:origin x="72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572bee519d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376" name="Google Shape;376;g2572bee519d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553b51d4f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04" name="Google Shape;204;g2553b51d4f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572bee519d_0_8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25" name="Google Shape;625;g2572bee519d_0_8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6777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5" name="Google Shape;195;g25703cb3a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D51FE431-3E67-FBD2-8D4C-C8DD53267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>
            <a:extLst>
              <a:ext uri="{FF2B5EF4-FFF2-40B4-BE49-F238E27FC236}">
                <a16:creationId xmlns:a16="http://schemas.microsoft.com/office/drawing/2014/main" id="{56B24AA4-CC98-9449-A85E-64E3B258CF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5" name="Google Shape;195;g25703cb3a7b_0_0:notes">
            <a:extLst>
              <a:ext uri="{FF2B5EF4-FFF2-40B4-BE49-F238E27FC236}">
                <a16:creationId xmlns:a16="http://schemas.microsoft.com/office/drawing/2014/main" id="{B4084F46-3F6F-462A-F59F-6A5FC00316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61693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B03DC106-8618-D220-4154-89B0B4E62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>
            <a:extLst>
              <a:ext uri="{FF2B5EF4-FFF2-40B4-BE49-F238E27FC236}">
                <a16:creationId xmlns:a16="http://schemas.microsoft.com/office/drawing/2014/main" id="{B94E2260-EFA6-7960-959C-CB1D30B7D7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5" name="Google Shape;195;g25703cb3a7b_0_0:notes">
            <a:extLst>
              <a:ext uri="{FF2B5EF4-FFF2-40B4-BE49-F238E27FC236}">
                <a16:creationId xmlns:a16="http://schemas.microsoft.com/office/drawing/2014/main" id="{465D751F-96F4-08D8-679D-5CE37ADE47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643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9446D7EB-7217-8699-E412-09BFD49DF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>
            <a:extLst>
              <a:ext uri="{FF2B5EF4-FFF2-40B4-BE49-F238E27FC236}">
                <a16:creationId xmlns:a16="http://schemas.microsoft.com/office/drawing/2014/main" id="{67566824-18BD-B73A-C110-C2098DC35E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5" name="Google Shape;195;g25703cb3a7b_0_0:notes">
            <a:extLst>
              <a:ext uri="{FF2B5EF4-FFF2-40B4-BE49-F238E27FC236}">
                <a16:creationId xmlns:a16="http://schemas.microsoft.com/office/drawing/2014/main" id="{C54F5AD5-0CF7-666E-64D6-2009F95074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56168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8EC70A61-AA8C-9CCB-4CE1-2EA0D6CE6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>
            <a:extLst>
              <a:ext uri="{FF2B5EF4-FFF2-40B4-BE49-F238E27FC236}">
                <a16:creationId xmlns:a16="http://schemas.microsoft.com/office/drawing/2014/main" id="{C1E28CF6-3990-7B11-000F-CA2019BBF5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5" name="Google Shape;195;g25703cb3a7b_0_0:notes">
            <a:extLst>
              <a:ext uri="{FF2B5EF4-FFF2-40B4-BE49-F238E27FC236}">
                <a16:creationId xmlns:a16="http://schemas.microsoft.com/office/drawing/2014/main" id="{EFBFAEDB-F1A0-FD64-6759-1B7D03B3C0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6379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>
          <a:extLst>
            <a:ext uri="{FF2B5EF4-FFF2-40B4-BE49-F238E27FC236}">
              <a16:creationId xmlns:a16="http://schemas.microsoft.com/office/drawing/2014/main" id="{06D00FD7-1BF3-C4FF-EDA6-87E9053B9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5703cb3a7b_0_0:notes">
            <a:extLst>
              <a:ext uri="{FF2B5EF4-FFF2-40B4-BE49-F238E27FC236}">
                <a16:creationId xmlns:a16="http://schemas.microsoft.com/office/drawing/2014/main" id="{F0A540F9-59AA-0C51-EE4B-82EEDF588A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5" name="Google Shape;195;g25703cb3a7b_0_0:notes">
            <a:extLst>
              <a:ext uri="{FF2B5EF4-FFF2-40B4-BE49-F238E27FC236}">
                <a16:creationId xmlns:a16="http://schemas.microsoft.com/office/drawing/2014/main" id="{6347DA8D-FBA4-EE5F-F093-AD98FD191E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346752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703cb3a7b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91" name="Google Shape;291;g25703cb3a7b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0973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>
          <a:extLst>
            <a:ext uri="{FF2B5EF4-FFF2-40B4-BE49-F238E27FC236}">
              <a16:creationId xmlns:a16="http://schemas.microsoft.com/office/drawing/2014/main" id="{EFB92085-5C74-266C-E579-B46175A14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572bee519d_0_801:notes">
            <a:extLst>
              <a:ext uri="{FF2B5EF4-FFF2-40B4-BE49-F238E27FC236}">
                <a16:creationId xmlns:a16="http://schemas.microsoft.com/office/drawing/2014/main" id="{1454DDF4-C0BE-E92C-801D-A14C4FB3D2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25" name="Google Shape;625;g2572bee519d_0_801:notes">
            <a:extLst>
              <a:ext uri="{FF2B5EF4-FFF2-40B4-BE49-F238E27FC236}">
                <a16:creationId xmlns:a16="http://schemas.microsoft.com/office/drawing/2014/main" id="{C66C8566-D163-EEE8-3ABC-C7B83CEC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91719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4AC4C001-ED20-F758-B03C-8C1036E53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43BA3037-84EE-2BE5-984F-D198CCC8E3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D689BC6F-04C7-8625-F5D8-3AB39D2996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55876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38A0DF17-6A01-876C-6DF1-B5549BD01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32C07C59-84F0-BEBA-B788-2745E84602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E66B0B5C-7F4E-91B3-38C9-6659FA1C42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97397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B47D91EC-5C5C-72E1-2A2C-1B1A6EB0D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C883E1AD-7C31-8731-56A3-F0F1DAB405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28884104-D010-70AA-4EFA-5D6800EF6D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993844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FBBE709B-95DF-791E-FD09-BA8A839C2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DEE6E035-88CC-9EAD-C657-23D97D93A5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3D78CEF2-E4E2-BBDA-D0FC-D292B7508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990427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572bee519d_0_8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06" name="Google Shape;506;g2572bee519d_0_8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CDF2ED54-B157-9A6E-F10D-BF8D99304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7B4FB507-315B-A2CA-547A-F90B1188B2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09324210-9F43-D5CE-D461-48EB347F81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91140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6414E4C1-B755-90AD-8463-5C37D7E89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D5EFE15D-61FA-87D7-3980-339A20D92D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C90D7E59-9B66-F4C7-6475-1CF85349EA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09237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920E6EBB-8CFA-ECDA-06DB-B7CC2A81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B349485C-5B0F-A85E-5C68-E159E018EA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3D175B92-A2D7-3F34-79A0-736066116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81938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B8CE2CAD-22BB-6905-19F1-CF4D155D4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22A00B6A-4F3A-8BB1-9618-242B84523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AAA0507D-8C26-196D-E9A3-6131F88513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80346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6B2F701F-1121-2CB9-C6E3-9AFC7A79B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C52F13DF-6E69-88E9-9C9E-37E3424FF4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8EFB630F-D123-6D31-7CEC-A1CDB80E49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493362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A3EA51E8-561A-946E-0EDA-49C9CF94F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9BBB3975-CFFB-9BFC-A404-5A246D0271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A186C1EF-23DC-EC74-25EF-0AB7D85A7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868391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0559FB24-AC4B-6270-1D66-B95134F59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1AD06429-E3A4-3AF9-DBEC-5C7F38EA66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586AEC2B-FCD1-FB56-5729-88D0726D70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212360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>
          <a:extLst>
            <a:ext uri="{FF2B5EF4-FFF2-40B4-BE49-F238E27FC236}">
              <a16:creationId xmlns:a16="http://schemas.microsoft.com/office/drawing/2014/main" id="{A44B1157-2130-EB4D-4CD9-252EE3EF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2572bee519d_0_797:notes">
            <a:extLst>
              <a:ext uri="{FF2B5EF4-FFF2-40B4-BE49-F238E27FC236}">
                <a16:creationId xmlns:a16="http://schemas.microsoft.com/office/drawing/2014/main" id="{1CD18589-8168-03F2-B5CC-5604675540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553" name="Google Shape;553;g2572bee519d_0_797:notes">
            <a:extLst>
              <a:ext uri="{FF2B5EF4-FFF2-40B4-BE49-F238E27FC236}">
                <a16:creationId xmlns:a16="http://schemas.microsoft.com/office/drawing/2014/main" id="{AADF82FD-05C9-D115-5019-B594C946E3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892238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026830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61" name="Google Shape;261;g25703cb3a7b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933794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>
          <a:extLst>
            <a:ext uri="{FF2B5EF4-FFF2-40B4-BE49-F238E27FC236}">
              <a16:creationId xmlns:a16="http://schemas.microsoft.com/office/drawing/2014/main" id="{63379720-7E6B-EDEA-5C6C-ED89AE84F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5703cb3a7b_0_64:notes">
            <a:extLst>
              <a:ext uri="{FF2B5EF4-FFF2-40B4-BE49-F238E27FC236}">
                <a16:creationId xmlns:a16="http://schemas.microsoft.com/office/drawing/2014/main" id="{6BC26068-707F-19AF-E43E-FF4F903C8F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61" name="Google Shape;261;g25703cb3a7b_0_64:notes">
            <a:extLst>
              <a:ext uri="{FF2B5EF4-FFF2-40B4-BE49-F238E27FC236}">
                <a16:creationId xmlns:a16="http://schemas.microsoft.com/office/drawing/2014/main" id="{02D59AD3-2D49-3E7C-6474-BFA2EE69DC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9946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558abb5fb3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232" name="Google Shape;232;g2558abb5fb3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886589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3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"/>
          <p:cNvPicPr preferRelativeResize="0"/>
          <p:nvPr/>
        </p:nvPicPr>
        <p:blipFill rotWithShape="1">
          <a:blip r:embed="rId3">
            <a:alphaModFix/>
          </a:blip>
          <a:srcRect l="36283" t="30" r="-6" b="-40"/>
          <a:stretch/>
        </p:blipFill>
        <p:spPr>
          <a:xfrm rot="10800000">
            <a:off x="5864950" y="-3275"/>
            <a:ext cx="32790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715100" y="33280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title" idx="2" hasCustomPrompt="1"/>
          </p:nvPr>
        </p:nvSpPr>
        <p:spPr>
          <a:xfrm>
            <a:off x="715100" y="2074250"/>
            <a:ext cx="7708800" cy="125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7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None/>
              <a:defRPr sz="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4572000" y="535000"/>
            <a:ext cx="3856800" cy="38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6"/>
          <p:cNvPicPr preferRelativeResize="0"/>
          <p:nvPr/>
        </p:nvPicPr>
        <p:blipFill rotWithShape="1">
          <a:blip r:embed="rId2">
            <a:alphaModFix/>
          </a:blip>
          <a:srcRect l="104756" t="-108210" r="280062" b="47851"/>
          <a:stretch/>
        </p:blipFill>
        <p:spPr>
          <a:xfrm rot="10800000">
            <a:off x="1325" y="-1637"/>
            <a:ext cx="9141450" cy="514677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4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4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>
            <a:spLocks noGrp="1"/>
          </p:cNvSpPr>
          <p:nvPr>
            <p:ph type="subTitle" idx="1"/>
          </p:nvPr>
        </p:nvSpPr>
        <p:spPr>
          <a:xfrm>
            <a:off x="715100" y="1503175"/>
            <a:ext cx="5930100" cy="200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subTitle" idx="2"/>
          </p:nvPr>
        </p:nvSpPr>
        <p:spPr>
          <a:xfrm>
            <a:off x="715100" y="39653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9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15100" y="20465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2"/>
          </p:nvPr>
        </p:nvSpPr>
        <p:spPr>
          <a:xfrm>
            <a:off x="715100" y="3299000"/>
            <a:ext cx="5930100" cy="7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3"/>
          </p:nvPr>
        </p:nvSpPr>
        <p:spPr>
          <a:xfrm>
            <a:off x="715100" y="16667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4"/>
          </p:nvPr>
        </p:nvSpPr>
        <p:spPr>
          <a:xfrm>
            <a:off x="715100" y="2919200"/>
            <a:ext cx="5930100" cy="4560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0"/>
          <p:cNvSpPr txBox="1">
            <a:spLocks noGrp="1"/>
          </p:cNvSpPr>
          <p:nvPr>
            <p:ph type="subTitle" idx="1"/>
          </p:nvPr>
        </p:nvSpPr>
        <p:spPr>
          <a:xfrm>
            <a:off x="715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20"/>
          <p:cNvSpPr txBox="1">
            <a:spLocks noGrp="1"/>
          </p:cNvSpPr>
          <p:nvPr>
            <p:ph type="subTitle" idx="2"/>
          </p:nvPr>
        </p:nvSpPr>
        <p:spPr>
          <a:xfrm>
            <a:off x="7151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subTitle" idx="3"/>
          </p:nvPr>
        </p:nvSpPr>
        <p:spPr>
          <a:xfrm>
            <a:off x="3506100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subTitle" idx="4"/>
          </p:nvPr>
        </p:nvSpPr>
        <p:spPr>
          <a:xfrm>
            <a:off x="3506099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subTitle" idx="5"/>
          </p:nvPr>
        </p:nvSpPr>
        <p:spPr>
          <a:xfrm>
            <a:off x="6297202" y="2328775"/>
            <a:ext cx="2131800" cy="145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6"/>
          </p:nvPr>
        </p:nvSpPr>
        <p:spPr>
          <a:xfrm>
            <a:off x="6297200" y="1666700"/>
            <a:ext cx="2131800" cy="734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1"/>
          <p:cNvPicPr preferRelativeResize="0"/>
          <p:nvPr/>
        </p:nvPicPr>
        <p:blipFill rotWithShape="1">
          <a:blip r:embed="rId2">
            <a:alphaModFix/>
          </a:blip>
          <a:srcRect l="-50000" t="49600" r="50000" b="-5849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21"/>
          <p:cNvSpPr txBox="1">
            <a:spLocks noGrp="1"/>
          </p:cNvSpPr>
          <p:nvPr>
            <p:ph type="subTitle" idx="1"/>
          </p:nvPr>
        </p:nvSpPr>
        <p:spPr>
          <a:xfrm>
            <a:off x="715100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subTitle" idx="2"/>
          </p:nvPr>
        </p:nvSpPr>
        <p:spPr>
          <a:xfrm>
            <a:off x="7151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subTitle" idx="3"/>
          </p:nvPr>
        </p:nvSpPr>
        <p:spPr>
          <a:xfrm>
            <a:off x="3506099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subTitle" idx="4"/>
          </p:nvPr>
        </p:nvSpPr>
        <p:spPr>
          <a:xfrm>
            <a:off x="3506099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ubTitle" idx="5"/>
          </p:nvPr>
        </p:nvSpPr>
        <p:spPr>
          <a:xfrm>
            <a:off x="6297200" y="3758613"/>
            <a:ext cx="2131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1"/>
          <p:cNvSpPr txBox="1">
            <a:spLocks noGrp="1"/>
          </p:cNvSpPr>
          <p:nvPr>
            <p:ph type="subTitle" idx="6"/>
          </p:nvPr>
        </p:nvSpPr>
        <p:spPr>
          <a:xfrm>
            <a:off x="6297200" y="3377613"/>
            <a:ext cx="2131800" cy="4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_1">
    <p:bg>
      <p:bgPr>
        <a:solidFill>
          <a:schemeClr val="lt1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7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7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4572" y="-2437"/>
            <a:ext cx="9153145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bg>
      <p:bgPr>
        <a:solidFill>
          <a:schemeClr val="lt1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8"/>
          <p:cNvPicPr preferRelativeResize="0"/>
          <p:nvPr/>
        </p:nvPicPr>
        <p:blipFill rotWithShape="1">
          <a:blip r:embed="rId2">
            <a:alphaModFix/>
          </a:blip>
          <a:srcRect l="-6643" t="-11183" r="27548" b="-11170"/>
          <a:stretch/>
        </p:blipFill>
        <p:spPr>
          <a:xfrm>
            <a:off x="5819050" y="0"/>
            <a:ext cx="3324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0"/>
          <p:cNvPicPr preferRelativeResize="0"/>
          <p:nvPr/>
        </p:nvPicPr>
        <p:blipFill rotWithShape="1">
          <a:blip r:embed="rId2">
            <a:alphaModFix/>
          </a:blip>
          <a:srcRect l="-6643" t="13471" r="27548" b="-35825"/>
          <a:stretch/>
        </p:blipFill>
        <p:spPr>
          <a:xfrm flipH="1">
            <a:off x="-10680" y="-2437"/>
            <a:ext cx="3321293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0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 flipH="1">
            <a:off x="-10680" y="-2437"/>
            <a:ext cx="9144080" cy="514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31"/>
          <p:cNvPicPr preferRelativeResize="0"/>
          <p:nvPr/>
        </p:nvPicPr>
        <p:blipFill rotWithShape="1">
          <a:blip r:embed="rId2">
            <a:alphaModFix/>
          </a:blip>
          <a:srcRect l="-55210" t="50562" r="55209" b="-6811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 rotWithShape="1">
          <a:blip r:embed="rId2">
            <a:alphaModFix/>
          </a:blip>
          <a:srcRect l="-235242" t="44962" r="44460" b="-108521"/>
          <a:stretch/>
        </p:blipFill>
        <p:spPr>
          <a:xfrm rot="10800000">
            <a:off x="-10150" y="0"/>
            <a:ext cx="9154150" cy="51483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1070650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title" idx="3" hasCustomPrompt="1"/>
          </p:nvPr>
        </p:nvSpPr>
        <p:spPr>
          <a:xfrm>
            <a:off x="1070650" y="21035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4"/>
          </p:nvPr>
        </p:nvSpPr>
        <p:spPr>
          <a:xfrm>
            <a:off x="1609075" y="2103524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title" idx="5" hasCustomPrompt="1"/>
          </p:nvPr>
        </p:nvSpPr>
        <p:spPr>
          <a:xfrm>
            <a:off x="1070650" y="28397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6"/>
          </p:nvPr>
        </p:nvSpPr>
        <p:spPr>
          <a:xfrm>
            <a:off x="1609075" y="28397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7" hasCustomPrompt="1"/>
          </p:nvPr>
        </p:nvSpPr>
        <p:spPr>
          <a:xfrm>
            <a:off x="1070650" y="3575950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8"/>
          </p:nvPr>
        </p:nvSpPr>
        <p:spPr>
          <a:xfrm>
            <a:off x="1609075" y="3575948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9" hasCustomPrompt="1"/>
          </p:nvPr>
        </p:nvSpPr>
        <p:spPr>
          <a:xfrm>
            <a:off x="4927449" y="13673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3"/>
          </p:nvPr>
        </p:nvSpPr>
        <p:spPr>
          <a:xfrm>
            <a:off x="5465950" y="1367325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14" hasCustomPrompt="1"/>
          </p:nvPr>
        </p:nvSpPr>
        <p:spPr>
          <a:xfrm>
            <a:off x="4927449" y="2103522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5"/>
          </p:nvPr>
        </p:nvSpPr>
        <p:spPr>
          <a:xfrm>
            <a:off x="5465950" y="2103519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title" idx="16" hasCustomPrompt="1"/>
          </p:nvPr>
        </p:nvSpPr>
        <p:spPr>
          <a:xfrm>
            <a:off x="4927449" y="2839728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17"/>
          </p:nvPr>
        </p:nvSpPr>
        <p:spPr>
          <a:xfrm>
            <a:off x="5465950" y="2839721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title" idx="18" hasCustomPrompt="1"/>
          </p:nvPr>
        </p:nvSpPr>
        <p:spPr>
          <a:xfrm>
            <a:off x="4927449" y="3575925"/>
            <a:ext cx="5385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8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9"/>
          </p:nvPr>
        </p:nvSpPr>
        <p:spPr>
          <a:xfrm>
            <a:off x="5465950" y="3575916"/>
            <a:ext cx="2607300" cy="736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7030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6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lexandria Medium"/>
              <a:buNone/>
              <a:defRPr sz="2500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83700"/>
            <a:ext cx="7713900" cy="3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8" r:id="rId3"/>
    <p:sldLayoutId id="2147483660" r:id="rId4"/>
    <p:sldLayoutId id="2147483665" r:id="rId5"/>
    <p:sldLayoutId id="2147483666" r:id="rId6"/>
    <p:sldLayoutId id="2147483667" r:id="rId7"/>
    <p:sldLayoutId id="2147483673" r:id="rId8"/>
    <p:sldLayoutId id="2147483674" r:id="rId9"/>
    <p:sldLayoutId id="2147483676" r:id="rId10"/>
    <p:sldLayoutId id="2147483677" r:id="rId11"/>
    <p:sldLayoutId id="2147483681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0"/>
          <p:cNvSpPr txBox="1">
            <a:spLocks noGrp="1"/>
          </p:cNvSpPr>
          <p:nvPr>
            <p:ph type="subTitle" idx="1"/>
          </p:nvPr>
        </p:nvSpPr>
        <p:spPr>
          <a:xfrm>
            <a:off x="715100" y="1609732"/>
            <a:ext cx="6109446" cy="158813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“</a:t>
            </a:r>
            <a:r>
              <a:rPr lang="en-US" dirty="0"/>
              <a:t>Improving Web Automation with DOM Delta Processing and Privacy-Aware LLM Agents</a:t>
            </a:r>
            <a:r>
              <a:rPr lang="en" dirty="0"/>
              <a:t>”</a:t>
            </a:r>
            <a:endParaRPr dirty="0"/>
          </a:p>
        </p:txBody>
      </p:sp>
      <p:sp>
        <p:nvSpPr>
          <p:cNvPr id="379" name="Google Shape;379;p50"/>
          <p:cNvSpPr txBox="1">
            <a:spLocks noGrp="1"/>
          </p:cNvSpPr>
          <p:nvPr>
            <p:ph type="subTitle" idx="2"/>
          </p:nvPr>
        </p:nvSpPr>
        <p:spPr>
          <a:xfrm>
            <a:off x="715100" y="3893606"/>
            <a:ext cx="5930100" cy="77768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—Darji Dhruv S. (24MCD003)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—</a:t>
            </a:r>
            <a:r>
              <a:rPr lang="en-US" sz="1800" dirty="0"/>
              <a:t>Mentor: Dr. </a:t>
            </a:r>
            <a:r>
              <a:rPr lang="en-US" sz="1800" dirty="0" err="1"/>
              <a:t>Parita</a:t>
            </a:r>
            <a:r>
              <a:rPr lang="en-US" sz="1800" dirty="0"/>
              <a:t> </a:t>
            </a:r>
            <a:r>
              <a:rPr lang="en-US" sz="1800" dirty="0" err="1"/>
              <a:t>Oza</a:t>
            </a:r>
            <a:endParaRPr dirty="0"/>
          </a:p>
        </p:txBody>
      </p:sp>
      <p:cxnSp>
        <p:nvCxnSpPr>
          <p:cNvPr id="380" name="Google Shape;380;p50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" name="Google Shape;263;p43">
            <a:extLst>
              <a:ext uri="{FF2B5EF4-FFF2-40B4-BE49-F238E27FC236}">
                <a16:creationId xmlns:a16="http://schemas.microsoft.com/office/drawing/2014/main" id="{D29736A1-A90E-59B4-A21F-DB5F89538343}"/>
              </a:ext>
            </a:extLst>
          </p:cNvPr>
          <p:cNvSpPr txBox="1">
            <a:spLocks/>
          </p:cNvSpPr>
          <p:nvPr/>
        </p:nvSpPr>
        <p:spPr>
          <a:xfrm>
            <a:off x="715100" y="3185897"/>
            <a:ext cx="3373680" cy="35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/>
            <a:r>
              <a:rPr lang="en-US" sz="1200" dirty="0"/>
              <a:t>Major Project – 2</a:t>
            </a:r>
          </a:p>
          <a:p>
            <a:pPr marL="0" indent="0"/>
            <a:endParaRPr lang="en-US" sz="1200" dirty="0"/>
          </a:p>
          <a:p>
            <a:pPr marL="0" indent="0"/>
            <a:endParaRPr lang="en-US" sz="1200" dirty="0"/>
          </a:p>
        </p:txBody>
      </p:sp>
      <p:sp>
        <p:nvSpPr>
          <p:cNvPr id="2" name="Google Shape;263;p43">
            <a:extLst>
              <a:ext uri="{FF2B5EF4-FFF2-40B4-BE49-F238E27FC236}">
                <a16:creationId xmlns:a16="http://schemas.microsoft.com/office/drawing/2014/main" id="{8E4EF4CB-0E82-8AB2-16FE-90AE487233B3}"/>
              </a:ext>
            </a:extLst>
          </p:cNvPr>
          <p:cNvSpPr txBox="1">
            <a:spLocks/>
          </p:cNvSpPr>
          <p:nvPr/>
        </p:nvSpPr>
        <p:spPr>
          <a:xfrm>
            <a:off x="715100" y="3533767"/>
            <a:ext cx="3779528" cy="359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/>
            <a:r>
              <a:rPr lang="en-US" sz="1200" dirty="0"/>
              <a:t>Computer Science &amp; Engineering (Data Science)</a:t>
            </a:r>
          </a:p>
          <a:p>
            <a:pPr marL="0" indent="0"/>
            <a:endParaRPr lang="en-US" sz="1200" dirty="0"/>
          </a:p>
          <a:p>
            <a:pPr marL="0" indent="0"/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>
            <a:spLocks noGrp="1"/>
          </p:cNvSpPr>
          <p:nvPr>
            <p:ph type="title"/>
          </p:nvPr>
        </p:nvSpPr>
        <p:spPr>
          <a:xfrm>
            <a:off x="1070649" y="1367325"/>
            <a:ext cx="650693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7" name="Google Shape;207;p37"/>
          <p:cNvSpPr txBox="1">
            <a:spLocks noGrp="1"/>
          </p:cNvSpPr>
          <p:nvPr>
            <p:ph type="subTitle" idx="1"/>
          </p:nvPr>
        </p:nvSpPr>
        <p:spPr>
          <a:xfrm>
            <a:off x="1609075" y="1367325"/>
            <a:ext cx="3150512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208" name="Google Shape;208;p37"/>
          <p:cNvSpPr txBox="1">
            <a:spLocks noGrp="1"/>
          </p:cNvSpPr>
          <p:nvPr>
            <p:ph type="title" idx="2"/>
          </p:nvPr>
        </p:nvSpPr>
        <p:spPr>
          <a:xfrm>
            <a:off x="715100" y="535000"/>
            <a:ext cx="77139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209" name="Google Shape;209;p37"/>
          <p:cNvSpPr txBox="1">
            <a:spLocks noGrp="1"/>
          </p:cNvSpPr>
          <p:nvPr>
            <p:ph type="title" idx="3"/>
          </p:nvPr>
        </p:nvSpPr>
        <p:spPr>
          <a:xfrm>
            <a:off x="1070649" y="1897772"/>
            <a:ext cx="650693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210" name="Google Shape;210;p37"/>
          <p:cNvSpPr txBox="1">
            <a:spLocks noGrp="1"/>
          </p:cNvSpPr>
          <p:nvPr>
            <p:ph type="subTitle" idx="4"/>
          </p:nvPr>
        </p:nvSpPr>
        <p:spPr>
          <a:xfrm>
            <a:off x="1609075" y="1897782"/>
            <a:ext cx="3150512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211" name="Google Shape;211;p37"/>
          <p:cNvSpPr txBox="1">
            <a:spLocks noGrp="1"/>
          </p:cNvSpPr>
          <p:nvPr>
            <p:ph type="title" idx="5"/>
          </p:nvPr>
        </p:nvSpPr>
        <p:spPr>
          <a:xfrm>
            <a:off x="1070649" y="2421954"/>
            <a:ext cx="650693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212" name="Google Shape;212;p37"/>
          <p:cNvSpPr txBox="1">
            <a:spLocks noGrp="1"/>
          </p:cNvSpPr>
          <p:nvPr>
            <p:ph type="subTitle" idx="6"/>
          </p:nvPr>
        </p:nvSpPr>
        <p:spPr>
          <a:xfrm>
            <a:off x="1609075" y="2428219"/>
            <a:ext cx="3150512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Liturature Review</a:t>
            </a:r>
            <a:endParaRPr dirty="0"/>
          </a:p>
        </p:txBody>
      </p:sp>
      <p:sp>
        <p:nvSpPr>
          <p:cNvPr id="213" name="Google Shape;213;p37"/>
          <p:cNvSpPr txBox="1">
            <a:spLocks noGrp="1"/>
          </p:cNvSpPr>
          <p:nvPr>
            <p:ph type="title" idx="7"/>
          </p:nvPr>
        </p:nvSpPr>
        <p:spPr>
          <a:xfrm>
            <a:off x="1070649" y="2956651"/>
            <a:ext cx="650693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214" name="Google Shape;214;p37"/>
          <p:cNvSpPr txBox="1">
            <a:spLocks noGrp="1"/>
          </p:cNvSpPr>
          <p:nvPr>
            <p:ph type="subTitle" idx="8"/>
          </p:nvPr>
        </p:nvSpPr>
        <p:spPr>
          <a:xfrm>
            <a:off x="1609075" y="2946126"/>
            <a:ext cx="3150512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Research Gaps</a:t>
            </a:r>
            <a:endParaRPr dirty="0"/>
          </a:p>
        </p:txBody>
      </p:sp>
      <p:sp>
        <p:nvSpPr>
          <p:cNvPr id="215" name="Google Shape;215;p37"/>
          <p:cNvSpPr txBox="1">
            <a:spLocks noGrp="1"/>
          </p:cNvSpPr>
          <p:nvPr>
            <p:ph type="title" idx="9"/>
          </p:nvPr>
        </p:nvSpPr>
        <p:spPr>
          <a:xfrm>
            <a:off x="1070648" y="3474558"/>
            <a:ext cx="650693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216" name="Google Shape;216;p37"/>
          <p:cNvSpPr txBox="1">
            <a:spLocks noGrp="1"/>
          </p:cNvSpPr>
          <p:nvPr>
            <p:ph type="subTitle" idx="13"/>
          </p:nvPr>
        </p:nvSpPr>
        <p:spPr>
          <a:xfrm>
            <a:off x="1609075" y="3485083"/>
            <a:ext cx="3150512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Objective</a:t>
            </a:r>
            <a:endParaRPr dirty="0"/>
          </a:p>
        </p:txBody>
      </p:sp>
      <p:sp>
        <p:nvSpPr>
          <p:cNvPr id="217" name="Google Shape;217;p37"/>
          <p:cNvSpPr txBox="1">
            <a:spLocks noGrp="1"/>
          </p:cNvSpPr>
          <p:nvPr>
            <p:ph type="title" idx="14"/>
          </p:nvPr>
        </p:nvSpPr>
        <p:spPr>
          <a:xfrm>
            <a:off x="1070648" y="4027634"/>
            <a:ext cx="650693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218" name="Google Shape;218;p37"/>
          <p:cNvSpPr txBox="1">
            <a:spLocks noGrp="1"/>
          </p:cNvSpPr>
          <p:nvPr>
            <p:ph type="subTitle" idx="15"/>
          </p:nvPr>
        </p:nvSpPr>
        <p:spPr>
          <a:xfrm>
            <a:off x="1609075" y="4013515"/>
            <a:ext cx="3150512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Existing Solution</a:t>
            </a:r>
            <a:endParaRPr dirty="0"/>
          </a:p>
        </p:txBody>
      </p:sp>
      <p:sp>
        <p:nvSpPr>
          <p:cNvPr id="219" name="Google Shape;219;p37"/>
          <p:cNvSpPr txBox="1">
            <a:spLocks noGrp="1"/>
          </p:cNvSpPr>
          <p:nvPr>
            <p:ph type="title" idx="16"/>
          </p:nvPr>
        </p:nvSpPr>
        <p:spPr>
          <a:xfrm>
            <a:off x="4759588" y="1367325"/>
            <a:ext cx="650693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07</a:t>
            </a:r>
            <a:endParaRPr dirty="0"/>
          </a:p>
        </p:txBody>
      </p:sp>
      <p:sp>
        <p:nvSpPr>
          <p:cNvPr id="220" name="Google Shape;220;p37"/>
          <p:cNvSpPr txBox="1">
            <a:spLocks noGrp="1"/>
          </p:cNvSpPr>
          <p:nvPr>
            <p:ph type="subTitle" idx="17"/>
          </p:nvPr>
        </p:nvSpPr>
        <p:spPr>
          <a:xfrm>
            <a:off x="5298091" y="1367325"/>
            <a:ext cx="3150512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Dataset</a:t>
            </a:r>
            <a:endParaRPr dirty="0"/>
          </a:p>
        </p:txBody>
      </p:sp>
      <p:sp>
        <p:nvSpPr>
          <p:cNvPr id="221" name="Google Shape;221;p37"/>
          <p:cNvSpPr txBox="1">
            <a:spLocks noGrp="1"/>
          </p:cNvSpPr>
          <p:nvPr>
            <p:ph type="title" idx="18"/>
          </p:nvPr>
        </p:nvSpPr>
        <p:spPr>
          <a:xfrm>
            <a:off x="4759587" y="1897774"/>
            <a:ext cx="650693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08</a:t>
            </a:r>
            <a:endParaRPr dirty="0"/>
          </a:p>
        </p:txBody>
      </p:sp>
      <p:sp>
        <p:nvSpPr>
          <p:cNvPr id="222" name="Google Shape;222;p37"/>
          <p:cNvSpPr txBox="1">
            <a:spLocks noGrp="1"/>
          </p:cNvSpPr>
          <p:nvPr>
            <p:ph type="subTitle" idx="19"/>
          </p:nvPr>
        </p:nvSpPr>
        <p:spPr>
          <a:xfrm>
            <a:off x="5298091" y="1897772"/>
            <a:ext cx="3150512" cy="45447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-IN" dirty="0"/>
              <a:t>Novelty &amp; Proposed Work</a:t>
            </a:r>
          </a:p>
        </p:txBody>
      </p:sp>
      <p:sp>
        <p:nvSpPr>
          <p:cNvPr id="2" name="Google Shape;221;p37">
            <a:extLst>
              <a:ext uri="{FF2B5EF4-FFF2-40B4-BE49-F238E27FC236}">
                <a16:creationId xmlns:a16="http://schemas.microsoft.com/office/drawing/2014/main" id="{78B66172-D9D8-A271-B70D-1F9C938FC371}"/>
              </a:ext>
            </a:extLst>
          </p:cNvPr>
          <p:cNvSpPr txBox="1">
            <a:spLocks/>
          </p:cNvSpPr>
          <p:nvPr/>
        </p:nvSpPr>
        <p:spPr>
          <a:xfrm>
            <a:off x="4759587" y="2421956"/>
            <a:ext cx="650693" cy="45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" dirty="0"/>
              <a:t>09</a:t>
            </a:r>
          </a:p>
        </p:txBody>
      </p:sp>
      <p:sp>
        <p:nvSpPr>
          <p:cNvPr id="3" name="Google Shape;222;p37">
            <a:extLst>
              <a:ext uri="{FF2B5EF4-FFF2-40B4-BE49-F238E27FC236}">
                <a16:creationId xmlns:a16="http://schemas.microsoft.com/office/drawing/2014/main" id="{0F7806AD-79A1-F7E8-BF96-D39169768596}"/>
              </a:ext>
            </a:extLst>
          </p:cNvPr>
          <p:cNvSpPr txBox="1">
            <a:spLocks/>
          </p:cNvSpPr>
          <p:nvPr/>
        </p:nvSpPr>
        <p:spPr>
          <a:xfrm>
            <a:off x="5298090" y="2421954"/>
            <a:ext cx="3262701" cy="45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" dirty="0"/>
              <a:t>Implementation &amp; Results</a:t>
            </a:r>
            <a:endParaRPr lang="en-IN" dirty="0"/>
          </a:p>
        </p:txBody>
      </p:sp>
      <p:sp>
        <p:nvSpPr>
          <p:cNvPr id="4" name="Google Shape;221;p37">
            <a:extLst>
              <a:ext uri="{FF2B5EF4-FFF2-40B4-BE49-F238E27FC236}">
                <a16:creationId xmlns:a16="http://schemas.microsoft.com/office/drawing/2014/main" id="{68885D59-DDCC-C6FE-ED53-4998B0AD476A}"/>
              </a:ext>
            </a:extLst>
          </p:cNvPr>
          <p:cNvSpPr txBox="1">
            <a:spLocks/>
          </p:cNvSpPr>
          <p:nvPr/>
        </p:nvSpPr>
        <p:spPr>
          <a:xfrm>
            <a:off x="4759587" y="2939861"/>
            <a:ext cx="650693" cy="45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" dirty="0"/>
              <a:t>10</a:t>
            </a:r>
          </a:p>
        </p:txBody>
      </p:sp>
      <p:sp>
        <p:nvSpPr>
          <p:cNvPr id="5" name="Google Shape;222;p37">
            <a:extLst>
              <a:ext uri="{FF2B5EF4-FFF2-40B4-BE49-F238E27FC236}">
                <a16:creationId xmlns:a16="http://schemas.microsoft.com/office/drawing/2014/main" id="{F73FC2D0-263F-CA28-F5D2-D314958EDA56}"/>
              </a:ext>
            </a:extLst>
          </p:cNvPr>
          <p:cNvSpPr txBox="1">
            <a:spLocks/>
          </p:cNvSpPr>
          <p:nvPr/>
        </p:nvSpPr>
        <p:spPr>
          <a:xfrm>
            <a:off x="5298091" y="2956651"/>
            <a:ext cx="3150512" cy="45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IN" dirty="0"/>
              <a:t>Future Work</a:t>
            </a:r>
          </a:p>
          <a:p>
            <a:pPr marL="0" indent="0"/>
            <a:endParaRPr lang="en-IN" dirty="0"/>
          </a:p>
        </p:txBody>
      </p:sp>
      <p:sp>
        <p:nvSpPr>
          <p:cNvPr id="6" name="Google Shape;221;p37">
            <a:extLst>
              <a:ext uri="{FF2B5EF4-FFF2-40B4-BE49-F238E27FC236}">
                <a16:creationId xmlns:a16="http://schemas.microsoft.com/office/drawing/2014/main" id="{3D60D9D5-1D3E-3C78-A221-BD9EC4A314D3}"/>
              </a:ext>
            </a:extLst>
          </p:cNvPr>
          <p:cNvSpPr txBox="1">
            <a:spLocks/>
          </p:cNvSpPr>
          <p:nvPr/>
        </p:nvSpPr>
        <p:spPr>
          <a:xfrm>
            <a:off x="4759587" y="3474560"/>
            <a:ext cx="650693" cy="45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" dirty="0"/>
              <a:t>11</a:t>
            </a:r>
          </a:p>
        </p:txBody>
      </p:sp>
      <p:sp>
        <p:nvSpPr>
          <p:cNvPr id="7" name="Google Shape;222;p37">
            <a:extLst>
              <a:ext uri="{FF2B5EF4-FFF2-40B4-BE49-F238E27FC236}">
                <a16:creationId xmlns:a16="http://schemas.microsoft.com/office/drawing/2014/main" id="{755851FA-1337-C3EC-192C-D1B7B4E85D12}"/>
              </a:ext>
            </a:extLst>
          </p:cNvPr>
          <p:cNvSpPr txBox="1">
            <a:spLocks/>
          </p:cNvSpPr>
          <p:nvPr/>
        </p:nvSpPr>
        <p:spPr>
          <a:xfrm>
            <a:off x="5298091" y="3474558"/>
            <a:ext cx="3150512" cy="45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IN" dirty="0"/>
              <a:t>Conclusion</a:t>
            </a:r>
          </a:p>
        </p:txBody>
      </p:sp>
      <p:sp>
        <p:nvSpPr>
          <p:cNvPr id="8" name="Google Shape;221;p37">
            <a:extLst>
              <a:ext uri="{FF2B5EF4-FFF2-40B4-BE49-F238E27FC236}">
                <a16:creationId xmlns:a16="http://schemas.microsoft.com/office/drawing/2014/main" id="{4635A073-9D27-D53A-FB31-B2BFF6B432A3}"/>
              </a:ext>
            </a:extLst>
          </p:cNvPr>
          <p:cNvSpPr txBox="1">
            <a:spLocks/>
          </p:cNvSpPr>
          <p:nvPr/>
        </p:nvSpPr>
        <p:spPr>
          <a:xfrm>
            <a:off x="4759587" y="4027636"/>
            <a:ext cx="650693" cy="45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1800" b="0" i="0" u="none" strike="noStrike" cap="none">
                <a:solidFill>
                  <a:schemeClr val="lt2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exandria Medium"/>
              <a:buNone/>
              <a:defRPr sz="30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r>
              <a:rPr lang="en" dirty="0"/>
              <a:t>12</a:t>
            </a:r>
          </a:p>
        </p:txBody>
      </p:sp>
      <p:sp>
        <p:nvSpPr>
          <p:cNvPr id="9" name="Google Shape;222;p37">
            <a:extLst>
              <a:ext uri="{FF2B5EF4-FFF2-40B4-BE49-F238E27FC236}">
                <a16:creationId xmlns:a16="http://schemas.microsoft.com/office/drawing/2014/main" id="{5D6C01FA-9B08-13B5-054B-6E2C785CC7AF}"/>
              </a:ext>
            </a:extLst>
          </p:cNvPr>
          <p:cNvSpPr txBox="1">
            <a:spLocks/>
          </p:cNvSpPr>
          <p:nvPr/>
        </p:nvSpPr>
        <p:spPr>
          <a:xfrm>
            <a:off x="5298091" y="4027634"/>
            <a:ext cx="3150512" cy="4544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IN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/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Introduction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B92E26A1-DD82-E4C2-E11A-4F478357E3F1}"/>
              </a:ext>
            </a:extLst>
          </p:cNvPr>
          <p:cNvSpPr txBox="1">
            <a:spLocks/>
          </p:cNvSpPr>
          <p:nvPr/>
        </p:nvSpPr>
        <p:spPr>
          <a:xfrm>
            <a:off x="715099" y="1262728"/>
            <a:ext cx="3856901" cy="3345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GUI automation is a way to automate human interaction such as click, type, scroll, input etc. with user given instruction.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GUI automation accelerates tasks in </a:t>
            </a:r>
            <a:r>
              <a:rPr lang="en-US" sz="1200" b="1" dirty="0">
                <a:latin typeface="Albert Sans" panose="020B0604020202020204" charset="0"/>
              </a:rPr>
              <a:t>testing</a:t>
            </a:r>
            <a:r>
              <a:rPr lang="en-US" sz="1200" dirty="0">
                <a:latin typeface="Albert Sans" panose="020B0604020202020204" charset="0"/>
              </a:rPr>
              <a:t>, </a:t>
            </a:r>
            <a:r>
              <a:rPr lang="en-US" sz="1200" b="1" dirty="0">
                <a:latin typeface="Albert Sans" panose="020B0604020202020204" charset="0"/>
              </a:rPr>
              <a:t>verification</a:t>
            </a:r>
            <a:r>
              <a:rPr lang="en-US" sz="1200" dirty="0">
                <a:latin typeface="Albert Sans" panose="020B0604020202020204" charset="0"/>
              </a:rPr>
              <a:t>, </a:t>
            </a:r>
            <a:r>
              <a:rPr lang="en-US" sz="1200" b="1" dirty="0">
                <a:latin typeface="Albert Sans" panose="020B0604020202020204" charset="0"/>
              </a:rPr>
              <a:t>bug replay</a:t>
            </a:r>
            <a:r>
              <a:rPr lang="en-US" sz="1200" dirty="0">
                <a:latin typeface="Albert Sans" panose="020B0604020202020204" charset="0"/>
              </a:rPr>
              <a:t>, and </a:t>
            </a:r>
            <a:r>
              <a:rPr lang="en-US" sz="1200" b="1" dirty="0">
                <a:latin typeface="Albert Sans" panose="020B0604020202020204" charset="0"/>
              </a:rPr>
              <a:t>text-input generation</a:t>
            </a:r>
            <a:r>
              <a:rPr lang="en-US" sz="1200" dirty="0">
                <a:latin typeface="Albert Sans" panose="020B0604020202020204" charset="0"/>
              </a:rPr>
              <a:t>, reducing human effort and improving reliability.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Natural language interfaces allow users to describe tasks (“Order grocery”, “Change Settings”), enabling automatic execution by intelligent agents.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Automation is essential because manual GUI operations are slow, repetitive, error-prone, and difficult to scale.</a:t>
            </a:r>
          </a:p>
        </p:txBody>
      </p:sp>
      <p:pic>
        <p:nvPicPr>
          <p:cNvPr id="6" name="Picture 5" descr="A computer screen showing a robot&#10;&#10;AI-generated content may be incorrect.">
            <a:extLst>
              <a:ext uri="{FF2B5EF4-FFF2-40B4-BE49-F238E27FC236}">
                <a16:creationId xmlns:a16="http://schemas.microsoft.com/office/drawing/2014/main" id="{BC625909-F849-C9BA-0874-F2606497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00" t="17194" r="12307" b="5242"/>
          <a:stretch>
            <a:fillRect/>
          </a:stretch>
        </p:blipFill>
        <p:spPr>
          <a:xfrm>
            <a:off x="4658202" y="1690786"/>
            <a:ext cx="4454220" cy="2489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8"/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967983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Problem Statement</a:t>
            </a:r>
            <a:endParaRPr dirty="0"/>
          </a:p>
        </p:txBody>
      </p:sp>
      <p:sp>
        <p:nvSpPr>
          <p:cNvPr id="6" name="Google Shape;293;p45">
            <a:extLst>
              <a:ext uri="{FF2B5EF4-FFF2-40B4-BE49-F238E27FC236}">
                <a16:creationId xmlns:a16="http://schemas.microsoft.com/office/drawing/2014/main" id="{217492C5-FB32-3290-F0FB-849B89CFC1C3}"/>
              </a:ext>
            </a:extLst>
          </p:cNvPr>
          <p:cNvSpPr txBox="1">
            <a:spLocks/>
          </p:cNvSpPr>
          <p:nvPr/>
        </p:nvSpPr>
        <p:spPr>
          <a:xfrm>
            <a:off x="715099" y="1083700"/>
            <a:ext cx="7956697" cy="3123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Albert Sans" panose="020B0604020202020204" charset="0"/>
              </a:rPr>
              <a:t>Most LLM-based web-agents are based on entire DOM and at every steps uses 10</a:t>
            </a:r>
            <a:r>
              <a:rPr lang="en-US" baseline="30000" dirty="0">
                <a:solidFill>
                  <a:srgbClr val="0A0A0A"/>
                </a:solidFill>
                <a:latin typeface="Albert Sans" panose="020B0604020202020204" charset="0"/>
              </a:rPr>
              <a:t>4</a:t>
            </a:r>
            <a:r>
              <a:rPr lang="en-US" b="0" i="0" dirty="0">
                <a:solidFill>
                  <a:srgbClr val="0A0A0A"/>
                </a:solidFill>
                <a:effectLst/>
                <a:latin typeface="Albert Sans" panose="020B0604020202020204" charset="0"/>
              </a:rPr>
              <a:t>-10</a:t>
            </a:r>
            <a:r>
              <a:rPr lang="en-US" b="0" i="0" baseline="30000" dirty="0">
                <a:solidFill>
                  <a:srgbClr val="0A0A0A"/>
                </a:solidFill>
                <a:effectLst/>
                <a:latin typeface="Albert Sans" panose="020B0604020202020204" charset="0"/>
              </a:rPr>
              <a:t>5</a:t>
            </a:r>
            <a:r>
              <a:rPr lang="en-US" baseline="30000" dirty="0">
                <a:solidFill>
                  <a:srgbClr val="0A0A0A"/>
                </a:solidFill>
                <a:latin typeface="Albert Sans" panose="020B0604020202020204" charset="0"/>
              </a:rPr>
              <a:t> </a:t>
            </a:r>
            <a:r>
              <a:rPr lang="en-US" b="0" i="0" dirty="0">
                <a:solidFill>
                  <a:srgbClr val="0A0A0A"/>
                </a:solidFill>
                <a:effectLst/>
                <a:latin typeface="Albert Sans" panose="020B0604020202020204" charset="0"/>
              </a:rPr>
              <a:t>tokens, which is computationally expenses, even as most time important interactive elements are only in updated DOM from last step.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Albert Sans" panose="020B0604020202020204" charset="0"/>
              </a:rPr>
              <a:t>Most element grounding methods are either used cloud-based solution or large models which are not capable to perform without GPUs.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Albert Sans" panose="020B0604020202020204" charset="0"/>
              </a:rPr>
              <a:t>Lack of Privacy and HITL safeguards in web-automations.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A0A0A"/>
                </a:solidFill>
                <a:effectLst/>
                <a:latin typeface="Albert Sans" panose="020B0604020202020204" charset="0"/>
              </a:rPr>
              <a:t>A </a:t>
            </a:r>
            <a:r>
              <a:rPr lang="en-US" b="0" i="0" dirty="0" err="1">
                <a:solidFill>
                  <a:srgbClr val="0A0A0A"/>
                </a:solidFill>
                <a:effectLst/>
                <a:latin typeface="Albert Sans" panose="020B0604020202020204" charset="0"/>
              </a:rPr>
              <a:t>localised</a:t>
            </a:r>
            <a:r>
              <a:rPr lang="en-US" b="0" i="0" dirty="0">
                <a:solidFill>
                  <a:srgbClr val="0A0A0A"/>
                </a:solidFill>
                <a:effectLst/>
                <a:latin typeface="Albert Sans" panose="020B0604020202020204" charset="0"/>
              </a:rPr>
              <a:t>, token-efficient, privacy-aware web agent that runs on commodity hardware is still missing</a:t>
            </a:r>
            <a:r>
              <a:rPr lang="en-US" dirty="0">
                <a:solidFill>
                  <a:srgbClr val="0A0A0A"/>
                </a:solidFill>
                <a:latin typeface="Albert Sans" panose="020B0604020202020204" charset="0"/>
              </a:rPr>
              <a:t>.</a:t>
            </a:r>
            <a:endParaRPr lang="en-US" b="0" i="0" dirty="0">
              <a:solidFill>
                <a:srgbClr val="0A0A0A"/>
              </a:solidFill>
              <a:effectLst/>
              <a:latin typeface="Alber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939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graphicFrame>
        <p:nvGraphicFramePr>
          <p:cNvPr id="198" name="Google Shape;198;p36"/>
          <p:cNvGraphicFramePr/>
          <p:nvPr>
            <p:extLst>
              <p:ext uri="{D42A27DB-BD31-4B8C-83A1-F6EECF244321}">
                <p14:modId xmlns:p14="http://schemas.microsoft.com/office/powerpoint/2010/main" val="2135588932"/>
              </p:ext>
            </p:extLst>
          </p:nvPr>
        </p:nvGraphicFramePr>
        <p:xfrm>
          <a:off x="715000" y="1083701"/>
          <a:ext cx="7713899" cy="3406522"/>
        </p:xfrm>
        <a:graphic>
          <a:graphicData uri="http://schemas.openxmlformats.org/drawingml/2006/table">
            <a:tbl>
              <a:tblPr firstRow="1" bandRow="1">
                <a:noFill/>
                <a:tableStyleId>{B3BDA68B-AE0E-4B94-9F14-75E3F68F22BD}</a:tableStyleId>
              </a:tblPr>
              <a:tblGrid>
                <a:gridCol w="64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255">
                  <a:extLst>
                    <a:ext uri="{9D8B030D-6E8A-4147-A177-3AD203B41FA5}">
                      <a16:colId xmlns:a16="http://schemas.microsoft.com/office/drawing/2014/main" val="493164284"/>
                    </a:ext>
                  </a:extLst>
                </a:gridCol>
                <a:gridCol w="2849030">
                  <a:extLst>
                    <a:ext uri="{9D8B030D-6E8A-4147-A177-3AD203B41FA5}">
                      <a16:colId xmlns:a16="http://schemas.microsoft.com/office/drawing/2014/main" val="1205680258"/>
                    </a:ext>
                  </a:extLst>
                </a:gridCol>
                <a:gridCol w="233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u="none" dirty="0">
                          <a:solidFill>
                            <a:schemeClr val="hlink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Year</a:t>
                      </a:r>
                      <a:endParaRPr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Title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Key Contribution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Limitations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May, 2025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[ 1 ]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Large Language Model-Brained GUI Agents: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A Survey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Systematic , detailed survey of LLM-brained GUI agents: historical evolution, core components, datasets, evaluation metrics, applications. acts as a “cookbook” for building GUI agents.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Identifies open research gaps : robust grounding, benchmarks, long-horizon planning.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9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Jun, 2025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[ 2 ]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A Survey on (M)LLM-Based GUI Agents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Breaks down modern GUI agents into four components (perception, exploration, planning, interaction) and analyzes technical/evaluation limitations.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Notes methodological limitations in current benchmarks and evaluation practices also highlight for standardization and improved element localization.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59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Aug, 2025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[ 3 ]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A Survey of </a:t>
                      </a:r>
                      <a:r>
                        <a:rPr lang="en-US" sz="1100" dirty="0" err="1">
                          <a:latin typeface="Albert Sans" panose="020B0604020202020204" charset="0"/>
                        </a:rPr>
                        <a:t>WebAgents</a:t>
                      </a:r>
                      <a:r>
                        <a:rPr lang="en-US" sz="1100" dirty="0">
                          <a:latin typeface="Albert Sans" panose="020B0604020202020204" charset="0"/>
                        </a:rPr>
                        <a:t>: Towards Next-Generation AI Agents for Web Automation with Large Foundation Models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Reviews </a:t>
                      </a:r>
                      <a:r>
                        <a:rPr lang="en-US" sz="1100" dirty="0" err="1">
                          <a:latin typeface="Albert Sans" panose="020B0604020202020204" charset="0"/>
                        </a:rPr>
                        <a:t>WebAgent</a:t>
                      </a:r>
                      <a:r>
                        <a:rPr lang="en-US" sz="1100" dirty="0">
                          <a:latin typeface="Albert Sans" panose="020B0604020202020204" charset="0"/>
                        </a:rPr>
                        <a:t> architectures, training strategies, and trustworthiness. frames web automation as a productivity/UX problem enabled by LFMs.</a:t>
                      </a:r>
                      <a:endParaRPr lang="en-US"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Highlights trustworthiness and robustness issues, and the need for better training/regulatory practices for </a:t>
                      </a:r>
                      <a:r>
                        <a:rPr lang="en-US" sz="1100" b="0" dirty="0" err="1">
                          <a:latin typeface="Albert Sans" panose="020B0604020202020204" charset="0"/>
                        </a:rPr>
                        <a:t>WebAgents</a:t>
                      </a:r>
                      <a:r>
                        <a:rPr lang="en-US" sz="1100" b="0" dirty="0">
                          <a:latin typeface="Albert Sans" panose="020B0604020202020204" charset="0"/>
                        </a:rPr>
                        <a:t>.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9849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B36674B6-5FC4-2C42-A5F2-899C68F71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FEF5DFEE-DC09-DD68-C8EC-ECC68E2272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graphicFrame>
        <p:nvGraphicFramePr>
          <p:cNvPr id="198" name="Google Shape;198;p36">
            <a:extLst>
              <a:ext uri="{FF2B5EF4-FFF2-40B4-BE49-F238E27FC236}">
                <a16:creationId xmlns:a16="http://schemas.microsoft.com/office/drawing/2014/main" id="{5557FDC8-A7AC-F163-97A9-AE05203710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387244"/>
              </p:ext>
            </p:extLst>
          </p:nvPr>
        </p:nvGraphicFramePr>
        <p:xfrm>
          <a:off x="715000" y="1083701"/>
          <a:ext cx="7713899" cy="3610751"/>
        </p:xfrm>
        <a:graphic>
          <a:graphicData uri="http://schemas.openxmlformats.org/drawingml/2006/table">
            <a:tbl>
              <a:tblPr firstRow="1" bandRow="1">
                <a:noFill/>
                <a:tableStyleId>{B3BDA68B-AE0E-4B94-9F14-75E3F68F22BD}</a:tableStyleId>
              </a:tblPr>
              <a:tblGrid>
                <a:gridCol w="64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255">
                  <a:extLst>
                    <a:ext uri="{9D8B030D-6E8A-4147-A177-3AD203B41FA5}">
                      <a16:colId xmlns:a16="http://schemas.microsoft.com/office/drawing/2014/main" val="493164284"/>
                    </a:ext>
                  </a:extLst>
                </a:gridCol>
                <a:gridCol w="2849030">
                  <a:extLst>
                    <a:ext uri="{9D8B030D-6E8A-4147-A177-3AD203B41FA5}">
                      <a16:colId xmlns:a16="http://schemas.microsoft.com/office/drawing/2014/main" val="1205680258"/>
                    </a:ext>
                  </a:extLst>
                </a:gridCol>
                <a:gridCol w="233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4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u="none" dirty="0">
                          <a:solidFill>
                            <a:schemeClr val="hlink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Year</a:t>
                      </a:r>
                      <a:endParaRPr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Title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Key Contribution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Limitations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82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Feb, 2025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[ 4 ]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GUI Agents with Foundation Models: A Comprehensive Survey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Consolidates recent work using (M)LLMs for GUI tasks. offers taxonomy, datasets review, and unified framework.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Discusses practical gaps like unavailable checkpoints, inconsistent experimental settings, and reproducibility challenges. 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95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Mar, 2024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[ 5 ]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GPT-4V(ision) is a Generalist Web Agent, if Grounded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Shows GPT-4V (multimodal LMM) can act as a generalist web agent when grounded with both screenshot + HTML; introduces SeeAct, evaluates on MIND2WEB (51.1% success with manual grounding).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grounding strategies are imperfect and there’s a significant gap to oracle grounding. </a:t>
                      </a:r>
                      <a:r>
                        <a:rPr lang="en-US" sz="1100" b="0" dirty="0" err="1">
                          <a:latin typeface="Albert Sans" panose="020B0604020202020204" charset="0"/>
                        </a:rPr>
                        <a:t>SeeAct’s</a:t>
                      </a:r>
                      <a:r>
                        <a:rPr lang="en-US" sz="1100" b="0" dirty="0">
                          <a:latin typeface="Albert Sans" panose="020B0604020202020204" charset="0"/>
                        </a:rPr>
                        <a:t> best gains rely on expensive LMMs and manual grounding infrastructure.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950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Nov, 2024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[ 6 ]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latin typeface="Albert Sans" panose="020B0604020202020204" charset="0"/>
                        </a:rPr>
                        <a:t>AdaptAgent</a:t>
                      </a:r>
                      <a:r>
                        <a:rPr lang="en-US" sz="1100" dirty="0">
                          <a:latin typeface="Albert Sans" panose="020B0604020202020204" charset="0"/>
                        </a:rPr>
                        <a:t>: Adapting Multimodal Web Agents with Few-Shot Learning from Human Demonstrations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Proposes few-shot adaptation using human demonstrations to improve web agents’ generalization on unseen sites. shows 3.36%–7.21% absolute gains (relative 21%–66%) on benchmarks.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Improvement depends on demonstration selection and model type. few-shot gains vary and do not fully close the generalization gap for proprietary or very different sites. 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9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2783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3B75046E-8939-7DA3-AC64-E1688733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70649957-B256-5544-7104-17968A628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graphicFrame>
        <p:nvGraphicFramePr>
          <p:cNvPr id="198" name="Google Shape;198;p36">
            <a:extLst>
              <a:ext uri="{FF2B5EF4-FFF2-40B4-BE49-F238E27FC236}">
                <a16:creationId xmlns:a16="http://schemas.microsoft.com/office/drawing/2014/main" id="{581BD6A2-CD4C-1F2E-8D7E-55186B20C4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7589321"/>
              </p:ext>
            </p:extLst>
          </p:nvPr>
        </p:nvGraphicFramePr>
        <p:xfrm>
          <a:off x="715000" y="1083701"/>
          <a:ext cx="7713899" cy="3455995"/>
        </p:xfrm>
        <a:graphic>
          <a:graphicData uri="http://schemas.openxmlformats.org/drawingml/2006/table">
            <a:tbl>
              <a:tblPr firstRow="1" bandRow="1">
                <a:noFill/>
                <a:tableStyleId>{B3BDA68B-AE0E-4B94-9F14-75E3F68F22BD}</a:tableStyleId>
              </a:tblPr>
              <a:tblGrid>
                <a:gridCol w="64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255">
                  <a:extLst>
                    <a:ext uri="{9D8B030D-6E8A-4147-A177-3AD203B41FA5}">
                      <a16:colId xmlns:a16="http://schemas.microsoft.com/office/drawing/2014/main" val="493164284"/>
                    </a:ext>
                  </a:extLst>
                </a:gridCol>
                <a:gridCol w="2849030">
                  <a:extLst>
                    <a:ext uri="{9D8B030D-6E8A-4147-A177-3AD203B41FA5}">
                      <a16:colId xmlns:a16="http://schemas.microsoft.com/office/drawing/2014/main" val="1205680258"/>
                    </a:ext>
                  </a:extLst>
                </a:gridCol>
                <a:gridCol w="233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u="none" dirty="0">
                          <a:solidFill>
                            <a:schemeClr val="hlink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Year</a:t>
                      </a:r>
                      <a:endParaRPr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Title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Key Contribution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Limitations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May, 2025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[ 7 ]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latin typeface="Albert Sans" panose="020B0604020202020204" charset="0"/>
                        </a:rPr>
                        <a:t>LiteWebAgent</a:t>
                      </a:r>
                      <a:r>
                        <a:rPr lang="en-US" sz="1100" dirty="0">
                          <a:latin typeface="Albert Sans" panose="020B0604020202020204" charset="0"/>
                        </a:rPr>
                        <a:t>: The Open-Source Suite for VLM-Based Web-Agent Applications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Provides an open, modular framework (planning, memory, tree search) plus production demos (serverless backend or Chrome extension) to help researchers build and deploy VLM web agents.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actual performance depends on chosen models and grounding modules.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9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Aug, 2024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[ 8 ]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OpenWebAgent: An Open Toolkit to Enable Web Agents on Large Language Models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Delivers a modular toolkit with an HTML parser, action generation module, and UI to accelerate building of LLM/LMM web agents; open-source code &amp; plugin.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Toolkit-oriented - does not itself claim new agent performance. Practical utility depends on integration choices and model quality.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594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hlink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Jul, 2025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[ 9 ]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Browsing Like Human: A Multimodal Web Agent with Experiential Fast-and-Slow Thinking (</a:t>
                      </a:r>
                      <a:r>
                        <a:rPr lang="en-US" sz="1100" dirty="0" err="1">
                          <a:latin typeface="Albert Sans" panose="020B0604020202020204" charset="0"/>
                        </a:rPr>
                        <a:t>WebExperT</a:t>
                      </a:r>
                      <a:r>
                        <a:rPr lang="en-US" sz="1100" dirty="0">
                          <a:latin typeface="Albert Sans" panose="020B0604020202020204" charset="0"/>
                        </a:rPr>
                        <a:t>)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Proposes a human-like fast/slow planning paradigm and experiential learning (reflecting on failures) to improve decomposition of complex instructions - shows strong results on MIND2WEB.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Added complexity (planning + reflection) may increase compute and implementation complexity.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9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4578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3389D713-8CC3-A3E6-CF0C-386CEB36F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EC151652-5726-41B0-0838-6D94B61D28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graphicFrame>
        <p:nvGraphicFramePr>
          <p:cNvPr id="198" name="Google Shape;198;p36">
            <a:extLst>
              <a:ext uri="{FF2B5EF4-FFF2-40B4-BE49-F238E27FC236}">
                <a16:creationId xmlns:a16="http://schemas.microsoft.com/office/drawing/2014/main" id="{3B0BD8DF-60C9-7713-2BFD-AD2543A4E5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720592"/>
              </p:ext>
            </p:extLst>
          </p:nvPr>
        </p:nvGraphicFramePr>
        <p:xfrm>
          <a:off x="715000" y="1083701"/>
          <a:ext cx="7713899" cy="3406522"/>
        </p:xfrm>
        <a:graphic>
          <a:graphicData uri="http://schemas.openxmlformats.org/drawingml/2006/table">
            <a:tbl>
              <a:tblPr firstRow="1" bandRow="1">
                <a:noFill/>
                <a:tableStyleId>{B3BDA68B-AE0E-4B94-9F14-75E3F68F22BD}</a:tableStyleId>
              </a:tblPr>
              <a:tblGrid>
                <a:gridCol w="64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255">
                  <a:extLst>
                    <a:ext uri="{9D8B030D-6E8A-4147-A177-3AD203B41FA5}">
                      <a16:colId xmlns:a16="http://schemas.microsoft.com/office/drawing/2014/main" val="493164284"/>
                    </a:ext>
                  </a:extLst>
                </a:gridCol>
                <a:gridCol w="2849030">
                  <a:extLst>
                    <a:ext uri="{9D8B030D-6E8A-4147-A177-3AD203B41FA5}">
                      <a16:colId xmlns:a16="http://schemas.microsoft.com/office/drawing/2014/main" val="1205680258"/>
                    </a:ext>
                  </a:extLst>
                </a:gridCol>
                <a:gridCol w="233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u="none" dirty="0">
                          <a:solidFill>
                            <a:schemeClr val="hlink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Year</a:t>
                      </a:r>
                      <a:endParaRPr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Title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Key Contribution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Limitations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67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50" b="1" u="sng" dirty="0">
                          <a:solidFill>
                            <a:schemeClr val="dk1"/>
                          </a:solidFill>
                          <a:latin typeface="Albert Sans"/>
                          <a:ea typeface="Albert Sans"/>
                          <a:cs typeface="Albert Sans"/>
                          <a:sym typeface="Albert Sans"/>
                        </a:rPr>
                        <a:t>May, 2025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dirty="0">
                          <a:latin typeface="Albert Sans" panose="020B0604020202020204" charset="0"/>
                        </a:rPr>
                        <a:t>[ 11 ]</a:t>
                      </a:r>
                      <a:endParaRPr sz="1050" b="1" u="sng" dirty="0">
                        <a:solidFill>
                          <a:schemeClr val="dk1"/>
                        </a:solidFill>
                        <a:latin typeface="Albert Sans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Prune4Web: DOM Tree Pruning Programming for Web Agent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Three-stage </a:t>
                      </a:r>
                      <a:r>
                        <a:rPr lang="en-US" sz="1100" dirty="0" err="1">
                          <a:latin typeface="Albert Sans" panose="020B0604020202020204" charset="0"/>
                        </a:rPr>
                        <a:t>Planner→Filter→Grounder</a:t>
                      </a:r>
                      <a:r>
                        <a:rPr lang="en-US" sz="1100" dirty="0">
                          <a:latin typeface="Albert Sans" panose="020B0604020202020204" charset="0"/>
                        </a:rPr>
                        <a:t>; programmatic JS-extractor + chunked LLM judge; 88.28% EA Mind2Web with fine-tuned Qwen2.5VL-3B-Instruct grounder.</a:t>
                      </a:r>
                      <a:endParaRPr sz="1100" b="1" u="sng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100" b="0" dirty="0">
                          <a:latin typeface="Albert Sans" panose="020B0604020202020204" charset="0"/>
                        </a:rPr>
                        <a:t>Filter is prompt-engineered &amp; LLM-bound. grounder is a 3B VLM and no privacy/HITL layer</a:t>
                      </a:r>
                      <a:endParaRPr sz="1100" b="0" dirty="0">
                        <a:solidFill>
                          <a:schemeClr val="dk1"/>
                        </a:solidFill>
                        <a:latin typeface="Albert Sans" panose="020B0604020202020204" charset="0"/>
                        <a:ea typeface="Albert Sans"/>
                        <a:cs typeface="Albert Sans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u="sng" dirty="0">
                          <a:effectLst/>
                          <a:latin typeface="Albert Sans" panose="020B0604020202020204" charset="0"/>
                        </a:rPr>
                        <a:t>2025</a:t>
                      </a:r>
                      <a:r>
                        <a:rPr lang="en-IN" sz="1050" u="sng" dirty="0">
                          <a:effectLst/>
                          <a:latin typeface="Albert Sans" panose="020B0604020202020204" charset="0"/>
                        </a:rPr>
                        <a:t> </a:t>
                      </a:r>
                      <a:r>
                        <a:rPr lang="en-IN" sz="1050" dirty="0">
                          <a:effectLst/>
                          <a:latin typeface="Albert Sans" panose="020B0604020202020204" charset="0"/>
                        </a:rPr>
                        <a:t>[12]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Beyond Pixels: Exploring DOM </a:t>
                      </a:r>
                      <a:r>
                        <a:rPr lang="en-US" sz="1100" b="0" dirty="0" err="1">
                          <a:effectLst/>
                          <a:latin typeface="Albert Sans" panose="020B0604020202020204" charset="0"/>
                        </a:rPr>
                        <a:t>Downsampling</a:t>
                      </a:r>
                      <a:endParaRPr lang="en-US" sz="1100" b="0" dirty="0">
                        <a:effectLst/>
                        <a:latin typeface="Albert Sans" panose="020B0604020202020204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for LLM-Based Web Agents</a:t>
                      </a:r>
                      <a:endParaRPr lang="en-IN" sz="1100" b="0" dirty="0">
                        <a:effectLst/>
                        <a:latin typeface="Albert Sans" panose="020B060402020202020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Albert Sans" panose="020B0604020202020204" charset="0"/>
                        </a:rPr>
                        <a:t>DOM-diff snapshotting; ~10³-token compression via post-order merging + TextRank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Albert Sans" panose="020B0604020202020204" charset="0"/>
                        </a:rPr>
                        <a:t>Operates on isolated snapshots; no cross-step reuse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5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u="sng" dirty="0">
                          <a:effectLst/>
                          <a:latin typeface="Albert Sans" panose="020B0604020202020204" charset="0"/>
                        </a:rPr>
                        <a:t>2024</a:t>
                      </a:r>
                      <a:r>
                        <a:rPr lang="en-IN" sz="1050" dirty="0">
                          <a:effectLst/>
                          <a:latin typeface="Albert Sans" panose="020B0604020202020204" charset="0"/>
                        </a:rPr>
                        <a:t> [13]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Agent-E: From Autonomous Web Navigation to Foundational</a:t>
                      </a:r>
                    </a:p>
                    <a:p>
                      <a:pPr>
                        <a:buNone/>
                      </a:pP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Design Principles in Agentic Systems</a:t>
                      </a:r>
                      <a:endParaRPr lang="en-IN" sz="1100" b="0" dirty="0">
                        <a:effectLst/>
                        <a:latin typeface="Albert Sans" panose="020B060402020202020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Albert Sans" panose="020B0604020202020204" charset="0"/>
                        </a:rPr>
                        <a:t>Accessibility-tree pruning; </a:t>
                      </a:r>
                      <a:r>
                        <a:rPr lang="en-US" sz="1100" dirty="0" err="1">
                          <a:effectLst/>
                          <a:latin typeface="Albert Sans" panose="020B0604020202020204" charset="0"/>
                        </a:rPr>
                        <a:t>MutationObserver</a:t>
                      </a:r>
                      <a:r>
                        <a:rPr lang="en-US" sz="1100" dirty="0">
                          <a:effectLst/>
                          <a:latin typeface="Albert Sans" panose="020B0604020202020204" charset="0"/>
                        </a:rPr>
                        <a:t> for cross-step changes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Albert Sans" panose="020B0604020202020204" charset="0"/>
                        </a:rPr>
                        <a:t>Converts changes into prompt text — no token reduction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9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2092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A7C2683E-9045-8358-19E3-539BA5B8E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4FF7A3FD-F369-32A6-B545-3AA82A2A35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graphicFrame>
        <p:nvGraphicFramePr>
          <p:cNvPr id="198" name="Google Shape;198;p36">
            <a:extLst>
              <a:ext uri="{FF2B5EF4-FFF2-40B4-BE49-F238E27FC236}">
                <a16:creationId xmlns:a16="http://schemas.microsoft.com/office/drawing/2014/main" id="{F00D8C1D-208B-EC54-CF7A-CDD45A071A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5152082"/>
              </p:ext>
            </p:extLst>
          </p:nvPr>
        </p:nvGraphicFramePr>
        <p:xfrm>
          <a:off x="715000" y="1083701"/>
          <a:ext cx="7713899" cy="3406522"/>
        </p:xfrm>
        <a:graphic>
          <a:graphicData uri="http://schemas.openxmlformats.org/drawingml/2006/table">
            <a:tbl>
              <a:tblPr firstRow="1" bandRow="1">
                <a:noFill/>
                <a:tableStyleId>{B3BDA68B-AE0E-4B94-9F14-75E3F68F22BD}</a:tableStyleId>
              </a:tblPr>
              <a:tblGrid>
                <a:gridCol w="64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255">
                  <a:extLst>
                    <a:ext uri="{9D8B030D-6E8A-4147-A177-3AD203B41FA5}">
                      <a16:colId xmlns:a16="http://schemas.microsoft.com/office/drawing/2014/main" val="493164284"/>
                    </a:ext>
                  </a:extLst>
                </a:gridCol>
                <a:gridCol w="2849030">
                  <a:extLst>
                    <a:ext uri="{9D8B030D-6E8A-4147-A177-3AD203B41FA5}">
                      <a16:colId xmlns:a16="http://schemas.microsoft.com/office/drawing/2014/main" val="1205680258"/>
                    </a:ext>
                  </a:extLst>
                </a:gridCol>
                <a:gridCol w="233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u="none" dirty="0">
                          <a:solidFill>
                            <a:schemeClr val="hlink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Year</a:t>
                      </a:r>
                      <a:endParaRPr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Title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Key Contribution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Limitations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u="sng" dirty="0">
                          <a:effectLst/>
                          <a:latin typeface="Albert Sans" panose="020B0604020202020204" charset="0"/>
                        </a:rPr>
                        <a:t>2024</a:t>
                      </a:r>
                      <a:r>
                        <a:rPr lang="en-IN" sz="1050" dirty="0">
                          <a:effectLst/>
                          <a:latin typeface="Albert Sans" panose="020B0604020202020204" charset="0"/>
                        </a:rPr>
                        <a:t> [14]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 err="1">
                          <a:effectLst/>
                          <a:latin typeface="Albert Sans" panose="020B0604020202020204" charset="0"/>
                        </a:rPr>
                        <a:t>AutoWebGLM</a:t>
                      </a: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: A Large Language Model-based Web Navigating</a:t>
                      </a:r>
                      <a:endParaRPr lang="en-IN" sz="1100" b="0" dirty="0">
                        <a:effectLst/>
                        <a:latin typeface="Albert Sans" panose="020B060402020202020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>
                          <a:effectLst/>
                          <a:latin typeface="Albert Sans" panose="020B0604020202020204" charset="0"/>
                        </a:rPr>
                        <a:t>HTML pruning by trimming non-actionable nodes, depth-limit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>
                          <a:effectLst/>
                          <a:latin typeface="Albert Sans" panose="020B0604020202020204" charset="0"/>
                        </a:rPr>
                        <a:t>Per-step snapshot only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5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u="sng" dirty="0">
                          <a:effectLst/>
                          <a:latin typeface="Albert Sans" panose="020B0604020202020204" charset="0"/>
                        </a:rPr>
                        <a:t>2023 </a:t>
                      </a:r>
                      <a:r>
                        <a:rPr lang="en-IN" sz="1050" dirty="0">
                          <a:effectLst/>
                          <a:latin typeface="Albert Sans" panose="020B0604020202020204" charset="0"/>
                        </a:rPr>
                        <a:t>[15]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A Real-World </a:t>
                      </a:r>
                      <a:r>
                        <a:rPr lang="en-US" sz="1100" b="0" dirty="0" err="1">
                          <a:effectLst/>
                          <a:latin typeface="Albert Sans" panose="020B0604020202020204" charset="0"/>
                        </a:rPr>
                        <a:t>Webagent</a:t>
                      </a: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 With Planning, Long Context Understanding, And Program Synthesis </a:t>
                      </a:r>
                      <a:endParaRPr lang="en-IN" sz="1100" b="0" dirty="0">
                        <a:effectLst/>
                        <a:latin typeface="Albert Sans" panose="020B060402020202020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Albert Sans" panose="020B0604020202020204" charset="0"/>
                        </a:rPr>
                        <a:t>HTML-specific encoder for long DOM sequences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Albert Sans" panose="020B0604020202020204" charset="0"/>
                        </a:rPr>
                        <a:t>Each step independent &amp; no delta reuse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59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u="sng" dirty="0">
                          <a:effectLst/>
                          <a:latin typeface="Albert Sans" panose="020B0604020202020204" charset="0"/>
                        </a:rPr>
                        <a:t>2020 </a:t>
                      </a:r>
                      <a:r>
                        <a:rPr lang="en-IN" sz="1050" dirty="0">
                          <a:effectLst/>
                          <a:latin typeface="Albert Sans" panose="020B0604020202020204" charset="0"/>
                        </a:rPr>
                        <a:t>[16]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MINILM: Deep Self-Attention Distillation for Task-Agnostic Compression of Pre-Trained Transformers</a:t>
                      </a:r>
                      <a:endParaRPr lang="en-IN" sz="1100" b="0" dirty="0">
                        <a:effectLst/>
                        <a:latin typeface="Albert Sans" panose="020B060402020202020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Albert Sans" panose="020B0604020202020204" charset="0"/>
                        </a:rPr>
                        <a:t>22M-param distilled encoder, </a:t>
                      </a:r>
                      <a:r>
                        <a:rPr lang="en-IN" sz="1100" dirty="0" err="1">
                          <a:effectLst/>
                          <a:latin typeface="Albert Sans" panose="020B0604020202020204" charset="0"/>
                        </a:rPr>
                        <a:t>ms</a:t>
                      </a:r>
                      <a:r>
                        <a:rPr lang="en-IN" sz="1100" dirty="0">
                          <a:effectLst/>
                          <a:latin typeface="Albert Sans" panose="020B0604020202020204" charset="0"/>
                        </a:rPr>
                        <a:t>-level CPU inference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Albert Sans" panose="020B0604020202020204" charset="0"/>
                        </a:rPr>
                        <a:t>Generic encoder, not DOM-aware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18984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4899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>
          <a:extLst>
            <a:ext uri="{FF2B5EF4-FFF2-40B4-BE49-F238E27FC236}">
              <a16:creationId xmlns:a16="http://schemas.microsoft.com/office/drawing/2014/main" id="{A9DF050C-5D41-9265-0C67-E8906B74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6">
            <a:extLst>
              <a:ext uri="{FF2B5EF4-FFF2-40B4-BE49-F238E27FC236}">
                <a16:creationId xmlns:a16="http://schemas.microsoft.com/office/drawing/2014/main" id="{1E854A5E-00ED-D5F9-79F7-085527D0AE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Literature Review</a:t>
            </a:r>
            <a:endParaRPr dirty="0"/>
          </a:p>
        </p:txBody>
      </p:sp>
      <p:graphicFrame>
        <p:nvGraphicFramePr>
          <p:cNvPr id="198" name="Google Shape;198;p36">
            <a:extLst>
              <a:ext uri="{FF2B5EF4-FFF2-40B4-BE49-F238E27FC236}">
                <a16:creationId xmlns:a16="http://schemas.microsoft.com/office/drawing/2014/main" id="{36489C77-142E-AFB2-17EB-EFD330178BC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27369674"/>
              </p:ext>
            </p:extLst>
          </p:nvPr>
        </p:nvGraphicFramePr>
        <p:xfrm>
          <a:off x="715000" y="1083701"/>
          <a:ext cx="7713899" cy="1314630"/>
        </p:xfrm>
        <a:graphic>
          <a:graphicData uri="http://schemas.openxmlformats.org/drawingml/2006/table">
            <a:tbl>
              <a:tblPr firstRow="1" bandRow="1">
                <a:noFill/>
                <a:tableStyleId>{B3BDA68B-AE0E-4B94-9F14-75E3F68F22BD}</a:tableStyleId>
              </a:tblPr>
              <a:tblGrid>
                <a:gridCol w="648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255">
                  <a:extLst>
                    <a:ext uri="{9D8B030D-6E8A-4147-A177-3AD203B41FA5}">
                      <a16:colId xmlns:a16="http://schemas.microsoft.com/office/drawing/2014/main" val="493164284"/>
                    </a:ext>
                  </a:extLst>
                </a:gridCol>
                <a:gridCol w="2849030">
                  <a:extLst>
                    <a:ext uri="{9D8B030D-6E8A-4147-A177-3AD203B41FA5}">
                      <a16:colId xmlns:a16="http://schemas.microsoft.com/office/drawing/2014/main" val="1205680258"/>
                    </a:ext>
                  </a:extLst>
                </a:gridCol>
                <a:gridCol w="2332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26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100" b="1" u="none" dirty="0">
                          <a:solidFill>
                            <a:schemeClr val="hlink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Year</a:t>
                      </a:r>
                      <a:endParaRPr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Title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Key Contribution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u="none" dirty="0">
                          <a:solidFill>
                            <a:schemeClr val="dk1"/>
                          </a:solidFill>
                          <a:latin typeface="Alexandria Medium" panose="020B0604020202020204" charset="-78"/>
                          <a:ea typeface="Albert Sans"/>
                          <a:cs typeface="Alexandria Medium" panose="020B0604020202020204" charset="-78"/>
                          <a:sym typeface="Albert Sans"/>
                        </a:rPr>
                        <a:t>Limitations</a:t>
                      </a:r>
                      <a:endParaRPr lang="en-IN" sz="1100" b="1" u="none" dirty="0">
                        <a:solidFill>
                          <a:schemeClr val="dk1"/>
                        </a:solidFill>
                        <a:latin typeface="Alexandria Medium" panose="020B0604020202020204" charset="-78"/>
                        <a:ea typeface="Albert Sans"/>
                        <a:cs typeface="Alexandria Medium" panose="020B0604020202020204" charset="-78"/>
                        <a:sym typeface="Albert Sans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63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50" b="1" u="sng" dirty="0">
                          <a:effectLst/>
                          <a:latin typeface="Albert Sans" panose="020B0604020202020204" charset="0"/>
                        </a:rPr>
                        <a:t>2023</a:t>
                      </a:r>
                      <a:r>
                        <a:rPr lang="en-IN" sz="1050" dirty="0">
                          <a:effectLst/>
                          <a:latin typeface="Albert Sans" panose="020B0604020202020204" charset="0"/>
                        </a:rPr>
                        <a:t> [17]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QLORA: Efficient Finetuning of Quantized LLMs</a:t>
                      </a:r>
                      <a:endParaRPr lang="en-IN" sz="1100" b="0" dirty="0">
                        <a:effectLst/>
                        <a:latin typeface="Albert Sans" panose="020B0604020202020204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effectLst/>
                          <a:latin typeface="Albert Sans" panose="020B0604020202020204" charset="0"/>
                        </a:rPr>
                        <a:t>4-bit nf4 + </a:t>
                      </a:r>
                      <a:r>
                        <a:rPr lang="en-US" sz="1100" dirty="0" err="1">
                          <a:effectLst/>
                          <a:latin typeface="Albert Sans" panose="020B0604020202020204" charset="0"/>
                        </a:rPr>
                        <a:t>LoRA</a:t>
                      </a:r>
                      <a:r>
                        <a:rPr lang="en-US" sz="1100" dirty="0">
                          <a:effectLst/>
                          <a:latin typeface="Albert Sans" panose="020B0604020202020204" charset="0"/>
                        </a:rPr>
                        <a:t> — billion-scale fine-tuning on a single consumer GPU</a:t>
                      </a: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effectLst/>
                          <a:latin typeface="Albert Sans" panose="020B0604020202020204" charset="0"/>
                        </a:rPr>
                        <a:t>—</a:t>
                      </a:r>
                    </a:p>
                  </a:txBody>
                  <a:tcPr marL="76200" marR="76200" marT="38100" marB="3810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552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5"/>
          <p:cNvSpPr txBox="1">
            <a:spLocks noGrp="1"/>
          </p:cNvSpPr>
          <p:nvPr>
            <p:ph type="subTitle" idx="1"/>
          </p:nvPr>
        </p:nvSpPr>
        <p:spPr>
          <a:xfrm>
            <a:off x="715100" y="1559777"/>
            <a:ext cx="3856900" cy="12858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Current agents struggle with fine-grained visual-to-HTML grounding, causing major failures on real websites [ 4 ] [ 5 ] [ 9 ].</a:t>
            </a:r>
            <a:endParaRPr dirty="0"/>
          </a:p>
        </p:txBody>
      </p:sp>
      <p:sp>
        <p:nvSpPr>
          <p:cNvPr id="294" name="Google Shape;294;p4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Research Gaps</a:t>
            </a:r>
          </a:p>
        </p:txBody>
      </p:sp>
      <p:sp>
        <p:nvSpPr>
          <p:cNvPr id="295" name="Google Shape;295;p45"/>
          <p:cNvSpPr txBox="1">
            <a:spLocks noGrp="1"/>
          </p:cNvSpPr>
          <p:nvPr>
            <p:ph type="subTitle" idx="2"/>
          </p:nvPr>
        </p:nvSpPr>
        <p:spPr>
          <a:xfrm>
            <a:off x="715195" y="1083701"/>
            <a:ext cx="3569931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1400" dirty="0"/>
              <a:t>Unreliable Element Grounding</a:t>
            </a:r>
            <a:endParaRPr sz="1400" dirty="0"/>
          </a:p>
        </p:txBody>
      </p:sp>
      <p:sp>
        <p:nvSpPr>
          <p:cNvPr id="296" name="Google Shape;296;p45"/>
          <p:cNvSpPr txBox="1">
            <a:spLocks noGrp="1"/>
          </p:cNvSpPr>
          <p:nvPr>
            <p:ph type="subTitle" idx="3"/>
          </p:nvPr>
        </p:nvSpPr>
        <p:spPr>
          <a:xfrm>
            <a:off x="4571906" y="1523464"/>
            <a:ext cx="3856898" cy="12858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/>
              <a:t>Every existing pruning system (Prune4Web, </a:t>
            </a:r>
            <a:r>
              <a:rPr lang="en-US" dirty="0" err="1"/>
              <a:t>AutoWebGLM</a:t>
            </a:r>
            <a:r>
              <a:rPr lang="en-US" dirty="0"/>
              <a:t>, Agent-E, HTML-T5) re-processes the full DOM each step, even when the page changed marginally. No structural-UID + delta layer is wired into a real filter [ 11 ] [ 13 ] [ 14 ] [ 15 ].</a:t>
            </a:r>
          </a:p>
        </p:txBody>
      </p:sp>
      <p:sp>
        <p:nvSpPr>
          <p:cNvPr id="297" name="Google Shape;297;p45"/>
          <p:cNvSpPr txBox="1">
            <a:spLocks noGrp="1"/>
          </p:cNvSpPr>
          <p:nvPr>
            <p:ph type="subTitle" idx="4"/>
          </p:nvPr>
        </p:nvSpPr>
        <p:spPr>
          <a:xfrm>
            <a:off x="4571904" y="1047388"/>
            <a:ext cx="3569931" cy="5487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Stateless full-DOM filtering</a:t>
            </a:r>
            <a:endParaRPr sz="1400" dirty="0"/>
          </a:p>
        </p:txBody>
      </p:sp>
      <p:sp>
        <p:nvSpPr>
          <p:cNvPr id="2" name="Google Shape;293;p45">
            <a:extLst>
              <a:ext uri="{FF2B5EF4-FFF2-40B4-BE49-F238E27FC236}">
                <a16:creationId xmlns:a16="http://schemas.microsoft.com/office/drawing/2014/main" id="{1DF0CD9B-7C0D-A32F-F08F-E6C80604DBA3}"/>
              </a:ext>
            </a:extLst>
          </p:cNvPr>
          <p:cNvSpPr txBox="1">
            <a:spLocks/>
          </p:cNvSpPr>
          <p:nvPr/>
        </p:nvSpPr>
        <p:spPr>
          <a:xfrm>
            <a:off x="715004" y="3438475"/>
            <a:ext cx="3856900" cy="1285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dirty="0"/>
              <a:t>Most web agents dependent on GPT-4V or Qwen2.5VL-3B. Also open-weight small models such as 0.5B grounders exist with not having strong number [ 11 ].</a:t>
            </a:r>
          </a:p>
        </p:txBody>
      </p:sp>
      <p:sp>
        <p:nvSpPr>
          <p:cNvPr id="3" name="Google Shape;295;p45">
            <a:extLst>
              <a:ext uri="{FF2B5EF4-FFF2-40B4-BE49-F238E27FC236}">
                <a16:creationId xmlns:a16="http://schemas.microsoft.com/office/drawing/2014/main" id="{A6EDD8C2-FDDF-5BF9-115A-85720AC8FA3D}"/>
              </a:ext>
            </a:extLst>
          </p:cNvPr>
          <p:cNvSpPr txBox="1">
            <a:spLocks/>
          </p:cNvSpPr>
          <p:nvPr/>
        </p:nvSpPr>
        <p:spPr>
          <a:xfrm>
            <a:off x="715099" y="2962399"/>
            <a:ext cx="3569931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indent="0"/>
            <a:r>
              <a:rPr lang="en-US" sz="1400" dirty="0"/>
              <a:t>Sub-1B local grounders are under-studied</a:t>
            </a:r>
            <a:endParaRPr lang="en-IN" sz="1400" dirty="0"/>
          </a:p>
        </p:txBody>
      </p:sp>
      <p:sp>
        <p:nvSpPr>
          <p:cNvPr id="4" name="Google Shape;296;p45">
            <a:extLst>
              <a:ext uri="{FF2B5EF4-FFF2-40B4-BE49-F238E27FC236}">
                <a16:creationId xmlns:a16="http://schemas.microsoft.com/office/drawing/2014/main" id="{8852FA2B-E011-46E0-EC74-C1A321BB7995}"/>
              </a:ext>
            </a:extLst>
          </p:cNvPr>
          <p:cNvSpPr txBox="1">
            <a:spLocks/>
          </p:cNvSpPr>
          <p:nvPr/>
        </p:nvSpPr>
        <p:spPr>
          <a:xfrm>
            <a:off x="4571810" y="3402162"/>
            <a:ext cx="3856898" cy="1285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en-US" dirty="0" err="1"/>
              <a:t>Mosts</a:t>
            </a:r>
            <a:r>
              <a:rPr lang="en-US" dirty="0"/>
              <a:t> Web-automation tools, do not look for sensitive pages like CAPTCHA, Payment-Gateway, login, or explicit privacy policies at each subtask level [ 1 ] [ 3 ].</a:t>
            </a:r>
          </a:p>
        </p:txBody>
      </p:sp>
      <p:sp>
        <p:nvSpPr>
          <p:cNvPr id="5" name="Google Shape;297;p45">
            <a:extLst>
              <a:ext uri="{FF2B5EF4-FFF2-40B4-BE49-F238E27FC236}">
                <a16:creationId xmlns:a16="http://schemas.microsoft.com/office/drawing/2014/main" id="{5737E93D-79F6-C537-6153-7092269C1F80}"/>
              </a:ext>
            </a:extLst>
          </p:cNvPr>
          <p:cNvSpPr txBox="1">
            <a:spLocks/>
          </p:cNvSpPr>
          <p:nvPr/>
        </p:nvSpPr>
        <p:spPr>
          <a:xfrm>
            <a:off x="4571808" y="2926086"/>
            <a:ext cx="3569931" cy="548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18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exandria Medium"/>
              <a:buNone/>
              <a:defRPr sz="2400" b="0" i="0" u="none" strike="noStrike" cap="none">
                <a:solidFill>
                  <a:schemeClr val="dk1"/>
                </a:solidFill>
                <a:latin typeface="Alexandria Medium"/>
                <a:ea typeface="Alexandria Medium"/>
                <a:cs typeface="Alexandria Medium"/>
                <a:sym typeface="Alexandria Medium"/>
              </a:defRPr>
            </a:lvl9pPr>
          </a:lstStyle>
          <a:p>
            <a:pPr marL="0" lvl="0" indent="0"/>
            <a:r>
              <a:rPr lang="en-US" sz="1400" dirty="0"/>
              <a:t>Privacy and HITL Limitations</a:t>
            </a:r>
          </a:p>
        </p:txBody>
      </p:sp>
    </p:spTree>
    <p:extLst>
      <p:ext uri="{BB962C8B-B14F-4D97-AF65-F5344CB8AC3E}">
        <p14:creationId xmlns:p14="http://schemas.microsoft.com/office/powerpoint/2010/main" val="710578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>
          <a:extLst>
            <a:ext uri="{FF2B5EF4-FFF2-40B4-BE49-F238E27FC236}">
              <a16:creationId xmlns:a16="http://schemas.microsoft.com/office/drawing/2014/main" id="{DD40ED0D-E15A-1C81-B93F-6050EC22D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68">
            <a:extLst>
              <a:ext uri="{FF2B5EF4-FFF2-40B4-BE49-F238E27FC236}">
                <a16:creationId xmlns:a16="http://schemas.microsoft.com/office/drawing/2014/main" id="{B290D8FC-E0CF-AAE2-D749-B45BF48A9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967983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Objectives</a:t>
            </a:r>
            <a:endParaRPr dirty="0"/>
          </a:p>
        </p:txBody>
      </p:sp>
      <p:sp>
        <p:nvSpPr>
          <p:cNvPr id="7" name="Google Shape;293;p45">
            <a:extLst>
              <a:ext uri="{FF2B5EF4-FFF2-40B4-BE49-F238E27FC236}">
                <a16:creationId xmlns:a16="http://schemas.microsoft.com/office/drawing/2014/main" id="{C072E95C-E878-36B7-DBC5-D50847B52149}"/>
              </a:ext>
            </a:extLst>
          </p:cNvPr>
          <p:cNvSpPr txBox="1">
            <a:spLocks/>
          </p:cNvSpPr>
          <p:nvPr/>
        </p:nvSpPr>
        <p:spPr>
          <a:xfrm>
            <a:off x="588008" y="1261984"/>
            <a:ext cx="8095074" cy="2619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Build a web automation agent using multimodal which can perform better on some parameter to improve the overall automation process.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Use HTML summarizer which can parse only query related values further we can use that as input to large models.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Add DOM Delta layer for better inference with filter stage with </a:t>
            </a:r>
            <a:r>
              <a:rPr lang="en-US" dirty="0" err="1"/>
              <a:t>MiniLM</a:t>
            </a:r>
            <a:r>
              <a:rPr lang="en-US" dirty="0"/>
              <a:t> based scoring.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Replace closed Qwen2.5-3B grounder with QLORA fine-tuned 0.5B or 0.6B model.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Add Policy HUB and HITL layers with customizable policies and keywords.</a:t>
            </a:r>
          </a:p>
        </p:txBody>
      </p:sp>
    </p:spTree>
    <p:extLst>
      <p:ext uri="{BB962C8B-B14F-4D97-AF65-F5344CB8AC3E}">
        <p14:creationId xmlns:p14="http://schemas.microsoft.com/office/powerpoint/2010/main" val="2403153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F9E8F7EE-675B-9E4F-3FF4-BA320203F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CD0436A2-FB51-76E4-9DAA-01C5AEDE68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</a:t>
            </a:r>
            <a:r>
              <a:rPr lang="en-IN" dirty="0"/>
              <a:t>xisting Solution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ACCC43D1-DF3D-9EAF-0834-B39809A1D785}"/>
              </a:ext>
            </a:extLst>
          </p:cNvPr>
          <p:cNvSpPr txBox="1">
            <a:spLocks/>
          </p:cNvSpPr>
          <p:nvPr/>
        </p:nvSpPr>
        <p:spPr>
          <a:xfrm>
            <a:off x="715098" y="1262728"/>
            <a:ext cx="7886207" cy="3345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just"/>
            <a:r>
              <a:rPr lang="en-US" sz="1100" i="1" dirty="0">
                <a:latin typeface="Albert Sans" panose="020B0604020202020204" charset="0"/>
              </a:rPr>
              <a:t>Paper-Title: Prune4Web: DOM Tree Pruning Programming for Web Agent</a:t>
            </a:r>
          </a:p>
          <a:p>
            <a:pPr lvl="1" algn="just"/>
            <a:endParaRPr lang="en-US" dirty="0">
              <a:latin typeface="Albert Sans" panose="020B0604020202020204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Three-stage pipeline: Planner (decides sub-task) → Programmatic Element Filter (LLM emits a Python keyword:weight script that a deterministic scorer applies) → Action Grounder (fine-tuned Qwen2.5VL-3B-Instruct).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Reports 88.28% Element Accuracy on Mind2Web </a:t>
            </a:r>
            <a:r>
              <a:rPr lang="en-US" sz="1200" dirty="0" err="1">
                <a:latin typeface="Albert Sans" panose="020B0604020202020204" charset="0"/>
              </a:rPr>
              <a:t>test_task</a:t>
            </a:r>
            <a:r>
              <a:rPr lang="en-US" sz="1200" dirty="0">
                <a:latin typeface="Albert Sans" panose="020B0604020202020204" charset="0"/>
              </a:rPr>
              <a:t> with the fine-tuned 3B VLM grounder also filter is having 25 to 50 times DOM-token reduction at the filter stage.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Chosen as base over </a:t>
            </a:r>
            <a:r>
              <a:rPr lang="en-US" sz="1200" dirty="0" err="1">
                <a:latin typeface="Albert Sans" panose="020B0604020202020204" charset="0"/>
              </a:rPr>
              <a:t>SeeAct</a:t>
            </a:r>
            <a:r>
              <a:rPr lang="en-US" sz="1200" dirty="0">
                <a:latin typeface="Albert Sans" panose="020B0604020202020204" charset="0"/>
              </a:rPr>
              <a:t> because </a:t>
            </a:r>
            <a:r>
              <a:rPr lang="en-US" sz="1200" dirty="0" err="1">
                <a:latin typeface="Albert Sans" panose="020B0604020202020204" charset="0"/>
              </a:rPr>
              <a:t>SeeAct</a:t>
            </a:r>
            <a:r>
              <a:rPr lang="en-US" sz="1200" dirty="0">
                <a:latin typeface="Albert Sans" panose="020B0604020202020204" charset="0"/>
              </a:rPr>
              <a:t> depends on GPT-4V (paid) and could not be reproduced locally while Prune4Web has an local inference capability and a stronger published number.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F5B248-DF68-816A-1B93-148D92FF9DBB}"/>
              </a:ext>
            </a:extLst>
          </p:cNvPr>
          <p:cNvSpPr txBox="1"/>
          <p:nvPr/>
        </p:nvSpPr>
        <p:spPr>
          <a:xfrm>
            <a:off x="715097" y="4833425"/>
            <a:ext cx="49043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Source: [ 5 ] [ 11 ]</a:t>
            </a:r>
            <a:endParaRPr lang="en-IN" sz="800" i="1" dirty="0"/>
          </a:p>
        </p:txBody>
      </p:sp>
    </p:spTree>
    <p:extLst>
      <p:ext uri="{BB962C8B-B14F-4D97-AF65-F5344CB8AC3E}">
        <p14:creationId xmlns:p14="http://schemas.microsoft.com/office/powerpoint/2010/main" val="136181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D3195EF8-F2F9-AC96-869A-5E76AE06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AEE83671-BE4A-3FB9-EB71-435B415EE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Dataset: MultiModal-Mind2Web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E4F121E3-B9FA-7E6F-429F-B541499DA5DD}"/>
              </a:ext>
            </a:extLst>
          </p:cNvPr>
          <p:cNvSpPr txBox="1">
            <a:spLocks/>
          </p:cNvSpPr>
          <p:nvPr/>
        </p:nvSpPr>
        <p:spPr>
          <a:xfrm>
            <a:off x="715098" y="1262728"/>
            <a:ext cx="7886207" cy="16844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just"/>
            <a:r>
              <a:rPr lang="en-US" sz="1200" b="1" dirty="0">
                <a:latin typeface="Albert Sans" panose="020B0604020202020204" charset="0"/>
              </a:rPr>
              <a:t>What is Multimodal-Mind2Web:</a:t>
            </a:r>
          </a:p>
          <a:p>
            <a:pPr lvl="1" algn="just"/>
            <a:endParaRPr lang="en-IN" sz="1200" b="1" dirty="0">
              <a:latin typeface="Albert Sans" panose="020B0604020202020204" charset="0"/>
            </a:endParaRP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It is the multimodal version of Mind2Web, Where each webpage state has both screenshot image + HTML DOM [ 10 ].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Covers 137 websites, spanning 31 top-level domains, with a broad variety of user tasks + interaction patterns [ 10 ].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Consists of over 2,000+ distinct tasks (in the original Mind2Web) with crowdsourced action sequences [ 10 ].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92BC6F2-8F1E-7E35-55EA-ADBEDBD2C9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0957679"/>
              </p:ext>
            </p:extLst>
          </p:nvPr>
        </p:nvGraphicFramePr>
        <p:xfrm>
          <a:off x="715100" y="2947182"/>
          <a:ext cx="7886205" cy="1752303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753782">
                  <a:extLst>
                    <a:ext uri="{9D8B030D-6E8A-4147-A177-3AD203B41FA5}">
                      <a16:colId xmlns:a16="http://schemas.microsoft.com/office/drawing/2014/main" val="1788441655"/>
                    </a:ext>
                  </a:extLst>
                </a:gridCol>
                <a:gridCol w="3503688">
                  <a:extLst>
                    <a:ext uri="{9D8B030D-6E8A-4147-A177-3AD203B41FA5}">
                      <a16:colId xmlns:a16="http://schemas.microsoft.com/office/drawing/2014/main" val="413686892"/>
                    </a:ext>
                  </a:extLst>
                </a:gridCol>
                <a:gridCol w="2628735">
                  <a:extLst>
                    <a:ext uri="{9D8B030D-6E8A-4147-A177-3AD203B41FA5}">
                      <a16:colId xmlns:a16="http://schemas.microsoft.com/office/drawing/2014/main" val="1405997795"/>
                    </a:ext>
                  </a:extLst>
                </a:gridCol>
              </a:tblGrid>
              <a:tr h="214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Split / 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No. of actions / 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What it means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9836580"/>
                  </a:ext>
                </a:extLst>
              </a:tr>
              <a:tr h="365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Albert Sans" panose="020B0604020202020204" charset="0"/>
                        </a:rPr>
                        <a:t>Train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7775 actions from 1009 tasks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training pool for learning / experimentation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6579234"/>
                  </a:ext>
                </a:extLst>
              </a:tr>
              <a:tr h="365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latin typeface="Albert Sans" panose="020B0604020202020204" charset="0"/>
                        </a:rPr>
                        <a:t>Test_task</a:t>
                      </a:r>
                      <a:endParaRPr lang="en-IN" sz="1100" dirty="0">
                        <a:latin typeface="Albert Sans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1339 actions from 177 tasks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tests generalization across tasks within known websites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3456989"/>
                  </a:ext>
                </a:extLst>
              </a:tr>
              <a:tr h="3654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latin typeface="Albert Sans" panose="020B0604020202020204" charset="0"/>
                        </a:rPr>
                        <a:t>Test_website</a:t>
                      </a:r>
                      <a:endParaRPr lang="en-IN" sz="1100" dirty="0">
                        <a:latin typeface="Albert Sans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1019 actions from 142 tasks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Albert Sans" panose="020B0604020202020204" charset="0"/>
                        </a:rPr>
                        <a:t>tests cross-website generalization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377867"/>
                  </a:ext>
                </a:extLst>
              </a:tr>
              <a:tr h="21497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>
                          <a:latin typeface="Albert Sans" panose="020B0604020202020204" charset="0"/>
                        </a:rPr>
                        <a:t>Test_domain</a:t>
                      </a:r>
                      <a:endParaRPr lang="en-IN" sz="1100" dirty="0">
                        <a:latin typeface="Albert Sans" panose="020B060402020202020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latin typeface="Albert Sans" panose="020B0604020202020204" charset="0"/>
                        </a:rPr>
                        <a:t>4060 actions from 694 tasks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>
                          <a:latin typeface="Albert Sans" panose="020B0604020202020204" charset="0"/>
                        </a:rPr>
                        <a:t>tests cross-domain robustness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7741429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82E43B85-5067-79F9-2BFD-700E9D6629AB}"/>
              </a:ext>
            </a:extLst>
          </p:cNvPr>
          <p:cNvSpPr txBox="1"/>
          <p:nvPr/>
        </p:nvSpPr>
        <p:spPr>
          <a:xfrm>
            <a:off x="715097" y="4833425"/>
            <a:ext cx="490431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/>
              <a:t>Source: [ 10 ]</a:t>
            </a:r>
            <a:endParaRPr lang="en-IN" sz="800" i="1" dirty="0"/>
          </a:p>
        </p:txBody>
      </p:sp>
    </p:spTree>
    <p:extLst>
      <p:ext uri="{BB962C8B-B14F-4D97-AF65-F5344CB8AC3E}">
        <p14:creationId xmlns:p14="http://schemas.microsoft.com/office/powerpoint/2010/main" val="485720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578F9954-5193-2B2D-B5EB-2D45BF692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E3B828B7-0954-22F8-D18B-B4045FDB15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sv-SE" dirty="0"/>
              <a:t>Novelty 1: DOM Delta Processing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F9A2E51D-CEB4-9C1A-C7BE-2F9134B13073}"/>
              </a:ext>
            </a:extLst>
          </p:cNvPr>
          <p:cNvSpPr txBox="1">
            <a:spLocks/>
          </p:cNvSpPr>
          <p:nvPr/>
        </p:nvSpPr>
        <p:spPr>
          <a:xfrm>
            <a:off x="715098" y="1262728"/>
            <a:ext cx="4708375" cy="3345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Albert Sans" panose="020B0604020202020204" charset="0"/>
              </a:rPr>
              <a:t>Structural UID:</a:t>
            </a:r>
            <a:r>
              <a:rPr lang="en-US" sz="1200" dirty="0">
                <a:latin typeface="Albert Sans" panose="020B0604020202020204" charset="0"/>
              </a:rPr>
              <a:t> tag, id, name, </a:t>
            </a:r>
            <a:r>
              <a:rPr lang="en-US" sz="1200" dirty="0" err="1">
                <a:latin typeface="Albert Sans" panose="020B0604020202020204" charset="0"/>
              </a:rPr>
              <a:t>xpath</a:t>
            </a:r>
            <a:r>
              <a:rPr lang="en-US" sz="1200" dirty="0">
                <a:latin typeface="Albert Sans" panose="020B0604020202020204" charset="0"/>
              </a:rPr>
              <a:t> values are stable across re-renders, even when visible text mutates. Same property as Mind2Web's </a:t>
            </a:r>
            <a:r>
              <a:rPr lang="en-US" sz="1200" dirty="0" err="1">
                <a:latin typeface="Albert Sans" panose="020B0604020202020204" charset="0"/>
              </a:rPr>
              <a:t>backend_node_id</a:t>
            </a:r>
            <a:r>
              <a:rPr lang="en-US" sz="1200" dirty="0">
                <a:latin typeface="Albert Sans" panose="020B0604020202020204" charset="0"/>
              </a:rPr>
              <a:t> but computed offline from parsed HTML, where no live browser needed.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Albert Sans" panose="020B0604020202020204" charset="0"/>
              </a:rPr>
              <a:t>Ancestor summary:</a:t>
            </a:r>
            <a:r>
              <a:rPr lang="en-US" sz="1200" dirty="0">
                <a:latin typeface="Albert Sans" panose="020B0604020202020204" charset="0"/>
              </a:rPr>
              <a:t> Keep up to 4 semantically meaningful ancestors (form, nav, section, dialog) appended which preserve ancestor summary.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Albert Sans" panose="020B0604020202020204" charset="0"/>
              </a:rPr>
              <a:t>Hybrid score:</a:t>
            </a:r>
            <a:r>
              <a:rPr lang="en-US" sz="1200" dirty="0">
                <a:latin typeface="Albert Sans" panose="020B0604020202020204" charset="0"/>
              </a:rPr>
              <a:t> </a:t>
            </a:r>
            <a:r>
              <a:rPr lang="en-IN" sz="1200" dirty="0">
                <a:latin typeface="Albert Sans" panose="020B0604020202020204" charset="0"/>
              </a:rPr>
              <a:t>calculate hybrid score with delta keyword and with delta </a:t>
            </a:r>
            <a:r>
              <a:rPr lang="en-US" sz="1200" dirty="0">
                <a:latin typeface="Albert Sans" panose="020B0604020202020204" charset="0"/>
              </a:rPr>
              <a:t>sentence embeddings from all-MiniLM-L6-v2.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Albert Sans" panose="020B0604020202020204" charset="0"/>
              </a:rPr>
              <a:t>Result:</a:t>
            </a:r>
            <a:r>
              <a:rPr lang="en-US" sz="1200" dirty="0">
                <a:latin typeface="Albert Sans" panose="020B0604020202020204" charset="0"/>
              </a:rPr>
              <a:t> As a result 16–18% Qwen-token reduction at matched Recall@20 across all three test splits.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BC9ADD-A799-690E-9563-06D651947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0972" y="0"/>
            <a:ext cx="3123028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6106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15D13078-1478-F692-8BEC-1072E62D6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C8CE94F7-3A8E-B6AB-912B-7B188451CF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Novelty 2: Policy Hub + Risk-Based HITL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45397963-44AB-1DF3-41A9-FCC1B97C4ECE}"/>
              </a:ext>
            </a:extLst>
          </p:cNvPr>
          <p:cNvSpPr txBox="1">
            <a:spLocks/>
          </p:cNvSpPr>
          <p:nvPr/>
        </p:nvSpPr>
        <p:spPr>
          <a:xfrm>
            <a:off x="715098" y="1262728"/>
            <a:ext cx="4708375" cy="35062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b="1" dirty="0" err="1">
                <a:latin typeface="Albert Sans" panose="020B0604020202020204" charset="0"/>
              </a:rPr>
              <a:t>PolicyHub</a:t>
            </a:r>
            <a:r>
              <a:rPr lang="en-US" sz="1200" b="1" dirty="0">
                <a:latin typeface="Albert Sans" panose="020B0604020202020204" charset="0"/>
              </a:rPr>
              <a:t>:</a:t>
            </a:r>
            <a:r>
              <a:rPr lang="en-US" sz="1200" dirty="0">
                <a:latin typeface="Albert Sans" panose="020B0604020202020204" charset="0"/>
              </a:rPr>
              <a:t> Contain Policies and risky keywords list, which is customizable and can contain complete policy as well.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LLM JSON output extended with </a:t>
            </a:r>
            <a:r>
              <a:rPr lang="en-US" sz="1200" dirty="0" err="1">
                <a:latin typeface="Albert Sans" panose="020B0604020202020204" charset="0"/>
              </a:rPr>
              <a:t>policy_risk</a:t>
            </a:r>
            <a:r>
              <a:rPr lang="en-US" sz="1200" dirty="0">
                <a:latin typeface="Albert Sans" panose="020B0604020202020204" charset="0"/>
              </a:rPr>
              <a:t> (bool), </a:t>
            </a:r>
            <a:r>
              <a:rPr lang="en-US" sz="1200" dirty="0" err="1">
                <a:latin typeface="Albert Sans" panose="020B0604020202020204" charset="0"/>
              </a:rPr>
              <a:t>risk_confidence</a:t>
            </a:r>
            <a:r>
              <a:rPr lang="en-US" sz="1200" dirty="0">
                <a:latin typeface="Albert Sans" panose="020B0604020202020204" charset="0"/>
              </a:rPr>
              <a:t>, </a:t>
            </a:r>
            <a:r>
              <a:rPr lang="en-US" sz="1200" dirty="0" err="1">
                <a:latin typeface="Albert Sans" panose="020B0604020202020204" charset="0"/>
              </a:rPr>
              <a:t>hitl_reason</a:t>
            </a:r>
            <a:r>
              <a:rPr lang="en-US" sz="1200" dirty="0">
                <a:latin typeface="Albert Sans" panose="020B0604020202020204" charset="0"/>
              </a:rPr>
              <a:t>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Albert Sans" panose="020B0604020202020204" charset="0"/>
              </a:rPr>
              <a:t>HITL gate</a:t>
            </a:r>
            <a:r>
              <a:rPr lang="en-US" sz="1200" dirty="0">
                <a:latin typeface="Albert Sans" panose="020B0604020202020204" charset="0"/>
              </a:rPr>
              <a:t> fires on any one of three OR-combined triggers: (a) LLM self-flags </a:t>
            </a:r>
            <a:r>
              <a:rPr lang="en-US" sz="1200" dirty="0" err="1">
                <a:latin typeface="Albert Sans" panose="020B0604020202020204" charset="0"/>
              </a:rPr>
              <a:t>policy_risk</a:t>
            </a:r>
            <a:r>
              <a:rPr lang="en-US" sz="1200" dirty="0">
                <a:latin typeface="Albert Sans" panose="020B0604020202020204" charset="0"/>
              </a:rPr>
              <a:t>=true, (b) a risk keyword appears in the action text or </a:t>
            </a:r>
            <a:r>
              <a:rPr lang="en-US" sz="1200" dirty="0" err="1">
                <a:latin typeface="Albert Sans" panose="020B0604020202020204" charset="0"/>
              </a:rPr>
              <a:t>hitl_reason</a:t>
            </a:r>
            <a:r>
              <a:rPr lang="en-US" sz="1200" dirty="0">
                <a:latin typeface="Albert Sans" panose="020B0604020202020204" charset="0"/>
              </a:rPr>
              <a:t>, (c) </a:t>
            </a:r>
            <a:r>
              <a:rPr lang="en-US" sz="1200" dirty="0" err="1">
                <a:latin typeface="Albert Sans" panose="020B0604020202020204" charset="0"/>
              </a:rPr>
              <a:t>risk_confidence</a:t>
            </a:r>
            <a:r>
              <a:rPr lang="en-US" sz="1200" dirty="0">
                <a:latin typeface="Albert Sans" panose="020B0604020202020204" charset="0"/>
              </a:rPr>
              <a:t> falls below a configured threshold.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The gate sits before the grounder, so risky steps further inference can be avoided by the expensive grounder call.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b="1" dirty="0">
                <a:latin typeface="Albert Sans" panose="020B0604020202020204" charset="0"/>
              </a:rPr>
              <a:t>Privacy-Aware LLM</a:t>
            </a:r>
            <a:r>
              <a:rPr lang="en-US" sz="1200" dirty="0">
                <a:latin typeface="Albert Sans" panose="020B0604020202020204" charset="0"/>
              </a:rPr>
              <a:t> wrapper (between Filter and Grounder) runs a regex PII detector such as email, phone, Aadhaar, PAN, password and replaces matches with masking [EMAIL_MASKED] style placeholders. A short privacy directive is injected into the grounder system prompt instructing the model to treat masked tokens as opaque.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81E4D5-D534-2E05-3CB8-034BDEE75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3473" y="1252793"/>
            <a:ext cx="3720527" cy="2802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614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Architecture</a:t>
            </a:r>
            <a:endParaRPr dirty="0"/>
          </a:p>
        </p:txBody>
      </p:sp>
      <p:sp>
        <p:nvSpPr>
          <p:cNvPr id="509" name="Google Shape;509;p61"/>
          <p:cNvSpPr/>
          <p:nvPr/>
        </p:nvSpPr>
        <p:spPr>
          <a:xfrm>
            <a:off x="732359" y="1444799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61"/>
          <p:cNvSpPr txBox="1"/>
          <p:nvPr/>
        </p:nvSpPr>
        <p:spPr>
          <a:xfrm>
            <a:off x="988408" y="1345388"/>
            <a:ext cx="3424871" cy="74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200" b="1" dirty="0">
                <a:latin typeface="Albert Sans" panose="020B0604020202020204" charset="0"/>
              </a:rPr>
              <a:t>Action Generation</a:t>
            </a:r>
            <a:r>
              <a:rPr lang="en-IN" sz="1200" dirty="0">
                <a:latin typeface="Albert Sans" panose="020B0604020202020204" charset="0"/>
              </a:rPr>
              <a:t> (LMM)</a:t>
            </a:r>
            <a:r>
              <a:rPr lang="en-US" sz="1200" dirty="0">
                <a:solidFill>
                  <a:schemeClr val="dk1"/>
                </a:solidFill>
                <a:latin typeface="Albert Sans" panose="020B0604020202020204" charset="0"/>
                <a:ea typeface="Alexandria Medium"/>
                <a:cs typeface="Alexandria Medium"/>
                <a:sym typeface="Alexandria Medium"/>
              </a:rPr>
              <a:t>: Given the current screenshot + task + history to model which return a textual action and risk scores for action.</a:t>
            </a:r>
          </a:p>
        </p:txBody>
      </p:sp>
      <p:sp>
        <p:nvSpPr>
          <p:cNvPr id="511" name="Google Shape;511;p61"/>
          <p:cNvSpPr/>
          <p:nvPr/>
        </p:nvSpPr>
        <p:spPr>
          <a:xfrm>
            <a:off x="732359" y="2307391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61"/>
          <p:cNvSpPr txBox="1"/>
          <p:nvPr/>
        </p:nvSpPr>
        <p:spPr>
          <a:xfrm>
            <a:off x="988407" y="2191525"/>
            <a:ext cx="3424872" cy="74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200" b="1" dirty="0">
                <a:latin typeface="Albert Sans" panose="020B0604020202020204" charset="0"/>
              </a:rPr>
              <a:t>Action Grounding</a:t>
            </a:r>
            <a:r>
              <a:rPr lang="en-IN" sz="1200" dirty="0">
                <a:latin typeface="Albert Sans" panose="020B0604020202020204" charset="0"/>
              </a:rPr>
              <a:t>:</a:t>
            </a:r>
            <a:r>
              <a:rPr lang="en-IN" sz="1200" dirty="0">
                <a:solidFill>
                  <a:schemeClr val="dk1"/>
                </a:solidFill>
                <a:latin typeface="Albert Sans" panose="020B0604020202020204" charset="0"/>
                <a:ea typeface="Alexandria Medium"/>
                <a:cs typeface="Alexandria Medium"/>
                <a:sym typeface="Alexandria Medium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Albert Sans" panose="020B0604020202020204" charset="0"/>
                <a:ea typeface="Alexandria Medium"/>
                <a:cs typeface="Alexandria Medium"/>
                <a:sym typeface="Alexandria Medium"/>
              </a:rPr>
              <a:t>Map textual description to actual DOM element + operation (click / type / select) by small model and with </a:t>
            </a:r>
            <a:r>
              <a:rPr lang="en-US" sz="1200" dirty="0" err="1">
                <a:solidFill>
                  <a:schemeClr val="dk1"/>
                </a:solidFill>
                <a:latin typeface="Albert Sans" panose="020B0604020202020204" charset="0"/>
                <a:ea typeface="Alexandria Medium"/>
                <a:cs typeface="Alexandria Medium"/>
                <a:sym typeface="Alexandria Medium"/>
              </a:rPr>
              <a:t>dom</a:t>
            </a:r>
            <a:r>
              <a:rPr lang="en-US" sz="1200" dirty="0">
                <a:solidFill>
                  <a:schemeClr val="dk1"/>
                </a:solidFill>
                <a:latin typeface="Albert Sans" panose="020B0604020202020204" charset="0"/>
                <a:ea typeface="Alexandria Medium"/>
                <a:cs typeface="Alexandria Medium"/>
                <a:sym typeface="Alexandria Medium"/>
              </a:rPr>
              <a:t> delta methodology.</a:t>
            </a:r>
            <a:endParaRPr lang="en-IN" sz="1200" dirty="0">
              <a:solidFill>
                <a:schemeClr val="dk1"/>
              </a:solidFill>
              <a:latin typeface="Albert Sans" panose="020B0604020202020204" charset="0"/>
              <a:ea typeface="Alexandria Medium"/>
              <a:cs typeface="Alexandria Medium"/>
              <a:sym typeface="Alexandria Medium"/>
            </a:endParaRPr>
          </a:p>
        </p:txBody>
      </p:sp>
      <p:sp>
        <p:nvSpPr>
          <p:cNvPr id="513" name="Google Shape;513;p61"/>
          <p:cNvSpPr/>
          <p:nvPr/>
        </p:nvSpPr>
        <p:spPr>
          <a:xfrm>
            <a:off x="732359" y="3169983"/>
            <a:ext cx="120900" cy="120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4" name="Google Shape;514;p61"/>
          <p:cNvSpPr txBox="1"/>
          <p:nvPr/>
        </p:nvSpPr>
        <p:spPr>
          <a:xfrm>
            <a:off x="988407" y="3037663"/>
            <a:ext cx="3424873" cy="7482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IN" sz="1200" b="1" dirty="0">
                <a:latin typeface="Albert Sans" panose="020B0604020202020204" charset="0"/>
              </a:rPr>
              <a:t>Browser Execution</a:t>
            </a:r>
            <a:r>
              <a:rPr lang="en-IN" sz="1200" dirty="0">
                <a:latin typeface="Albert Sans" panose="020B0604020202020204" charset="0"/>
              </a:rPr>
              <a:t>:</a:t>
            </a:r>
            <a:r>
              <a:rPr lang="en-US" sz="1200" dirty="0">
                <a:solidFill>
                  <a:schemeClr val="dk1"/>
                </a:solidFill>
                <a:latin typeface="Albert Sans" panose="020B0604020202020204" charset="0"/>
                <a:ea typeface="Alexandria Medium"/>
                <a:cs typeface="Alexandria Medium"/>
                <a:sym typeface="Alexandria Medium"/>
              </a:rPr>
              <a:t>  Use automation (via Playwright / browser engine) to execute the action. Webpage updates and we get new screenshot + DOM.</a:t>
            </a:r>
          </a:p>
        </p:txBody>
      </p:sp>
      <p:cxnSp>
        <p:nvCxnSpPr>
          <p:cNvPr id="523" name="Google Shape;523;p61"/>
          <p:cNvCxnSpPr>
            <a:cxnSpLocks/>
            <a:stCxn id="509" idx="2"/>
            <a:endCxn id="511" idx="0"/>
          </p:cNvCxnSpPr>
          <p:nvPr/>
        </p:nvCxnSpPr>
        <p:spPr>
          <a:xfrm>
            <a:off x="792809" y="1565699"/>
            <a:ext cx="0" cy="74169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4" name="Google Shape;524;p61"/>
          <p:cNvCxnSpPr>
            <a:cxnSpLocks/>
            <a:stCxn id="511" idx="2"/>
            <a:endCxn id="513" idx="0"/>
          </p:cNvCxnSpPr>
          <p:nvPr/>
        </p:nvCxnSpPr>
        <p:spPr>
          <a:xfrm>
            <a:off x="792809" y="2428291"/>
            <a:ext cx="0" cy="74169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D86B1DB-8883-C98D-6F6D-0297F3F2C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2851" y="22979"/>
            <a:ext cx="3981150" cy="512052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A5815895-1759-A8A2-AD38-31ED3C427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97026521-DABD-91B1-8C2D-6C9C4985358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Improvement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9DFFDB74-ABD1-EDC3-2C17-E6DEB560FEE2}"/>
              </a:ext>
            </a:extLst>
          </p:cNvPr>
          <p:cNvSpPr txBox="1">
            <a:spLocks/>
          </p:cNvSpPr>
          <p:nvPr/>
        </p:nvSpPr>
        <p:spPr>
          <a:xfrm>
            <a:off x="715099" y="1083700"/>
            <a:ext cx="3559145" cy="3345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Albert Sans" panose="020B0604020202020204" charset="0"/>
              </a:rPr>
              <a:t>Prune4Web:</a:t>
            </a:r>
          </a:p>
          <a:p>
            <a:pPr lvl="1" algn="just"/>
            <a:endParaRPr lang="en-US" dirty="0">
              <a:latin typeface="Albert Sans" panose="020B0604020202020204" charset="0"/>
            </a:endParaRPr>
          </a:p>
          <a:p>
            <a:pPr lvl="1" algn="just"/>
            <a:r>
              <a:rPr lang="en-US" dirty="0">
                <a:latin typeface="Albert Sans" panose="020B0604020202020204" charset="0"/>
              </a:rPr>
              <a:t>at = π(</a:t>
            </a:r>
            <a:r>
              <a:rPr lang="en-US" dirty="0" err="1">
                <a:latin typeface="Albert Sans" panose="020B0604020202020204" charset="0"/>
              </a:rPr>
              <a:t>st</a:t>
            </a:r>
            <a:r>
              <a:rPr lang="en-US" dirty="0">
                <a:latin typeface="Albert Sans" panose="020B0604020202020204" charset="0"/>
              </a:rPr>
              <a:t>, T, {a1, a2, ..., at−1})</a:t>
            </a:r>
          </a:p>
          <a:p>
            <a:pPr lvl="1" algn="just"/>
            <a:endParaRPr lang="en-US" dirty="0">
              <a:latin typeface="Albert Sans" panose="020B0604020202020204" charset="0"/>
            </a:endParaRPr>
          </a:p>
          <a:p>
            <a:pPr lvl="1" algn="just"/>
            <a:r>
              <a:rPr lang="en-US" dirty="0">
                <a:latin typeface="Albert Sans" panose="020B0604020202020204" charset="0"/>
              </a:rPr>
              <a:t>st+1 = S(at) = {ht+1, it+1} </a:t>
            </a:r>
          </a:p>
          <a:p>
            <a:pPr lvl="1" algn="just"/>
            <a:endParaRPr lang="en-US" dirty="0">
              <a:latin typeface="Albert Sans" panose="020B0604020202020204" charset="0"/>
            </a:endParaRPr>
          </a:p>
          <a:p>
            <a:pPr lvl="1" algn="just"/>
            <a:endParaRPr lang="en-US" dirty="0">
              <a:latin typeface="Albert Sans" panose="020B0604020202020204" charset="0"/>
            </a:endParaRP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Where: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at = action at time t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s = site specific input (html + image)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π = </a:t>
            </a:r>
            <a:r>
              <a:rPr lang="en-US" sz="1200" dirty="0" err="1">
                <a:latin typeface="Albert Sans" panose="020B0604020202020204" charset="0"/>
              </a:rPr>
              <a:t>Multimodel</a:t>
            </a:r>
            <a:r>
              <a:rPr lang="en-US" sz="1200" dirty="0">
                <a:latin typeface="Albert Sans" panose="020B0604020202020204" charset="0"/>
              </a:rPr>
              <a:t> LLM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T = user defined task</a:t>
            </a:r>
          </a:p>
          <a:p>
            <a:pPr lvl="1" algn="just"/>
            <a:endParaRPr lang="en-US" dirty="0">
              <a:latin typeface="Albert Sans" panose="020B0604020202020204" charset="0"/>
            </a:endParaRPr>
          </a:p>
        </p:txBody>
      </p:sp>
      <p:sp>
        <p:nvSpPr>
          <p:cNvPr id="2" name="Google Shape;257;p42">
            <a:extLst>
              <a:ext uri="{FF2B5EF4-FFF2-40B4-BE49-F238E27FC236}">
                <a16:creationId xmlns:a16="http://schemas.microsoft.com/office/drawing/2014/main" id="{415987AD-CF04-FD3C-FE78-E3475D5688E0}"/>
              </a:ext>
            </a:extLst>
          </p:cNvPr>
          <p:cNvSpPr txBox="1">
            <a:spLocks/>
          </p:cNvSpPr>
          <p:nvPr/>
        </p:nvSpPr>
        <p:spPr>
          <a:xfrm>
            <a:off x="4869756" y="1083699"/>
            <a:ext cx="3559145" cy="3524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b="1" dirty="0" err="1">
                <a:latin typeface="Albert Sans" panose="020B0604020202020204" charset="0"/>
              </a:rPr>
              <a:t>Our’s</a:t>
            </a:r>
            <a:r>
              <a:rPr lang="en-US" b="1" dirty="0">
                <a:latin typeface="Albert Sans" panose="020B0604020202020204" charset="0"/>
              </a:rPr>
              <a:t>:</a:t>
            </a:r>
          </a:p>
          <a:p>
            <a:pPr lvl="1" algn="just"/>
            <a:endParaRPr lang="en-US" dirty="0">
              <a:latin typeface="Albert Sans" panose="020B0604020202020204" charset="0"/>
            </a:endParaRPr>
          </a:p>
          <a:p>
            <a:pPr lvl="1" algn="just"/>
            <a:r>
              <a:rPr lang="en-US" dirty="0">
                <a:latin typeface="Albert Sans" panose="020B0604020202020204" charset="0"/>
              </a:rPr>
              <a:t>At = π(</a:t>
            </a:r>
            <a:r>
              <a:rPr lang="en-US" dirty="0" err="1">
                <a:latin typeface="Albert Sans" panose="020B0604020202020204" charset="0"/>
              </a:rPr>
              <a:t>st</a:t>
            </a:r>
            <a:r>
              <a:rPr lang="en-US" dirty="0">
                <a:latin typeface="Albert Sans" panose="020B0604020202020204" charset="0"/>
              </a:rPr>
              <a:t>, T, {a1, a2, ..., at−1}, pt)</a:t>
            </a:r>
          </a:p>
          <a:p>
            <a:pPr lvl="1" algn="just"/>
            <a:endParaRPr lang="en-US" dirty="0">
              <a:latin typeface="Albert Sans" panose="020B0604020202020204" charset="0"/>
            </a:endParaRPr>
          </a:p>
          <a:p>
            <a:pPr lvl="1" algn="just"/>
            <a:r>
              <a:rPr lang="en-US" dirty="0">
                <a:latin typeface="Albert Sans" panose="020B0604020202020204" charset="0"/>
              </a:rPr>
              <a:t>st+1 = S(at) = {ht+1, it+1}</a:t>
            </a:r>
          </a:p>
          <a:p>
            <a:pPr lvl="1" algn="just"/>
            <a:endParaRPr lang="en-US" dirty="0">
              <a:latin typeface="Albert Sans" panose="020B0604020202020204" charset="0"/>
            </a:endParaRP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Where: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at = action at time t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s = site specific input (html + image)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π = </a:t>
            </a:r>
            <a:r>
              <a:rPr lang="en-US" sz="1200" dirty="0" err="1">
                <a:latin typeface="Albert Sans" panose="020B0604020202020204" charset="0"/>
              </a:rPr>
              <a:t>Multimodel</a:t>
            </a:r>
            <a:r>
              <a:rPr lang="en-US" sz="1200" dirty="0">
                <a:latin typeface="Albert Sans" panose="020B0604020202020204" charset="0"/>
              </a:rPr>
              <a:t> LLM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T = user defined task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pt = </a:t>
            </a:r>
            <a:r>
              <a:rPr lang="en-IN" sz="1200" dirty="0">
                <a:latin typeface="Albert Sans" panose="020B0604020202020204" charset="0"/>
              </a:rPr>
              <a:t>Policy rules</a:t>
            </a:r>
          </a:p>
          <a:p>
            <a:pPr lvl="1" algn="just"/>
            <a:r>
              <a:rPr lang="en-IN" sz="1200" dirty="0">
                <a:latin typeface="Albert Sans" panose="020B0604020202020204" charset="0"/>
              </a:rPr>
              <a:t>At ∈ (at, c, r, hr)</a:t>
            </a:r>
          </a:p>
          <a:p>
            <a:pPr lvl="1" algn="just"/>
            <a:r>
              <a:rPr lang="en-IN" sz="1200" dirty="0">
                <a:latin typeface="Albert Sans" panose="020B0604020202020204" charset="0"/>
              </a:rPr>
              <a:t>c = confidence c ∈ [0,100],</a:t>
            </a:r>
          </a:p>
          <a:p>
            <a:pPr lvl="1" algn="just"/>
            <a:r>
              <a:rPr lang="en-IN" sz="1200" dirty="0">
                <a:latin typeface="Albert Sans" panose="020B0604020202020204" charset="0"/>
              </a:rPr>
              <a:t>r ∈ {0,1},</a:t>
            </a:r>
          </a:p>
          <a:p>
            <a:pPr lvl="1" algn="just"/>
            <a:r>
              <a:rPr lang="en-IN" sz="1200" dirty="0">
                <a:latin typeface="Albert Sans" panose="020B0604020202020204" charset="0"/>
              </a:rPr>
              <a:t>hr = </a:t>
            </a:r>
            <a:r>
              <a:rPr lang="en-IN" sz="1200" dirty="0" err="1">
                <a:latin typeface="Albert Sans" panose="020B0604020202020204" charset="0"/>
              </a:rPr>
              <a:t>hitl_reason</a:t>
            </a:r>
            <a:endParaRPr lang="en-US" sz="1200" dirty="0">
              <a:latin typeface="Alber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9152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5E48094C-DCB9-140F-0F21-F54D83A90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E6AD072D-BC4D-DF10-CC63-4C08CF2A0C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Improvement - Algorithm</a:t>
            </a:r>
            <a:endParaRPr dirty="0"/>
          </a:p>
        </p:txBody>
      </p:sp>
      <p:sp>
        <p:nvSpPr>
          <p:cNvPr id="2" name="Google Shape;257;p42">
            <a:extLst>
              <a:ext uri="{FF2B5EF4-FFF2-40B4-BE49-F238E27FC236}">
                <a16:creationId xmlns:a16="http://schemas.microsoft.com/office/drawing/2014/main" id="{41CEA194-793C-1880-2AF4-A0ABBD761BCC}"/>
              </a:ext>
            </a:extLst>
          </p:cNvPr>
          <p:cNvSpPr txBox="1">
            <a:spLocks/>
          </p:cNvSpPr>
          <p:nvPr/>
        </p:nvSpPr>
        <p:spPr>
          <a:xfrm>
            <a:off x="715099" y="1083699"/>
            <a:ext cx="7886207" cy="35248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just"/>
            <a:r>
              <a:rPr lang="en-US" sz="1200" dirty="0">
                <a:latin typeface="Albert Sans" panose="020B0604020202020204" charset="0"/>
              </a:rPr>
              <a:t>At = π(</a:t>
            </a:r>
            <a:r>
              <a:rPr lang="en-US" sz="1200" dirty="0" err="1">
                <a:latin typeface="Albert Sans" panose="020B0604020202020204" charset="0"/>
              </a:rPr>
              <a:t>st</a:t>
            </a:r>
            <a:r>
              <a:rPr lang="en-US" sz="1200" dirty="0">
                <a:latin typeface="Albert Sans" panose="020B0604020202020204" charset="0"/>
              </a:rPr>
              <a:t>, T, {a1, a2, ..., at−1}, pt)</a:t>
            </a:r>
          </a:p>
          <a:p>
            <a:pPr lvl="1" algn="just"/>
            <a:r>
              <a:rPr lang="en-IN" sz="1200" dirty="0">
                <a:latin typeface="Albert Sans" panose="020B0604020202020204" charset="0"/>
              </a:rPr>
              <a:t>at, c, r, hr = At</a:t>
            </a:r>
          </a:p>
          <a:p>
            <a:pPr lvl="1" algn="just"/>
            <a:endParaRPr lang="en-US" sz="1200" dirty="0">
              <a:latin typeface="Albert Sans" panose="020B0604020202020204" charset="0"/>
            </a:endParaRP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matched = compare action plan and policy keywords</a:t>
            </a:r>
          </a:p>
          <a:p>
            <a:pPr lvl="1" algn="just"/>
            <a:endParaRPr lang="en-US" sz="1200" dirty="0">
              <a:latin typeface="Albert Sans" panose="020B0604020202020204" charset="0"/>
            </a:endParaRP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if (r&gt;0 or matched or c&lt;confidence){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 r = 1 #policy_risk detected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}</a:t>
            </a:r>
          </a:p>
          <a:p>
            <a:pPr lvl="1" algn="just"/>
            <a:endParaRPr lang="en-US" sz="1200" dirty="0">
              <a:latin typeface="Albert Sans" panose="020B0604020202020204" charset="0"/>
            </a:endParaRP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if (r == 1) {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 HITL value triggered, as wait for human interaction for step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} else {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 Executer further steps from grounding</a:t>
            </a:r>
          </a:p>
          <a:p>
            <a:pPr lvl="1" algn="just"/>
            <a:r>
              <a:rPr lang="en-US" sz="1200" dirty="0">
                <a:latin typeface="Albert Sans" panose="020B060402020202020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810103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3969E92C-CE75-8DC4-FB5D-65C2683CA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7CBFF59D-6A77-7C4F-ABDB-88A81F306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 Implementation Notes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C0FBA6D7-2724-F933-FFF8-1FA4CDC4E599}"/>
              </a:ext>
            </a:extLst>
          </p:cNvPr>
          <p:cNvSpPr txBox="1">
            <a:spLocks/>
          </p:cNvSpPr>
          <p:nvPr/>
        </p:nvSpPr>
        <p:spPr>
          <a:xfrm>
            <a:off x="715098" y="1262728"/>
            <a:ext cx="7886207" cy="3345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Our architecture inspired  from Prune4Web with some deviations.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Grounder: </a:t>
            </a:r>
            <a:r>
              <a:rPr lang="en-US" sz="1200" dirty="0" err="1">
                <a:latin typeface="Albert Sans" panose="020B0604020202020204" charset="0"/>
              </a:rPr>
              <a:t>QLoRA</a:t>
            </a:r>
            <a:r>
              <a:rPr lang="en-US" sz="1200" dirty="0">
                <a:latin typeface="Albert Sans" panose="020B0604020202020204" charset="0"/>
              </a:rPr>
              <a:t>-fine-tuned Qwen2.5-0.5B or Qwen3-0.6B loaded in 4-bit nf4; &lt;1 GB VRAM at inference on RTX 4050 (6 GB).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Fine-tuned on 6,626 Mind2Web examples using the identical grounder prompt as inference — no train/inference drift.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DOM Delta + Privacy wrapper run entirely on-device.</a:t>
            </a:r>
          </a:p>
        </p:txBody>
      </p:sp>
    </p:spTree>
    <p:extLst>
      <p:ext uri="{BB962C8B-B14F-4D97-AF65-F5344CB8AC3E}">
        <p14:creationId xmlns:p14="http://schemas.microsoft.com/office/powerpoint/2010/main" val="905867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737D046B-1392-8028-A4D2-E0264B466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D878EBCA-DDC7-C70B-AD85-33DC3F75E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Experiments: Filter-Stage Recall@20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1A15FD-BF09-F0AE-B3B0-A06FDD265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08594"/>
              </p:ext>
            </p:extLst>
          </p:nvPr>
        </p:nvGraphicFramePr>
        <p:xfrm>
          <a:off x="715100" y="1565910"/>
          <a:ext cx="7886208" cy="1292266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314368">
                  <a:extLst>
                    <a:ext uri="{9D8B030D-6E8A-4147-A177-3AD203B41FA5}">
                      <a16:colId xmlns:a16="http://schemas.microsoft.com/office/drawing/2014/main" val="1722319510"/>
                    </a:ext>
                  </a:extLst>
                </a:gridCol>
                <a:gridCol w="1314368">
                  <a:extLst>
                    <a:ext uri="{9D8B030D-6E8A-4147-A177-3AD203B41FA5}">
                      <a16:colId xmlns:a16="http://schemas.microsoft.com/office/drawing/2014/main" val="3442246916"/>
                    </a:ext>
                  </a:extLst>
                </a:gridCol>
                <a:gridCol w="1314368">
                  <a:extLst>
                    <a:ext uri="{9D8B030D-6E8A-4147-A177-3AD203B41FA5}">
                      <a16:colId xmlns:a16="http://schemas.microsoft.com/office/drawing/2014/main" val="3736919383"/>
                    </a:ext>
                  </a:extLst>
                </a:gridCol>
                <a:gridCol w="1314368">
                  <a:extLst>
                    <a:ext uri="{9D8B030D-6E8A-4147-A177-3AD203B41FA5}">
                      <a16:colId xmlns:a16="http://schemas.microsoft.com/office/drawing/2014/main" val="1968512141"/>
                    </a:ext>
                  </a:extLst>
                </a:gridCol>
                <a:gridCol w="1314368">
                  <a:extLst>
                    <a:ext uri="{9D8B030D-6E8A-4147-A177-3AD203B41FA5}">
                      <a16:colId xmlns:a16="http://schemas.microsoft.com/office/drawing/2014/main" val="66280411"/>
                    </a:ext>
                  </a:extLst>
                </a:gridCol>
                <a:gridCol w="1314368">
                  <a:extLst>
                    <a:ext uri="{9D8B030D-6E8A-4147-A177-3AD203B41FA5}">
                      <a16:colId xmlns:a16="http://schemas.microsoft.com/office/drawing/2014/main" val="94741426"/>
                    </a:ext>
                  </a:extLst>
                </a:gridCol>
              </a:tblGrid>
              <a:tr h="2165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Albert Sans" panose="020B0604020202020204" charset="0"/>
                        </a:rPr>
                        <a:t>Split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Albert Sans" panose="020B0604020202020204" charset="0"/>
                        </a:rPr>
                        <a:t>Samples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Albert Sans" panose="020B0604020202020204" charset="0"/>
                        </a:rPr>
                        <a:t>FULL Recall@20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Albert Sans" panose="020B0604020202020204" charset="0"/>
                        </a:rPr>
                        <a:t>DELTA_HYBRID Recall@20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200" dirty="0">
                          <a:effectLst/>
                          <a:latin typeface="Albert Sans" panose="020B0604020202020204" charset="0"/>
                        </a:rPr>
                        <a:t>Δ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effectLst/>
                          <a:latin typeface="Albert Sans" panose="020B0604020202020204" charset="0"/>
                        </a:rPr>
                        <a:t>Token red.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36535127"/>
                  </a:ext>
                </a:extLst>
              </a:tr>
              <a:tr h="189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 err="1">
                          <a:effectLst/>
                          <a:latin typeface="Albert Sans" panose="020B0604020202020204" charset="0"/>
                        </a:rPr>
                        <a:t>test_task</a:t>
                      </a:r>
                      <a:endParaRPr lang="en-IN" sz="1100" b="0" dirty="0">
                        <a:effectLst/>
                        <a:latin typeface="Albert Sans" panose="020B0604020202020204" charset="0"/>
                      </a:endParaRP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1,257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90.30%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90.07%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−0.23 pp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17.8%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80503952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test_website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975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89.95%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89.85%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−0.10 pp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16.4%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82016037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test_domain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3,838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86.78%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87.98%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+1.20 pp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17.5%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32288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7F4AECA-E22E-B0FE-D7B0-BA1804500A4B}"/>
              </a:ext>
            </a:extLst>
          </p:cNvPr>
          <p:cNvSpPr txBox="1"/>
          <p:nvPr/>
        </p:nvSpPr>
        <p:spPr>
          <a:xfrm>
            <a:off x="629528" y="3355626"/>
            <a:ext cx="79717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n-US" sz="1100" i="1" dirty="0">
                <a:latin typeface="Albert Sans" panose="020B0604020202020204" charset="0"/>
              </a:rPr>
              <a:t>DELTA_HYBRID matches FULL Recall@20 within 0.23 pp on two splits and improves on the largest split, while reducing grounder input tokens by 16–18%.</a:t>
            </a:r>
          </a:p>
        </p:txBody>
      </p:sp>
    </p:spTree>
    <p:extLst>
      <p:ext uri="{BB962C8B-B14F-4D97-AF65-F5344CB8AC3E}">
        <p14:creationId xmlns:p14="http://schemas.microsoft.com/office/powerpoint/2010/main" val="922249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DD221074-EB34-53FB-AE21-4ED01C0900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9570E802-35CE-7202-1183-8E5212D4A6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Experiments: Grounder Element Accuracy</a:t>
            </a: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7ACC22-D165-D2B2-DF79-D4ADE40990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070841"/>
              </p:ext>
            </p:extLst>
          </p:nvPr>
        </p:nvGraphicFramePr>
        <p:xfrm>
          <a:off x="715100" y="1565910"/>
          <a:ext cx="7886208" cy="149352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971552">
                  <a:extLst>
                    <a:ext uri="{9D8B030D-6E8A-4147-A177-3AD203B41FA5}">
                      <a16:colId xmlns:a16="http://schemas.microsoft.com/office/drawing/2014/main" val="1722319510"/>
                    </a:ext>
                  </a:extLst>
                </a:gridCol>
                <a:gridCol w="1971552">
                  <a:extLst>
                    <a:ext uri="{9D8B030D-6E8A-4147-A177-3AD203B41FA5}">
                      <a16:colId xmlns:a16="http://schemas.microsoft.com/office/drawing/2014/main" val="3442246916"/>
                    </a:ext>
                  </a:extLst>
                </a:gridCol>
                <a:gridCol w="1971552">
                  <a:extLst>
                    <a:ext uri="{9D8B030D-6E8A-4147-A177-3AD203B41FA5}">
                      <a16:colId xmlns:a16="http://schemas.microsoft.com/office/drawing/2014/main" val="3736919383"/>
                    </a:ext>
                  </a:extLst>
                </a:gridCol>
                <a:gridCol w="1971552">
                  <a:extLst>
                    <a:ext uri="{9D8B030D-6E8A-4147-A177-3AD203B41FA5}">
                      <a16:colId xmlns:a16="http://schemas.microsoft.com/office/drawing/2014/main" val="1968512141"/>
                    </a:ext>
                  </a:extLst>
                </a:gridCol>
              </a:tblGrid>
              <a:tr h="21659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Albert Sans" panose="020B0604020202020204" charset="0"/>
                        </a:rPr>
                        <a:t>Grounder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Albert Sans" panose="020B0604020202020204" charset="0"/>
                        </a:rPr>
                        <a:t>Params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 err="1">
                          <a:effectLst/>
                          <a:latin typeface="Albert Sans" panose="020B0604020202020204" charset="0"/>
                        </a:rPr>
                        <a:t>test_task</a:t>
                      </a:r>
                      <a:r>
                        <a:rPr lang="en-IN" sz="1200" b="1" dirty="0">
                          <a:effectLst/>
                          <a:latin typeface="Albert Sans" panose="020B0604020202020204" charset="0"/>
                        </a:rPr>
                        <a:t> EA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b="1" dirty="0">
                          <a:effectLst/>
                          <a:latin typeface="Albert Sans" panose="020B0604020202020204" charset="0"/>
                        </a:rPr>
                        <a:t>Notes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636535127"/>
                  </a:ext>
                </a:extLst>
              </a:tr>
              <a:tr h="189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Qwen2.5VL-3B-Instruct (Prune4Web)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3.0B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88.28%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Vision-language, paper baseline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4280503952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>
                          <a:effectLst/>
                          <a:latin typeface="Albert Sans" panose="020B0604020202020204" charset="0"/>
                        </a:rPr>
                        <a:t>Qwen2.5-0.5B + QLoRA (ours)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0.5B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85.00%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Text-only, 6× fewer params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2782016037"/>
                  </a:ext>
                </a:extLst>
              </a:tr>
              <a:tr h="303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Qwen3-0.6B + </a:t>
                      </a:r>
                      <a:r>
                        <a:rPr lang="en-IN" sz="1100" b="0" dirty="0" err="1">
                          <a:effectLst/>
                          <a:latin typeface="Albert Sans" panose="020B0604020202020204" charset="0"/>
                        </a:rPr>
                        <a:t>QLoRA</a:t>
                      </a: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 (ours)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0.6B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0" dirty="0">
                          <a:effectLst/>
                          <a:latin typeface="Albert Sans" panose="020B0604020202020204" charset="0"/>
                        </a:rPr>
                        <a:t>88.00%</a:t>
                      </a:r>
                    </a:p>
                  </a:txBody>
                  <a:tcPr marL="76200" marR="76200" marT="38100" marB="3810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0" dirty="0">
                          <a:effectLst/>
                          <a:latin typeface="Albert Sans" panose="020B0604020202020204" charset="0"/>
                        </a:rPr>
                        <a:t>Text-only, 5× fewer params, matches paper</a:t>
                      </a:r>
                    </a:p>
                  </a:txBody>
                  <a:tcPr marL="76200" marR="76200" marT="38100" marB="38100" anchor="ctr"/>
                </a:tc>
                <a:extLst>
                  <a:ext uri="{0D108BD9-81ED-4DB2-BD59-A6C34878D82A}">
                    <a16:rowId xmlns:a16="http://schemas.microsoft.com/office/drawing/2014/main" val="14322883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70C7857-DAB6-6B2C-7290-EA59B1BB1BDD}"/>
              </a:ext>
            </a:extLst>
          </p:cNvPr>
          <p:cNvSpPr txBox="1"/>
          <p:nvPr/>
        </p:nvSpPr>
        <p:spPr>
          <a:xfrm>
            <a:off x="629528" y="3355626"/>
            <a:ext cx="79717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/>
            <a:r>
              <a:rPr lang="en-US" sz="1100" i="1" dirty="0">
                <a:latin typeface="Albert Sans" panose="020B0604020202020204" charset="0"/>
              </a:rPr>
              <a:t>200-sample </a:t>
            </a:r>
            <a:r>
              <a:rPr lang="en-US" sz="1100" i="1" dirty="0" err="1">
                <a:latin typeface="Albert Sans" panose="020B0604020202020204" charset="0"/>
              </a:rPr>
              <a:t>test_domain</a:t>
            </a:r>
            <a:r>
              <a:rPr lang="en-US" sz="1100" i="1" dirty="0">
                <a:latin typeface="Albert Sans" panose="020B0604020202020204" charset="0"/>
              </a:rPr>
              <a:t> slice with DOM Delta enabled: Qwen3 reaches 88.00% EA, matching the 3B vision-language baseline within rounding margin while running without a vision encoder.</a:t>
            </a:r>
          </a:p>
        </p:txBody>
      </p:sp>
    </p:spTree>
    <p:extLst>
      <p:ext uri="{BB962C8B-B14F-4D97-AF65-F5344CB8AC3E}">
        <p14:creationId xmlns:p14="http://schemas.microsoft.com/office/powerpoint/2010/main" val="3071047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9E5E1699-5618-18A0-9BEC-CFE0179B9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576E51EF-7A19-D606-EB58-01C2C43C24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Implementation &amp; Initial Result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DB5E6783-834E-BF7D-4C30-1A78C15B49CA}"/>
              </a:ext>
            </a:extLst>
          </p:cNvPr>
          <p:cNvSpPr txBox="1">
            <a:spLocks/>
          </p:cNvSpPr>
          <p:nvPr/>
        </p:nvSpPr>
        <p:spPr>
          <a:xfrm>
            <a:off x="715098" y="1262728"/>
            <a:ext cx="7886207" cy="3524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just"/>
            <a:r>
              <a:rPr lang="en-US" sz="1200" dirty="0">
                <a:latin typeface="Albert Sans" panose="020B0604020202020204" charset="0"/>
              </a:rPr>
              <a:t>*Initial results are computed on 13 live websites (7 required HITL, 6 not required HITL)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7CA91-3CBD-5898-5A22-B11F79739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045393"/>
              </p:ext>
            </p:extLst>
          </p:nvPr>
        </p:nvGraphicFramePr>
        <p:xfrm>
          <a:off x="715098" y="1615147"/>
          <a:ext cx="4386438" cy="1645920"/>
        </p:xfrm>
        <a:graphic>
          <a:graphicData uri="http://schemas.openxmlformats.org/drawingml/2006/table">
            <a:tbl>
              <a:tblPr/>
              <a:tblGrid>
                <a:gridCol w="2193219">
                  <a:extLst>
                    <a:ext uri="{9D8B030D-6E8A-4147-A177-3AD203B41FA5}">
                      <a16:colId xmlns:a16="http://schemas.microsoft.com/office/drawing/2014/main" val="2663582867"/>
                    </a:ext>
                  </a:extLst>
                </a:gridCol>
                <a:gridCol w="2193219">
                  <a:extLst>
                    <a:ext uri="{9D8B030D-6E8A-4147-A177-3AD203B41FA5}">
                      <a16:colId xmlns:a16="http://schemas.microsoft.com/office/drawing/2014/main" val="939614190"/>
                    </a:ext>
                  </a:extLst>
                </a:gridCol>
              </a:tblGrid>
              <a:tr h="239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1531913"/>
                  </a:ext>
                </a:extLst>
              </a:tr>
              <a:tr h="239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HITL Recall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85.71%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6911438"/>
                  </a:ext>
                </a:extLst>
              </a:tr>
              <a:tr h="239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HITL Precision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>
                          <a:latin typeface="Albert Sans" panose="020B0604020202020204" charset="0"/>
                        </a:rPr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48814"/>
                  </a:ext>
                </a:extLst>
              </a:tr>
              <a:tr h="239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HITL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0" dirty="0">
                          <a:latin typeface="Albert Sans" panose="020B0604020202020204" charset="0"/>
                        </a:rPr>
                        <a:t>92.86%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9596245"/>
                  </a:ext>
                </a:extLst>
              </a:tr>
              <a:tr h="239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False Positive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0206443"/>
                  </a:ext>
                </a:extLst>
              </a:tr>
              <a:tr h="23959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False Negative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>
                          <a:latin typeface="Albert Sans" panose="020B0604020202020204" charset="0"/>
                        </a:rPr>
                        <a:t>14.29%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5391369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9247B929-FEAB-066F-EDAB-1CB2BC90F0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618917" y="1615147"/>
            <a:ext cx="2629822" cy="2562962"/>
          </a:xfrm>
          <a:prstGeom prst="rect">
            <a:avLst/>
          </a:prstGeom>
        </p:spPr>
      </p:pic>
      <p:sp>
        <p:nvSpPr>
          <p:cNvPr id="7" name="Google Shape;257;p42">
            <a:extLst>
              <a:ext uri="{FF2B5EF4-FFF2-40B4-BE49-F238E27FC236}">
                <a16:creationId xmlns:a16="http://schemas.microsoft.com/office/drawing/2014/main" id="{69FAFD07-CBD2-61F6-33C7-742696EBABEE}"/>
              </a:ext>
            </a:extLst>
          </p:cNvPr>
          <p:cNvSpPr txBox="1">
            <a:spLocks/>
          </p:cNvSpPr>
          <p:nvPr/>
        </p:nvSpPr>
        <p:spPr>
          <a:xfrm>
            <a:off x="715098" y="3367168"/>
            <a:ext cx="4468846" cy="124133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lbert Sans" panose="020B0604020202020204" charset="0"/>
              </a:rPr>
              <a:t>The system is able in triggering HITL.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lbert Sans" panose="020B0604020202020204" charset="0"/>
              </a:rPr>
              <a:t>It avoids unnecessary human interruptions (0 false positives),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lbert Sans" panose="020B0604020202020204" charset="0"/>
              </a:rPr>
              <a:t>but misses some high-risk cases (false negatives),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100" dirty="0">
                <a:latin typeface="Albert Sans" panose="020B0604020202020204" charset="0"/>
              </a:rPr>
              <a:t>which we aim to improve via expanded risk keywords and site-level overrides.</a:t>
            </a:r>
          </a:p>
        </p:txBody>
      </p:sp>
    </p:spTree>
    <p:extLst>
      <p:ext uri="{BB962C8B-B14F-4D97-AF65-F5344CB8AC3E}">
        <p14:creationId xmlns:p14="http://schemas.microsoft.com/office/powerpoint/2010/main" val="38823772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580D7FB5-A7CD-34D3-9B72-BC10A08DA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C307CEE2-365A-6C85-B2CF-118A39A3EB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Future Work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0DC05544-AF23-407C-768F-09305744E93A}"/>
              </a:ext>
            </a:extLst>
          </p:cNvPr>
          <p:cNvSpPr txBox="1">
            <a:spLocks/>
          </p:cNvSpPr>
          <p:nvPr/>
        </p:nvSpPr>
        <p:spPr>
          <a:xfrm>
            <a:off x="715098" y="1262728"/>
            <a:ext cx="7886207" cy="3345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Future work should focus on gathering data for evaluating </a:t>
            </a:r>
            <a:r>
              <a:rPr lang="en-US" sz="1200" dirty="0" err="1">
                <a:latin typeface="Albert Sans" panose="020B0604020202020204" charset="0"/>
              </a:rPr>
              <a:t>PolicyHub</a:t>
            </a:r>
            <a:r>
              <a:rPr lang="en-US" sz="1200" dirty="0">
                <a:latin typeface="Albert Sans" panose="020B0604020202020204" charset="0"/>
              </a:rPr>
              <a:t> and </a:t>
            </a:r>
            <a:r>
              <a:rPr lang="en-US" sz="1200" dirty="0" err="1">
                <a:latin typeface="Albert Sans" panose="020B0604020202020204" charset="0"/>
              </a:rPr>
              <a:t>privacylayer</a:t>
            </a:r>
            <a:r>
              <a:rPr lang="en-US" sz="1200" dirty="0">
                <a:latin typeface="Albert Sans" panose="020B0604020202020204" charset="0"/>
              </a:rPr>
              <a:t> on large scale.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Even though Recall@20 of FULL and DELTA HYBRID is 1 pp we observed stable 5 to 6 , pp Element Accuracy gap between same </a:t>
            </a:r>
            <a:r>
              <a:rPr lang="en-US" sz="1200" dirty="0" err="1">
                <a:latin typeface="Albert Sans" panose="020B0604020202020204" charset="0"/>
              </a:rPr>
              <a:t>QLoRA</a:t>
            </a:r>
            <a:r>
              <a:rPr lang="en-US" sz="1200" dirty="0">
                <a:latin typeface="Albert Sans" panose="020B0604020202020204" charset="0"/>
              </a:rPr>
              <a:t> grounder and 3B model, even though their differs by only on the same 200 test domain samples.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Experiment should try to reorder top-20 block before grounding and to re-measure EA with both grounders. If the gap closes, candidate-order </a:t>
            </a:r>
            <a:r>
              <a:rPr lang="en-US" sz="1200" dirty="0" err="1">
                <a:latin typeface="Albert Sans" panose="020B0604020202020204" charset="0"/>
              </a:rPr>
              <a:t>normalisation</a:t>
            </a:r>
            <a:r>
              <a:rPr lang="en-US" sz="1200" dirty="0">
                <a:latin typeface="Albert Sans" panose="020B0604020202020204" charset="0"/>
              </a:rPr>
              <a:t> should be folded back into the DOM Delta layer. if it does not, the grounder is sensitive to the score-induced ordering itself, which would motivate a small preference-tuning around on ordered candidate blocks.</a:t>
            </a:r>
          </a:p>
        </p:txBody>
      </p:sp>
    </p:spTree>
    <p:extLst>
      <p:ext uri="{BB962C8B-B14F-4D97-AF65-F5344CB8AC3E}">
        <p14:creationId xmlns:p14="http://schemas.microsoft.com/office/powerpoint/2010/main" val="3346119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>
          <a:extLst>
            <a:ext uri="{FF2B5EF4-FFF2-40B4-BE49-F238E27FC236}">
              <a16:creationId xmlns:a16="http://schemas.microsoft.com/office/drawing/2014/main" id="{A78D3CCD-C04F-071F-A7E5-876064101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64">
            <a:extLst>
              <a:ext uri="{FF2B5EF4-FFF2-40B4-BE49-F238E27FC236}">
                <a16:creationId xmlns:a16="http://schemas.microsoft.com/office/drawing/2014/main" id="{C3100394-277B-A8F8-CABE-5AE430D076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5099" y="535000"/>
            <a:ext cx="7886207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Conclusion</a:t>
            </a:r>
            <a:endParaRPr dirty="0"/>
          </a:p>
        </p:txBody>
      </p:sp>
      <p:sp>
        <p:nvSpPr>
          <p:cNvPr id="5" name="Google Shape;257;p42">
            <a:extLst>
              <a:ext uri="{FF2B5EF4-FFF2-40B4-BE49-F238E27FC236}">
                <a16:creationId xmlns:a16="http://schemas.microsoft.com/office/drawing/2014/main" id="{9BA0AC58-8F60-8D07-5738-FA81779997AB}"/>
              </a:ext>
            </a:extLst>
          </p:cNvPr>
          <p:cNvSpPr txBox="1">
            <a:spLocks/>
          </p:cNvSpPr>
          <p:nvPr/>
        </p:nvSpPr>
        <p:spPr>
          <a:xfrm>
            <a:off x="715098" y="1262728"/>
            <a:ext cx="7886207" cy="33457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DOM Delta Processing replaces the stateless full-DOM filter with a structural-UID-tracked delta view. hybrid keyword + </a:t>
            </a:r>
            <a:r>
              <a:rPr lang="en-US" sz="1200" dirty="0" err="1">
                <a:latin typeface="Albert Sans" panose="020B0604020202020204" charset="0"/>
              </a:rPr>
              <a:t>MiniLM</a:t>
            </a:r>
            <a:r>
              <a:rPr lang="en-US" sz="1200" dirty="0">
                <a:latin typeface="Albert Sans" panose="020B0604020202020204" charset="0"/>
              </a:rPr>
              <a:t> scoring gives 16–18% token reduction at matched or improved Recall@20 across 6,070 Mind2Web test samples.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A </a:t>
            </a:r>
            <a:r>
              <a:rPr lang="en-US" sz="1200" dirty="0" err="1">
                <a:latin typeface="Albert Sans" panose="020B0604020202020204" charset="0"/>
              </a:rPr>
              <a:t>QLoRA</a:t>
            </a:r>
            <a:r>
              <a:rPr lang="en-US" sz="1200" dirty="0">
                <a:latin typeface="Albert Sans" panose="020B0604020202020204" charset="0"/>
              </a:rPr>
              <a:t>-fine-tuned Qwen3-0.6B local grounder reaches 88.00% EA, matching the Prune4Web 3B Qwen2.5VL-Instruct baseline (88.28%) within rounding margin while running at 5× fewer parameters, no vision encoder, &lt;1 GB VRAM on a 6 GB RTX 4050.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A </a:t>
            </a:r>
            <a:r>
              <a:rPr lang="en-US" sz="1200" dirty="0" err="1">
                <a:latin typeface="Albert Sans" panose="020B0604020202020204" charset="0"/>
              </a:rPr>
              <a:t>PolicyHub</a:t>
            </a:r>
            <a:r>
              <a:rPr lang="en-US" sz="1200" dirty="0">
                <a:latin typeface="Albert Sans" panose="020B0604020202020204" charset="0"/>
              </a:rPr>
              <a:t> + risk-based HITL gate with a regex PII detector and a privacy directive injected into the grounder prompt brings privacy-awareness into the action loop, not bolted on after. </a:t>
            </a:r>
          </a:p>
          <a:p>
            <a:pPr marL="285750" lvl="1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Albert Sans" panose="020B0604020202020204" charset="0"/>
              </a:rPr>
              <a:t>Net result: the Prune4Web pipeline becomes cheaper at the filter stage, safer at the grounder stage, and deployable on consumer hardware without sacrificing element accuracy.</a:t>
            </a:r>
          </a:p>
        </p:txBody>
      </p:sp>
    </p:spTree>
    <p:extLst>
      <p:ext uri="{BB962C8B-B14F-4D97-AF65-F5344CB8AC3E}">
        <p14:creationId xmlns:p14="http://schemas.microsoft.com/office/powerpoint/2010/main" val="18018354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3" name="Google Shape;263;p43">
            <a:extLst>
              <a:ext uri="{FF2B5EF4-FFF2-40B4-BE49-F238E27FC236}">
                <a16:creationId xmlns:a16="http://schemas.microsoft.com/office/drawing/2014/main" id="{176743E2-4936-959E-D83E-8265B8D93132}"/>
              </a:ext>
            </a:extLst>
          </p:cNvPr>
          <p:cNvSpPr txBox="1">
            <a:spLocks/>
          </p:cNvSpPr>
          <p:nvPr/>
        </p:nvSpPr>
        <p:spPr>
          <a:xfrm>
            <a:off x="715100" y="1147283"/>
            <a:ext cx="7713900" cy="3461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just"/>
            <a:r>
              <a:rPr lang="en-US" dirty="0"/>
              <a:t>[1] C. Zhang, S. He, J. Qian, B. Li, L. Li, S. Qin, Y. Kang, M. Ma, G. Liu, Q. Lin, S. Rajmohan, D. Zhang, and Q. Zhang, “Large language model-brained </a:t>
            </a:r>
            <a:r>
              <a:rPr lang="en-US" dirty="0" err="1"/>
              <a:t>gui</a:t>
            </a:r>
            <a:r>
              <a:rPr lang="en-US" dirty="0"/>
              <a:t> agents: A survey,” 2025.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[2] F. Tang, H. Xu, H. Zhang, S. Chen, X. Wu, Y. Shen, W. Zhang, G. Hou, Z. Tan, Y. Yan, K. Song, J. Shao, W. Lu, J. Xiao, and Y. Zhuang, “A survey on (m)</a:t>
            </a:r>
            <a:r>
              <a:rPr lang="en-US" dirty="0" err="1"/>
              <a:t>llm</a:t>
            </a:r>
            <a:r>
              <a:rPr lang="en-US" dirty="0"/>
              <a:t>-based  </a:t>
            </a:r>
            <a:r>
              <a:rPr lang="en-US" dirty="0" err="1"/>
              <a:t>gui</a:t>
            </a:r>
            <a:r>
              <a:rPr lang="en-US" dirty="0"/>
              <a:t> agents,” 2025.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[3] L. Ning, Z. Liang, Z. Jiang, H. Qu, Y. Ding, W. Fan, X. </a:t>
            </a:r>
            <a:r>
              <a:rPr lang="en-US" dirty="0" err="1"/>
              <a:t>yong</a:t>
            </a:r>
            <a:r>
              <a:rPr lang="en-US" dirty="0"/>
              <a:t> Wei, S. Lin, H. Liu, P. S. Yu, and Q. Li, “A survey of </a:t>
            </a:r>
            <a:r>
              <a:rPr lang="en-US" dirty="0" err="1"/>
              <a:t>webagents</a:t>
            </a:r>
            <a:r>
              <a:rPr lang="en-US" dirty="0"/>
              <a:t>: Towards next-generation ai agents for web automation with large foundation models,” 2025.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[4] S. Wang, W. Liu, J. Chen, Y. Zhou, W. Gan, X. Zeng, Y. Che, S. Yu, X. Hao, K. Shao, B. Wang, C. Wu, Y. Wang, R. Tang, and J. Hao, “Gui agents with foundation models: A comprehensive survey,” 2025.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[5] B. Zheng, B. Gou, J. Kil, H. Sun, and Y. Su, “Gpt-4v(ision) is a generalist web agent, if grounded,” 2024.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[6] G. Verma, R. Kaur, N. </a:t>
            </a:r>
            <a:r>
              <a:rPr lang="en-US" dirty="0" err="1"/>
              <a:t>Srishankar</a:t>
            </a:r>
            <a:r>
              <a:rPr lang="en-US" dirty="0"/>
              <a:t>, Z. Zeng, T. Balch, and M. Veloso, “</a:t>
            </a:r>
            <a:r>
              <a:rPr lang="en-US" dirty="0" err="1"/>
              <a:t>Adaptagent</a:t>
            </a:r>
            <a:r>
              <a:rPr lang="en-US" dirty="0"/>
              <a:t>: Adapting multimodal web agents with few-shot learning from human demonstrations,” 2024.</a:t>
            </a:r>
          </a:p>
        </p:txBody>
      </p:sp>
    </p:spTree>
    <p:extLst>
      <p:ext uri="{BB962C8B-B14F-4D97-AF65-F5344CB8AC3E}">
        <p14:creationId xmlns:p14="http://schemas.microsoft.com/office/powerpoint/2010/main" val="3171898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3" name="Google Shape;263;p43">
            <a:extLst>
              <a:ext uri="{FF2B5EF4-FFF2-40B4-BE49-F238E27FC236}">
                <a16:creationId xmlns:a16="http://schemas.microsoft.com/office/drawing/2014/main" id="{176743E2-4936-959E-D83E-8265B8D93132}"/>
              </a:ext>
            </a:extLst>
          </p:cNvPr>
          <p:cNvSpPr txBox="1">
            <a:spLocks/>
          </p:cNvSpPr>
          <p:nvPr/>
        </p:nvSpPr>
        <p:spPr>
          <a:xfrm>
            <a:off x="715100" y="1147283"/>
            <a:ext cx="7713900" cy="3684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just"/>
            <a:r>
              <a:rPr lang="en-US" dirty="0"/>
              <a:t>[7] D. Zhang, B. Rama, J. Ni, S. He, F. Zhao, K. Chen, A. Chen, and J. Cao, “</a:t>
            </a:r>
            <a:r>
              <a:rPr lang="en-US" dirty="0" err="1"/>
              <a:t>Litewebagent</a:t>
            </a:r>
            <a:r>
              <a:rPr lang="en-US" dirty="0"/>
              <a:t>: The open-source suite for </a:t>
            </a:r>
            <a:r>
              <a:rPr lang="en-US" dirty="0" err="1"/>
              <a:t>vlm</a:t>
            </a:r>
            <a:r>
              <a:rPr lang="en-US" dirty="0"/>
              <a:t>-based web-agent applications,” 2025.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[8] I. L. </a:t>
            </a:r>
            <a:r>
              <a:rPr lang="en-US" dirty="0" err="1"/>
              <a:t>Iong</a:t>
            </a:r>
            <a:r>
              <a:rPr lang="en-US" dirty="0"/>
              <a:t>, X. Liu, Y. Chen, H. Lai, S. Yao, P. Shen, H. Yu, Y. Dong, and J. Tang, “</a:t>
            </a:r>
            <a:r>
              <a:rPr lang="en-US" dirty="0" err="1"/>
              <a:t>Openwebagent</a:t>
            </a:r>
            <a:r>
              <a:rPr lang="en-US" dirty="0"/>
              <a:t>: An open toolkit to enable web agents on large language models,” in Proceedings of the 62nd Annual Meeting of the Association for Computational Linguistics (Volume 3: System Demonstrations), pp. 72–81, 2024.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[9] H. Luo, J. Kuang, W. Liu, Y. Shen, J. Luan, and Y. Deng, “Browsing like human: A multimodal web agent with experiential fast-and-slow thinking,” in Proceedings of the 63rd Annual Meeting of the Association for Computational Linguistics (Volume1: Long Papers), pp. 14232–14251, 2025.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[10] X. Deng, Y. Gu, B. Zheng, S. Chen, S. Stevens, B. Wang, H. Sun, and Y. Su, “Mind2web: Towards a generalist agent for the web,” 2023.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[11] J. Zhang, K. Chen, Z. Lu, E. Zhou, Q. Yu, and J. Zhang, “Prune4web: Dom tree pruning programming for web agent,” 2025.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[12] T. M. Schiepanski and N. </a:t>
            </a:r>
            <a:r>
              <a:rPr lang="en-US" dirty="0" err="1"/>
              <a:t>Pi¨el</a:t>
            </a:r>
            <a:r>
              <a:rPr lang="en-US" dirty="0"/>
              <a:t>, “Beyond pixels: Exploring </a:t>
            </a:r>
            <a:r>
              <a:rPr lang="en-US" dirty="0" err="1"/>
              <a:t>dom</a:t>
            </a:r>
            <a:r>
              <a:rPr lang="en-US" dirty="0"/>
              <a:t> </a:t>
            </a:r>
            <a:r>
              <a:rPr lang="en-US" dirty="0" err="1"/>
              <a:t>downsampling</a:t>
            </a:r>
            <a:r>
              <a:rPr lang="en-US" dirty="0"/>
              <a:t> for </a:t>
            </a:r>
            <a:r>
              <a:rPr lang="en-US" dirty="0" err="1"/>
              <a:t>llm</a:t>
            </a:r>
            <a:r>
              <a:rPr lang="en-US" dirty="0"/>
              <a:t>-based web agents,” 2025.</a:t>
            </a:r>
          </a:p>
        </p:txBody>
      </p:sp>
    </p:spTree>
    <p:extLst>
      <p:ext uri="{BB962C8B-B14F-4D97-AF65-F5344CB8AC3E}">
        <p14:creationId xmlns:p14="http://schemas.microsoft.com/office/powerpoint/2010/main" val="21598263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>
          <a:extLst>
            <a:ext uri="{FF2B5EF4-FFF2-40B4-BE49-F238E27FC236}">
              <a16:creationId xmlns:a16="http://schemas.microsoft.com/office/drawing/2014/main" id="{12C5B332-B7F0-9FBC-C30B-42104FB38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>
            <a:extLst>
              <a:ext uri="{FF2B5EF4-FFF2-40B4-BE49-F238E27FC236}">
                <a16:creationId xmlns:a16="http://schemas.microsoft.com/office/drawing/2014/main" id="{6D13A3EA-910F-A528-335A-019842DD85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</a:t>
            </a:r>
            <a:endParaRPr dirty="0"/>
          </a:p>
        </p:txBody>
      </p:sp>
      <p:sp>
        <p:nvSpPr>
          <p:cNvPr id="3" name="Google Shape;263;p43">
            <a:extLst>
              <a:ext uri="{FF2B5EF4-FFF2-40B4-BE49-F238E27FC236}">
                <a16:creationId xmlns:a16="http://schemas.microsoft.com/office/drawing/2014/main" id="{2EC5457A-8A5C-EB91-F299-DFFFEB560F85}"/>
              </a:ext>
            </a:extLst>
          </p:cNvPr>
          <p:cNvSpPr txBox="1">
            <a:spLocks/>
          </p:cNvSpPr>
          <p:nvPr/>
        </p:nvSpPr>
        <p:spPr>
          <a:xfrm>
            <a:off x="715100" y="1147283"/>
            <a:ext cx="7713900" cy="36849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None/>
              <a:defRPr sz="1200" b="0" i="0" u="none" strike="noStrike" cap="none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pPr marL="0" indent="0" algn="just"/>
            <a:r>
              <a:rPr lang="en-US" dirty="0"/>
              <a:t>[13] T. Abuelsaad, D. </a:t>
            </a:r>
            <a:r>
              <a:rPr lang="en-US" dirty="0" err="1"/>
              <a:t>Akkil</a:t>
            </a:r>
            <a:r>
              <a:rPr lang="en-US" dirty="0"/>
              <a:t>, P. Dey, A. Jagmohan, A. </a:t>
            </a:r>
            <a:r>
              <a:rPr lang="en-US" dirty="0" err="1"/>
              <a:t>Vempaty</a:t>
            </a:r>
            <a:r>
              <a:rPr lang="en-US" dirty="0"/>
              <a:t>, and R. </a:t>
            </a:r>
            <a:r>
              <a:rPr lang="en-US" dirty="0" err="1"/>
              <a:t>Kokku</a:t>
            </a:r>
            <a:r>
              <a:rPr lang="en-US" dirty="0"/>
              <a:t>, “Agent- e: From autonomous web navigation to foundational design principles in agentic systems,” 2024.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[14] H. Lai, X. Liu, I. L. </a:t>
            </a:r>
            <a:r>
              <a:rPr lang="en-US" dirty="0" err="1"/>
              <a:t>Iong</a:t>
            </a:r>
            <a:r>
              <a:rPr lang="en-US" dirty="0"/>
              <a:t>, S. Yao, Y. Chen, P. Shen, H. Yu, H. Zhang, X. Zhang, Y. Dong, and J. Tang, “</a:t>
            </a:r>
            <a:r>
              <a:rPr lang="en-US" dirty="0" err="1"/>
              <a:t>Autowebglm</a:t>
            </a:r>
            <a:r>
              <a:rPr lang="en-US" dirty="0"/>
              <a:t>: A large language model-based web navigating agent,” 2024.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[15] Gur, Izzeddin, et al. "A real-world </a:t>
            </a:r>
            <a:r>
              <a:rPr lang="en-US" dirty="0" err="1"/>
              <a:t>webagent</a:t>
            </a:r>
            <a:r>
              <a:rPr lang="en-US" dirty="0"/>
              <a:t> with planning, long context understanding, and program synthesis." </a:t>
            </a:r>
            <a:r>
              <a:rPr lang="en-US" dirty="0" err="1"/>
              <a:t>arXiv</a:t>
            </a:r>
            <a:r>
              <a:rPr lang="en-US" dirty="0"/>
              <a:t> preprint arXiv:2307.12856 (2023).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[16] W. Wang, F. Wei, L. Dong, H. Bao, N. Yang, and M. Zhou, “</a:t>
            </a:r>
            <a:r>
              <a:rPr lang="en-US" dirty="0" err="1"/>
              <a:t>Minilm</a:t>
            </a:r>
            <a:r>
              <a:rPr lang="en-US" dirty="0"/>
              <a:t>: Deep self-attention distillation for task-agnostic compression of pre-trained transformers,” 2020. 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[17] T. Dettmers, A. Pagnoni, A. Holtzman, and L. Zettlemoyer, “</a:t>
            </a:r>
            <a:r>
              <a:rPr lang="en-US" dirty="0" err="1"/>
              <a:t>Qlora</a:t>
            </a:r>
            <a:r>
              <a:rPr lang="en-US" dirty="0"/>
              <a:t>: Efficient fine- tuning of quantized </a:t>
            </a:r>
            <a:r>
              <a:rPr lang="en-US" dirty="0" err="1"/>
              <a:t>llms</a:t>
            </a:r>
            <a:r>
              <a:rPr lang="en-US" dirty="0"/>
              <a:t>,” 2023. </a:t>
            </a:r>
          </a:p>
          <a:p>
            <a:pPr marL="0" indent="0" algn="just"/>
            <a:endParaRPr lang="en-US" dirty="0"/>
          </a:p>
          <a:p>
            <a:pPr marL="0" indent="0" algn="just"/>
            <a:r>
              <a:rPr lang="en-US" dirty="0"/>
              <a:t>[18] N. Reimers and I. Gurevych, “Sentence-</a:t>
            </a:r>
            <a:r>
              <a:rPr lang="en-US" dirty="0" err="1"/>
              <a:t>bert</a:t>
            </a:r>
            <a:r>
              <a:rPr lang="en-US" dirty="0"/>
              <a:t>: Sentence embeddings using </a:t>
            </a:r>
            <a:r>
              <a:rPr lang="en-US" dirty="0" err="1"/>
              <a:t>siamese</a:t>
            </a:r>
            <a:r>
              <a:rPr lang="en-US" dirty="0"/>
              <a:t> </a:t>
            </a:r>
            <a:r>
              <a:rPr lang="en-US" dirty="0" err="1"/>
              <a:t>bert</a:t>
            </a:r>
            <a:r>
              <a:rPr lang="en-US" dirty="0"/>
              <a:t>-networks,” 2019.</a:t>
            </a:r>
          </a:p>
        </p:txBody>
      </p:sp>
    </p:spTree>
    <p:extLst>
      <p:ext uri="{BB962C8B-B14F-4D97-AF65-F5344CB8AC3E}">
        <p14:creationId xmlns:p14="http://schemas.microsoft.com/office/powerpoint/2010/main" val="68873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/>
              <a:t>Thanks!</a:t>
            </a:r>
            <a:endParaRPr sz="4800" dirty="0"/>
          </a:p>
        </p:txBody>
      </p:sp>
      <p:sp>
        <p:nvSpPr>
          <p:cNvPr id="236" name="Google Shape;236;p39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/>
              <a:t>Do have any questions?</a:t>
            </a:r>
            <a:endParaRPr sz="1200" dirty="0"/>
          </a:p>
        </p:txBody>
      </p:sp>
      <p:cxnSp>
        <p:nvCxnSpPr>
          <p:cNvPr id="237" name="Google Shape;237;p39">
            <a:hlinkClick r:id="" action="ppaction://hlinkshowjump?jump=nextslide"/>
          </p:cNvPr>
          <p:cNvCxnSpPr/>
          <p:nvPr/>
        </p:nvCxnSpPr>
        <p:spPr>
          <a:xfrm>
            <a:off x="715100" y="729100"/>
            <a:ext cx="483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3305431390"/>
      </p:ext>
    </p:extLst>
  </p:cSld>
  <p:clrMapOvr>
    <a:masterClrMapping/>
  </p:clrMapOvr>
</p:sld>
</file>

<file path=ppt/theme/theme1.xml><?xml version="1.0" encoding="utf-8"?>
<a:theme xmlns:a="http://schemas.openxmlformats.org/drawingml/2006/main" name="Lead Funnel by Slidesgo">
  <a:themeElements>
    <a:clrScheme name="UBQ Color Palet">
      <a:dk1>
        <a:srgbClr val="15110E"/>
      </a:dk1>
      <a:lt1>
        <a:srgbClr val="FFFAF6"/>
      </a:lt1>
      <a:dk2>
        <a:srgbClr val="C2E5F5"/>
      </a:dk2>
      <a:lt2>
        <a:srgbClr val="5296B8"/>
      </a:lt2>
      <a:accent1>
        <a:srgbClr val="002582"/>
      </a:accent1>
      <a:accent2>
        <a:srgbClr val="FF6700"/>
      </a:accent2>
      <a:accent3>
        <a:srgbClr val="9800A8"/>
      </a:accent3>
      <a:accent4>
        <a:srgbClr val="8DB2BF"/>
      </a:accent4>
      <a:accent5>
        <a:srgbClr val="FFFFFF"/>
      </a:accent5>
      <a:accent6>
        <a:srgbClr val="FFFFFF"/>
      </a:accent6>
      <a:hlink>
        <a:srgbClr val="15110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3611</TotalTime>
  <Words>3753</Words>
  <Application>Microsoft Office PowerPoint</Application>
  <PresentationFormat>On-screen Show (16:9)</PresentationFormat>
  <Paragraphs>364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Albert Sans</vt:lpstr>
      <vt:lpstr>Alexandria Medium</vt:lpstr>
      <vt:lpstr>Arial</vt:lpstr>
      <vt:lpstr>Lead Funnel by Slidesgo</vt:lpstr>
      <vt:lpstr>PowerPoint Presentation</vt:lpstr>
      <vt:lpstr>01</vt:lpstr>
      <vt:lpstr>Introduction</vt:lpstr>
      <vt:lpstr>Problem Statement</vt:lpstr>
      <vt:lpstr>Literature Review</vt:lpstr>
      <vt:lpstr>Literature Review</vt:lpstr>
      <vt:lpstr>Literature Review</vt:lpstr>
      <vt:lpstr>Literature Review</vt:lpstr>
      <vt:lpstr>Literature Review</vt:lpstr>
      <vt:lpstr>Literature Review</vt:lpstr>
      <vt:lpstr>Research Gaps</vt:lpstr>
      <vt:lpstr>Objectives</vt:lpstr>
      <vt:lpstr>Existing Solution</vt:lpstr>
      <vt:lpstr>Dataset: MultiModal-Mind2Web</vt:lpstr>
      <vt:lpstr>Novelty 1: DOM Delta Processing</vt:lpstr>
      <vt:lpstr>Novelty 2: Policy Hub + Risk-Based HITL</vt:lpstr>
      <vt:lpstr>Architecture</vt:lpstr>
      <vt:lpstr>Improvement</vt:lpstr>
      <vt:lpstr>Improvement - Algorithm</vt:lpstr>
      <vt:lpstr> Implementation Notes</vt:lpstr>
      <vt:lpstr>Experiments: Filter-Stage Recall@20</vt:lpstr>
      <vt:lpstr>Experiments: Grounder Element Accuracy</vt:lpstr>
      <vt:lpstr>Implementation &amp; Initial Result</vt:lpstr>
      <vt:lpstr>Future Work</vt:lpstr>
      <vt:lpstr>Conclusion</vt:lpstr>
      <vt:lpstr>References</vt:lpstr>
      <vt:lpstr>References</vt:lpstr>
      <vt:lpstr>References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darji dhruv</cp:lastModifiedBy>
  <cp:revision>736</cp:revision>
  <dcterms:modified xsi:type="dcterms:W3CDTF">2026-04-30T08:15:35Z</dcterms:modified>
</cp:coreProperties>
</file>